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12192000"/>
  <p:notesSz cx="6858000" cy="9144000"/>
  <p:embeddedFontLst>
    <p:embeddedFont>
      <p:font typeface="Sniglet"/>
      <p:regular r:id="rId33"/>
    </p:embeddedFont>
    <p:embeddedFont>
      <p:font typeface="Robo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j9bqYwLO8xvyHzKQid65dANYXZ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109680-8A11-4BD8-9865-01D03EE2D968}">
  <a:tblStyle styleId="{6F109680-8A11-4BD8-9865-01D03EE2D96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36D17CA-BC20-4621-9059-3D9A24FC8C4A}"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3"/>
          </a:solidFill>
        </a:fill>
      </a:tcStyle>
    </a:wholeTbl>
    <a:band1H>
      <a:tcTxStyle b="off" i="off"/>
      <a:tcStyle>
        <a:fill>
          <a:solidFill>
            <a:srgbClr val="CCE3E6"/>
          </a:solidFill>
        </a:fill>
      </a:tcStyle>
    </a:band1H>
    <a:band2H>
      <a:tcTxStyle b="off" i="off"/>
    </a:band2H>
    <a:band1V>
      <a:tcTxStyle b="off" i="off"/>
      <a:tcStyle>
        <a:fill>
          <a:solidFill>
            <a:srgbClr val="CCE3E6"/>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4F2DF9DA-3228-4AEA-978D-7552B1BEB1B3}" styleName="Table_2">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Sniglet-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61565325e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261565325e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261565325e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082a72ac3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g26082a72ac3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The Facilitator will pose a query against the participant, that how a household decides on the livelihood activity</a:t>
            </a:r>
            <a:endParaRPr/>
          </a:p>
        </p:txBody>
      </p:sp>
      <p:sp>
        <p:nvSpPr>
          <p:cNvPr id="196" name="Google Shape;1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9edd0802f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29edd0802f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29edd0802f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537e8911b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1537e8911b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The facilitator will link the previous responses with this slide and categorized the responses of the participants on the previous slide.</a:t>
            </a:r>
            <a:endParaRPr/>
          </a:p>
          <a:p>
            <a:pPr indent="0" lvl="0" marL="0" rtl="0" algn="l">
              <a:lnSpc>
                <a:spcPct val="100000"/>
              </a:lnSpc>
              <a:spcBef>
                <a:spcPts val="0"/>
              </a:spcBef>
              <a:spcAft>
                <a:spcPts val="0"/>
              </a:spcAft>
              <a:buSzPts val="1400"/>
              <a:buNone/>
            </a:pPr>
            <a:r>
              <a:t/>
            </a:r>
            <a:endParaRPr/>
          </a:p>
        </p:txBody>
      </p:sp>
      <p:sp>
        <p:nvSpPr>
          <p:cNvPr id="219" name="Google Shape;219;g1537e8911b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537e8911ba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1537e8911ba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The facilitator will link the previous responses with this slide and categorized the responses of the participants on the previous slide.</a:t>
            </a:r>
            <a:endParaRPr/>
          </a:p>
          <a:p>
            <a:pPr indent="0" lvl="0" marL="0" rtl="0" algn="l">
              <a:lnSpc>
                <a:spcPct val="100000"/>
              </a:lnSpc>
              <a:spcBef>
                <a:spcPts val="0"/>
              </a:spcBef>
              <a:spcAft>
                <a:spcPts val="0"/>
              </a:spcAft>
              <a:buSzPts val="1400"/>
              <a:buNone/>
            </a:pPr>
            <a:r>
              <a:t/>
            </a:r>
            <a:endParaRPr/>
          </a:p>
        </p:txBody>
      </p:sp>
      <p:sp>
        <p:nvSpPr>
          <p:cNvPr id="237" name="Google Shape;237;g1537e8911ba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The facilitator will link the previous responses with this slide and categorized the responses of the participants on the previous slide.</a:t>
            </a:r>
            <a:endParaRPr/>
          </a:p>
          <a:p>
            <a:pPr indent="0" lvl="0" marL="0" rtl="0" algn="l">
              <a:lnSpc>
                <a:spcPct val="100000"/>
              </a:lnSpc>
              <a:spcBef>
                <a:spcPts val="0"/>
              </a:spcBef>
              <a:spcAft>
                <a:spcPts val="0"/>
              </a:spcAft>
              <a:buSzPts val="1400"/>
              <a:buNone/>
            </a:pPr>
            <a:r>
              <a:t/>
            </a:r>
            <a:endParaRPr/>
          </a:p>
        </p:txBody>
      </p:sp>
      <p:sp>
        <p:nvSpPr>
          <p:cNvPr id="249" name="Google Shape;249;p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The facilitator will link the previous responses with this slide and categorized the responses of the participants on the previous slide.</a:t>
            </a:r>
            <a:endParaRPr/>
          </a:p>
          <a:p>
            <a:pPr indent="0" lvl="0" marL="0" rtl="0" algn="l">
              <a:lnSpc>
                <a:spcPct val="100000"/>
              </a:lnSpc>
              <a:spcBef>
                <a:spcPts val="0"/>
              </a:spcBef>
              <a:spcAft>
                <a:spcPts val="0"/>
              </a:spcAft>
              <a:buSzPts val="1400"/>
              <a:buNone/>
            </a:pPr>
            <a:r>
              <a:t/>
            </a:r>
            <a:endParaRPr/>
          </a:p>
        </p:txBody>
      </p:sp>
      <p:sp>
        <p:nvSpPr>
          <p:cNvPr id="261" name="Google Shape;261;p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612bcd1c6d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g2612bcd1c6d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62123cd13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262123cd13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g262123cd13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64398da94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64398da94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g264398da94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IN"/>
              <a:t>The facilitator will divide the participants into groups and hand out the cost estimates required for various livelihood activities – Each group will be given one livelihood activity. The group members will be asked to identify the different factors required for the particular livelihood activity. This analysis will be a part of the Livelihood Planning exercise that CRPs will undertake with SHG member HHs in order to identify and finalise the livelihood activities they wish to undertake. Each group shall present their work at the end of the session using the format given in next slide</a:t>
            </a:r>
            <a:endParaRPr/>
          </a:p>
        </p:txBody>
      </p:sp>
      <p:sp>
        <p:nvSpPr>
          <p:cNvPr id="385" name="Google Shape;385;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6075d0b42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26075d0b42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g26075d0b42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Image Full">
  <p:cSld name="Quote 1 Image Full">
    <p:bg>
      <p:bgPr>
        <a:solidFill>
          <a:srgbClr val="DEDEDE"/>
        </a:solidFill>
      </p:bgPr>
    </p:bg>
    <p:spTree>
      <p:nvGrpSpPr>
        <p:cNvPr id="15" name="Shape 15"/>
        <p:cNvGrpSpPr/>
        <p:nvPr/>
      </p:nvGrpSpPr>
      <p:grpSpPr>
        <a:xfrm>
          <a:off x="0" y="0"/>
          <a:ext cx="0" cy="0"/>
          <a:chOff x="0" y="0"/>
          <a:chExt cx="0" cy="0"/>
        </a:xfrm>
      </p:grpSpPr>
      <p:sp>
        <p:nvSpPr>
          <p:cNvPr id="16" name="Google Shape;16;p26"/>
          <p:cNvSpPr/>
          <p:nvPr>
            <p:ph idx="2" type="pic"/>
          </p:nvPr>
        </p:nvSpPr>
        <p:spPr>
          <a:xfrm>
            <a:off x="0" y="0"/>
            <a:ext cx="12192000" cy="6858000"/>
          </a:xfrm>
          <a:prstGeom prst="rect">
            <a:avLst/>
          </a:prstGeom>
          <a:solidFill>
            <a:schemeClr val="lt2"/>
          </a:solidFill>
          <a:ln>
            <a:noFill/>
          </a:ln>
        </p:spPr>
      </p:sp>
      <p:sp>
        <p:nvSpPr>
          <p:cNvPr id="17" name="Google Shape;17;p26"/>
          <p:cNvSpPr txBox="1"/>
          <p:nvPr>
            <p:ph idx="1" type="body"/>
          </p:nvPr>
        </p:nvSpPr>
        <p:spPr>
          <a:xfrm>
            <a:off x="0" y="1143000"/>
            <a:ext cx="4572000" cy="4572000"/>
          </a:xfrm>
          <a:prstGeom prst="rect">
            <a:avLst/>
          </a:prstGeom>
          <a:solidFill>
            <a:srgbClr val="E0301E"/>
          </a:solidFill>
          <a:ln>
            <a:noFill/>
          </a:ln>
        </p:spPr>
        <p:txBody>
          <a:bodyPr anchorCtr="0" anchor="t" bIns="180000" lIns="438900" spcFirstLastPara="1" rIns="252000" wrap="square" tIns="1440000">
            <a:noAutofit/>
          </a:bodyPr>
          <a:lstStyle>
            <a:lvl1pPr indent="-228600" lvl="0" marL="457200" algn="l">
              <a:lnSpc>
                <a:spcPct val="90000"/>
              </a:lnSpc>
              <a:spcBef>
                <a:spcPts val="0"/>
              </a:spcBef>
              <a:spcAft>
                <a:spcPts val="0"/>
              </a:spcAft>
              <a:buClr>
                <a:schemeClr val="lt1"/>
              </a:buClr>
              <a:buSzPts val="2600"/>
              <a:buFont typeface="Arial"/>
              <a:buNone/>
              <a:defRPr b="0" sz="2600">
                <a:solidFill>
                  <a:schemeClr val="lt1"/>
                </a:solidFill>
                <a:latin typeface="Georgia"/>
                <a:ea typeface="Georgia"/>
                <a:cs typeface="Georgia"/>
                <a:sym typeface="Georgia"/>
              </a:defRPr>
            </a:lvl1pPr>
            <a:lvl2pPr indent="-228600" lvl="1" marL="914400" algn="l">
              <a:lnSpc>
                <a:spcPct val="100000"/>
              </a:lnSpc>
              <a:spcBef>
                <a:spcPts val="3000"/>
              </a:spcBef>
              <a:spcAft>
                <a:spcPts val="0"/>
              </a:spcAft>
              <a:buClr>
                <a:schemeClr val="lt1"/>
              </a:buClr>
              <a:buSzPts val="1600"/>
              <a:buFont typeface="Arial"/>
              <a:buNone/>
              <a:defRPr b="1" sz="1600">
                <a:solidFill>
                  <a:schemeClr val="lt1"/>
                </a:solidFill>
                <a:latin typeface="Arial"/>
                <a:ea typeface="Arial"/>
                <a:cs typeface="Arial"/>
                <a:sym typeface="Arial"/>
              </a:defRPr>
            </a:lvl2pPr>
            <a:lvl3pPr indent="-228600" lvl="2" marL="1371600" algn="l">
              <a:lnSpc>
                <a:spcPct val="100000"/>
              </a:lnSpc>
              <a:spcBef>
                <a:spcPts val="0"/>
              </a:spcBef>
              <a:spcAft>
                <a:spcPts val="0"/>
              </a:spcAft>
              <a:buClr>
                <a:schemeClr val="lt1"/>
              </a:buClr>
              <a:buSzPts val="1600"/>
              <a:buFont typeface="Arial"/>
              <a:buNone/>
              <a:defRPr b="0" sz="1600">
                <a:solidFill>
                  <a:schemeClr val="lt1"/>
                </a:solidFill>
                <a:latin typeface="Arial"/>
                <a:ea typeface="Arial"/>
                <a:cs typeface="Arial"/>
                <a:sym typeface="Arial"/>
              </a:defRPr>
            </a:lvl3pPr>
            <a:lvl4pPr indent="-228600" lvl="3" marL="1828800" algn="l">
              <a:lnSpc>
                <a:spcPct val="100000"/>
              </a:lnSpc>
              <a:spcBef>
                <a:spcPts val="0"/>
              </a:spcBef>
              <a:spcAft>
                <a:spcPts val="0"/>
              </a:spcAft>
              <a:buClr>
                <a:schemeClr val="lt1"/>
              </a:buClr>
              <a:buSzPts val="1600"/>
              <a:buFont typeface="Arial"/>
              <a:buNone/>
              <a:defRPr b="0" sz="1600">
                <a:solidFill>
                  <a:schemeClr val="lt1"/>
                </a:solidFill>
                <a:latin typeface="Arial"/>
                <a:ea typeface="Arial"/>
                <a:cs typeface="Arial"/>
                <a:sym typeface="Arial"/>
              </a:defRPr>
            </a:lvl4pPr>
            <a:lvl5pPr indent="-228600" lvl="4" marL="2286000" algn="l">
              <a:lnSpc>
                <a:spcPct val="100000"/>
              </a:lnSpc>
              <a:spcBef>
                <a:spcPts val="0"/>
              </a:spcBef>
              <a:spcAft>
                <a:spcPts val="0"/>
              </a:spcAft>
              <a:buClr>
                <a:schemeClr val="lt1"/>
              </a:buClr>
              <a:buSzPts val="1600"/>
              <a:buFont typeface="Arial"/>
              <a:buNone/>
              <a:defRPr b="0" sz="1600">
                <a:solidFill>
                  <a:schemeClr val="lt1"/>
                </a:solidFill>
                <a:latin typeface="Arial"/>
                <a:ea typeface="Arial"/>
                <a:cs typeface="Arial"/>
                <a:sym typeface="Arial"/>
              </a:defRPr>
            </a:lvl5pPr>
            <a:lvl6pPr indent="-228600" lvl="5" marL="2743200" algn="l">
              <a:lnSpc>
                <a:spcPct val="100000"/>
              </a:lnSpc>
              <a:spcBef>
                <a:spcPts val="0"/>
              </a:spcBef>
              <a:spcAft>
                <a:spcPts val="0"/>
              </a:spcAft>
              <a:buClr>
                <a:schemeClr val="lt1"/>
              </a:buClr>
              <a:buSzPts val="1600"/>
              <a:buFont typeface="Arial"/>
              <a:buNone/>
              <a:defRPr sz="1600">
                <a:solidFill>
                  <a:schemeClr val="lt1"/>
                </a:solidFill>
              </a:defRPr>
            </a:lvl6pPr>
            <a:lvl7pPr indent="-228600" lvl="6" marL="3200400" algn="l">
              <a:lnSpc>
                <a:spcPct val="100000"/>
              </a:lnSpc>
              <a:spcBef>
                <a:spcPts val="0"/>
              </a:spcBef>
              <a:spcAft>
                <a:spcPts val="0"/>
              </a:spcAft>
              <a:buClr>
                <a:schemeClr val="lt1"/>
              </a:buClr>
              <a:buSzPts val="1600"/>
              <a:buFont typeface="Arial"/>
              <a:buNone/>
              <a:defRPr sz="1600">
                <a:solidFill>
                  <a:schemeClr val="lt1"/>
                </a:solidFill>
              </a:defRPr>
            </a:lvl7pPr>
            <a:lvl8pPr indent="-228600" lvl="7" marL="3657600" algn="l">
              <a:lnSpc>
                <a:spcPct val="100000"/>
              </a:lnSpc>
              <a:spcBef>
                <a:spcPts val="0"/>
              </a:spcBef>
              <a:spcAft>
                <a:spcPts val="0"/>
              </a:spcAft>
              <a:buClr>
                <a:schemeClr val="lt1"/>
              </a:buClr>
              <a:buSzPts val="1600"/>
              <a:buFont typeface="Arial"/>
              <a:buNone/>
              <a:defRPr sz="1600">
                <a:solidFill>
                  <a:schemeClr val="lt1"/>
                </a:solidFill>
              </a:defRPr>
            </a:lvl8pPr>
            <a:lvl9pPr indent="-228600" lvl="8" marL="4114800" algn="l">
              <a:lnSpc>
                <a:spcPct val="100000"/>
              </a:lnSpc>
              <a:spcBef>
                <a:spcPts val="0"/>
              </a:spcBef>
              <a:spcAft>
                <a:spcPts val="0"/>
              </a:spcAft>
              <a:buClr>
                <a:schemeClr val="lt1"/>
              </a:buClr>
              <a:buSzPts val="1600"/>
              <a:buFont typeface="Arial"/>
              <a:buNone/>
              <a:defRPr sz="1600">
                <a:solidFill>
                  <a:schemeClr val="lt1"/>
                </a:solidFill>
              </a:defRPr>
            </a:lvl9pPr>
          </a:lstStyle>
          <a:p/>
        </p:txBody>
      </p:sp>
      <p:sp>
        <p:nvSpPr>
          <p:cNvPr id="18" name="Google Shape;18;p26"/>
          <p:cNvSpPr/>
          <p:nvPr/>
        </p:nvSpPr>
        <p:spPr>
          <a:xfrm>
            <a:off x="442913" y="1623703"/>
            <a:ext cx="871539" cy="679451"/>
          </a:xfrm>
          <a:custGeom>
            <a:rect b="b" l="l" r="r" t="t"/>
            <a:pathLst>
              <a:path extrusionOk="0" h="1424" w="1811">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 name="Google Shape;19;p26"/>
          <p:cNvSpPr txBox="1"/>
          <p:nvPr>
            <p:ph idx="10" type="dt"/>
          </p:nvPr>
        </p:nvSpPr>
        <p:spPr>
          <a:xfrm>
            <a:off x="9984296" y="6355080"/>
            <a:ext cx="1764792" cy="1371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6"/>
          <p:cNvSpPr txBox="1"/>
          <p:nvPr>
            <p:ph idx="11" type="ftr"/>
          </p:nvPr>
        </p:nvSpPr>
        <p:spPr>
          <a:xfrm>
            <a:off x="442912" y="6355080"/>
            <a:ext cx="5473701" cy="13716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2" type="sldNum"/>
          </p:nvPr>
        </p:nvSpPr>
        <p:spPr>
          <a:xfrm>
            <a:off x="9984296" y="6492240"/>
            <a:ext cx="1764792" cy="13716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 Layout">
  <p:cSld name="1_Agenda Layout">
    <p:spTree>
      <p:nvGrpSpPr>
        <p:cNvPr id="23" name="Shape 23"/>
        <p:cNvGrpSpPr/>
        <p:nvPr/>
      </p:nvGrpSpPr>
      <p:grpSpPr>
        <a:xfrm>
          <a:off x="0" y="0"/>
          <a:ext cx="0" cy="0"/>
          <a:chOff x="0" y="0"/>
          <a:chExt cx="0" cy="0"/>
        </a:xfrm>
      </p:grpSpPr>
      <p:sp>
        <p:nvSpPr>
          <p:cNvPr id="24" name="Google Shape;24;p29"/>
          <p:cNvSpPr/>
          <p:nvPr/>
        </p:nvSpPr>
        <p:spPr>
          <a:xfrm>
            <a:off x="-3472" y="0"/>
            <a:ext cx="2112235"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pic>
        <p:nvPicPr>
          <p:cNvPr descr="E:\002-KIMS BUSINESS\007-02-Fullslidesppt-Contents\20161228\02-edu\bulb-item2.png" id="25" name="Google Shape;25;p29"/>
          <p:cNvPicPr preferRelativeResize="0"/>
          <p:nvPr/>
        </p:nvPicPr>
        <p:blipFill rotWithShape="1">
          <a:blip r:embed="rId2">
            <a:alphaModFix/>
          </a:blip>
          <a:srcRect b="0" l="0" r="0" t="0"/>
          <a:stretch/>
        </p:blipFill>
        <p:spPr>
          <a:xfrm>
            <a:off x="422314" y="3909054"/>
            <a:ext cx="1260665" cy="279795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ayout">
  <p:cSld name="Basic Layout">
    <p:spTree>
      <p:nvGrpSpPr>
        <p:cNvPr id="26" name="Shape 26"/>
        <p:cNvGrpSpPr/>
        <p:nvPr/>
      </p:nvGrpSpPr>
      <p:grpSpPr>
        <a:xfrm>
          <a:off x="0" y="0"/>
          <a:ext cx="0" cy="0"/>
          <a:chOff x="0" y="0"/>
          <a:chExt cx="0" cy="0"/>
        </a:xfrm>
      </p:grpSpPr>
      <p:sp>
        <p:nvSpPr>
          <p:cNvPr id="27" name="Google Shape;27;p28"/>
          <p:cNvSpPr txBox="1"/>
          <p:nvPr>
            <p:ph idx="1" type="body"/>
          </p:nvPr>
        </p:nvSpPr>
        <p:spPr>
          <a:xfrm>
            <a:off x="0" y="164638"/>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28" name="Google Shape;28;p28"/>
          <p:cNvSpPr txBox="1"/>
          <p:nvPr>
            <p:ph idx="2" type="body"/>
          </p:nvPr>
        </p:nvSpPr>
        <p:spPr>
          <a:xfrm>
            <a:off x="0" y="932723"/>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29" name="Google Shape;29;p28"/>
          <p:cNvSpPr/>
          <p:nvPr/>
        </p:nvSpPr>
        <p:spPr>
          <a:xfrm>
            <a:off x="0" y="6618000"/>
            <a:ext cx="12192000" cy="240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30" name="Google Shape;30;p28"/>
          <p:cNvSpPr/>
          <p:nvPr/>
        </p:nvSpPr>
        <p:spPr>
          <a:xfrm>
            <a:off x="0" y="0"/>
            <a:ext cx="12192000" cy="96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31" name="Shape 31"/>
        <p:cNvGrpSpPr/>
        <p:nvPr/>
      </p:nvGrpSpPr>
      <p:grpSpPr>
        <a:xfrm>
          <a:off x="0" y="0"/>
          <a:ext cx="0" cy="0"/>
          <a:chOff x="0" y="0"/>
          <a:chExt cx="0" cy="0"/>
        </a:xfrm>
      </p:grpSpPr>
      <p:sp>
        <p:nvSpPr>
          <p:cNvPr id="32" name="Google Shape;32;p6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 name="Google Shape;33;p69"/>
          <p:cNvSpPr txBox="1"/>
          <p:nvPr>
            <p:ph idx="1" type="body"/>
          </p:nvPr>
        </p:nvSpPr>
        <p:spPr>
          <a:xfrm>
            <a:off x="839788" y="1885361"/>
            <a:ext cx="5157787" cy="430430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 name="Google Shape;34;p69"/>
          <p:cNvSpPr txBox="1"/>
          <p:nvPr>
            <p:ph idx="2" type="body"/>
          </p:nvPr>
        </p:nvSpPr>
        <p:spPr>
          <a:xfrm>
            <a:off x="6172200" y="1885361"/>
            <a:ext cx="5183188" cy="430430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 name="Google Shape;35;p6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6" name="Google Shape;36;p69"/>
          <p:cNvSpPr txBox="1"/>
          <p:nvPr/>
        </p:nvSpPr>
        <p:spPr>
          <a:xfrm>
            <a:off x="200025" y="666750"/>
            <a:ext cx="495300" cy="4676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obj">
  <p:cSld name="OBJECT">
    <p:spTree>
      <p:nvGrpSpPr>
        <p:cNvPr id="37" name="Shape 37"/>
        <p:cNvGrpSpPr/>
        <p:nvPr/>
      </p:nvGrpSpPr>
      <p:grpSpPr>
        <a:xfrm>
          <a:off x="0" y="0"/>
          <a:ext cx="0" cy="0"/>
          <a:chOff x="0" y="0"/>
          <a:chExt cx="0" cy="0"/>
        </a:xfrm>
      </p:grpSpPr>
      <p:sp>
        <p:nvSpPr>
          <p:cNvPr id="38" name="Google Shape;38;p68"/>
          <p:cNvSpPr txBox="1"/>
          <p:nvPr>
            <p:ph idx="1" type="body"/>
          </p:nvPr>
        </p:nvSpPr>
        <p:spPr>
          <a:xfrm>
            <a:off x="442912" y="2103120"/>
            <a:ext cx="11306175" cy="407384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accent1"/>
              </a:buClr>
              <a:buSzPts val="2800"/>
              <a:buFont typeface="Arial"/>
              <a:buAutoNum type="arabicPeriod"/>
              <a:defRPr b="0" i="0" sz="28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accent4"/>
              </a:buClr>
              <a:buSzPts val="1600"/>
              <a:buFont typeface="Arial"/>
              <a:buNone/>
              <a:defRPr b="0" i="0" sz="1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9" name="Google Shape;39;p68"/>
          <p:cNvSpPr txBox="1"/>
          <p:nvPr>
            <p:ph type="title"/>
          </p:nvPr>
        </p:nvSpPr>
        <p:spPr>
          <a:xfrm>
            <a:off x="442913" y="432000"/>
            <a:ext cx="11306175" cy="13872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 name="Google Shape;40;p6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N"/>
              <a:t>‹#›</a:t>
            </a:fld>
            <a:endParaRPr/>
          </a:p>
        </p:txBody>
      </p:sp>
      <p:sp>
        <p:nvSpPr>
          <p:cNvPr id="41" name="Google Shape;41;p6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p6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Layout">
  <p:cSld name="4_Basic Layout">
    <p:spTree>
      <p:nvGrpSpPr>
        <p:cNvPr id="43" name="Shape 43"/>
        <p:cNvGrpSpPr/>
        <p:nvPr/>
      </p:nvGrpSpPr>
      <p:grpSpPr>
        <a:xfrm>
          <a:off x="0" y="0"/>
          <a:ext cx="0" cy="0"/>
          <a:chOff x="0" y="0"/>
          <a:chExt cx="0" cy="0"/>
        </a:xfrm>
      </p:grpSpPr>
      <p:sp>
        <p:nvSpPr>
          <p:cNvPr id="44" name="Google Shape;44;p33"/>
          <p:cNvSpPr txBox="1"/>
          <p:nvPr>
            <p:ph idx="1" type="body"/>
          </p:nvPr>
        </p:nvSpPr>
        <p:spPr>
          <a:xfrm>
            <a:off x="0" y="164638"/>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45" name="Google Shape;45;p33"/>
          <p:cNvSpPr txBox="1"/>
          <p:nvPr>
            <p:ph idx="2" type="body"/>
          </p:nvPr>
        </p:nvSpPr>
        <p:spPr>
          <a:xfrm>
            <a:off x="0" y="932723"/>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p:cSld name="Big Image">
    <p:bg>
      <p:bgPr>
        <a:solidFill>
          <a:srgbClr val="2A95B7"/>
        </a:solidFill>
      </p:bgPr>
    </p:bg>
    <p:spTree>
      <p:nvGrpSpPr>
        <p:cNvPr id="46" name="Shape 46"/>
        <p:cNvGrpSpPr/>
        <p:nvPr/>
      </p:nvGrpSpPr>
      <p:grpSpPr>
        <a:xfrm>
          <a:off x="0" y="0"/>
          <a:ext cx="0" cy="0"/>
          <a:chOff x="0" y="0"/>
          <a:chExt cx="0" cy="0"/>
        </a:xfrm>
      </p:grpSpPr>
      <p:pic>
        <p:nvPicPr>
          <p:cNvPr descr="scene_trans.png" id="47" name="Google Shape;47;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30"/>
          <p:cNvSpPr txBox="1"/>
          <p:nvPr>
            <p:ph idx="12" type="sldNum"/>
          </p:nvPr>
        </p:nvSpPr>
        <p:spPr>
          <a:xfrm>
            <a:off x="11460400" y="6453000"/>
            <a:ext cx="731600" cy="404800"/>
          </a:xfrm>
          <a:prstGeom prst="rect">
            <a:avLst/>
          </a:prstGeom>
          <a:noFill/>
          <a:ln>
            <a:noFill/>
          </a:ln>
          <a:effectLst>
            <a:outerShdw blurRad="28575" rotWithShape="0" algn="bl" dir="5400000" dist="19050">
              <a:srgbClr val="000000">
                <a:alpha val="22352"/>
              </a:srgbClr>
            </a:outerShdw>
          </a:effectLst>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1pPr>
            <a:lvl2pPr indent="0" lvl="1"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2pPr>
            <a:lvl3pPr indent="0" lvl="2"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3pPr>
            <a:lvl4pPr indent="0" lvl="3"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4pPr>
            <a:lvl5pPr indent="0" lvl="4"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5pPr>
            <a:lvl6pPr indent="0" lvl="5"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6pPr>
            <a:lvl7pPr indent="0" lvl="6"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7pPr>
            <a:lvl8pPr indent="0" lvl="7"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8pPr>
            <a:lvl9pPr indent="0" lvl="8" marL="0" marR="0" rtl="0" algn="r">
              <a:lnSpc>
                <a:spcPct val="100000"/>
              </a:lnSpc>
              <a:spcBef>
                <a:spcPts val="0"/>
              </a:spcBef>
              <a:spcAft>
                <a:spcPts val="0"/>
              </a:spcAft>
              <a:buClr>
                <a:srgbClr val="000000"/>
              </a:buClr>
              <a:buSzPts val="1100"/>
              <a:buFont typeface="Arial"/>
              <a:buNone/>
              <a:defRPr b="0" i="0" sz="1467" u="none" cap="none" strike="noStrike">
                <a:solidFill>
                  <a:srgbClr val="FFFFFF"/>
                </a:solidFill>
                <a:latin typeface="Sniglet"/>
                <a:ea typeface="Sniglet"/>
                <a:cs typeface="Sniglet"/>
                <a:sym typeface="Sniglet"/>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spTree>
      <p:nvGrpSpPr>
        <p:cNvPr id="49" name="Shape 49"/>
        <p:cNvGrpSpPr/>
        <p:nvPr/>
      </p:nvGrpSpPr>
      <p:grpSpPr>
        <a:xfrm>
          <a:off x="0" y="0"/>
          <a:ext cx="0" cy="0"/>
          <a:chOff x="0" y="0"/>
          <a:chExt cx="0" cy="0"/>
        </a:xfrm>
      </p:grpSpPr>
      <p:sp>
        <p:nvSpPr>
          <p:cNvPr id="50" name="Google Shape;50;p31"/>
          <p:cNvSpPr/>
          <p:nvPr/>
        </p:nvSpPr>
        <p:spPr>
          <a:xfrm>
            <a:off x="-3472" y="0"/>
            <a:ext cx="2112235"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pic>
        <p:nvPicPr>
          <p:cNvPr descr="E:\002-KIMS BUSINESS\007-02-Fullslidesppt-Contents\20161228\02-edu\bulb-item2.png" id="51" name="Google Shape;51;p31"/>
          <p:cNvPicPr preferRelativeResize="0"/>
          <p:nvPr/>
        </p:nvPicPr>
        <p:blipFill rotWithShape="1">
          <a:blip r:embed="rId2">
            <a:alphaModFix/>
          </a:blip>
          <a:srcRect b="0" l="0" r="0" t="0"/>
          <a:stretch/>
        </p:blipFill>
        <p:spPr>
          <a:xfrm>
            <a:off x="1052645" y="1250975"/>
            <a:ext cx="2112235" cy="4687944"/>
          </a:xfrm>
          <a:prstGeom prst="rect">
            <a:avLst/>
          </a:prstGeom>
          <a:noFill/>
          <a:ln>
            <a:noFill/>
          </a:ln>
        </p:spPr>
      </p:pic>
      <p:pic>
        <p:nvPicPr>
          <p:cNvPr descr="E:\002-KIMS BUSINESS\007-02-Fullslidesppt-Contents\20161228\02-edu\bulb-item.png" id="52" name="Google Shape;52;p31"/>
          <p:cNvPicPr preferRelativeResize="0"/>
          <p:nvPr/>
        </p:nvPicPr>
        <p:blipFill rotWithShape="1">
          <a:blip r:embed="rId3">
            <a:alphaModFix/>
          </a:blip>
          <a:srcRect b="0" l="0" r="0" t="0"/>
          <a:stretch/>
        </p:blipFill>
        <p:spPr>
          <a:xfrm>
            <a:off x="1052646" y="1250975"/>
            <a:ext cx="1056117" cy="468794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Layout">
  <p:cSld name="3_Basic Layout">
    <p:spTree>
      <p:nvGrpSpPr>
        <p:cNvPr id="53" name="Shape 53"/>
        <p:cNvGrpSpPr/>
        <p:nvPr/>
      </p:nvGrpSpPr>
      <p:grpSpPr>
        <a:xfrm>
          <a:off x="0" y="0"/>
          <a:ext cx="0" cy="0"/>
          <a:chOff x="0" y="0"/>
          <a:chExt cx="0" cy="0"/>
        </a:xfrm>
      </p:grpSpPr>
      <p:sp>
        <p:nvSpPr>
          <p:cNvPr id="54" name="Google Shape;54;p32"/>
          <p:cNvSpPr/>
          <p:nvPr/>
        </p:nvSpPr>
        <p:spPr>
          <a:xfrm>
            <a:off x="0" y="4533123"/>
            <a:ext cx="12192000" cy="2324877"/>
          </a:xfrm>
          <a:prstGeom prst="rect">
            <a:avLst/>
          </a:prstGeom>
          <a:solidFill>
            <a:schemeClr val="accent1"/>
          </a:solidFill>
          <a:ln>
            <a:noFill/>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55" name="Google Shape;55;p32"/>
          <p:cNvSpPr txBox="1"/>
          <p:nvPr>
            <p:ph idx="1" type="body"/>
          </p:nvPr>
        </p:nvSpPr>
        <p:spPr>
          <a:xfrm>
            <a:off x="0" y="164638"/>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56" name="Google Shape;56;p32"/>
          <p:cNvSpPr txBox="1"/>
          <p:nvPr>
            <p:ph idx="2" type="body"/>
          </p:nvPr>
        </p:nvSpPr>
        <p:spPr>
          <a:xfrm>
            <a:off x="0" y="932723"/>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57" name="Google Shape;57;p32"/>
          <p:cNvSpPr/>
          <p:nvPr/>
        </p:nvSpPr>
        <p:spPr>
          <a:xfrm>
            <a:off x="5391415" y="3813043"/>
            <a:ext cx="1440160" cy="1440160"/>
          </a:xfrm>
          <a:prstGeom prst="ellipse">
            <a:avLst/>
          </a:prstGeom>
          <a:solidFill>
            <a:schemeClr val="accent1"/>
          </a:solidFill>
          <a:ln cap="flat" cmpd="sng" w="635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pic>
        <p:nvPicPr>
          <p:cNvPr descr="E:\002-KIMS BUSINESS\007-02-Fullslidesppt-Contents\20161228\02-edu\bulb-item.png" id="58" name="Google Shape;58;p32"/>
          <p:cNvPicPr preferRelativeResize="0"/>
          <p:nvPr/>
        </p:nvPicPr>
        <p:blipFill rotWithShape="1">
          <a:blip r:embed="rId2">
            <a:alphaModFix/>
          </a:blip>
          <a:srcRect b="0" l="0" r="0" t="0"/>
          <a:stretch/>
        </p:blipFill>
        <p:spPr>
          <a:xfrm>
            <a:off x="5877409" y="4013590"/>
            <a:ext cx="468171" cy="103906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Contents Layout">
  <p:cSld name="Images and Contents Layout">
    <p:bg>
      <p:bgPr>
        <a:solidFill>
          <a:schemeClr val="lt1"/>
        </a:solidFill>
      </p:bgPr>
    </p:bg>
    <p:spTree>
      <p:nvGrpSpPr>
        <p:cNvPr id="59" name="Shape 59"/>
        <p:cNvGrpSpPr/>
        <p:nvPr/>
      </p:nvGrpSpPr>
      <p:grpSpPr>
        <a:xfrm>
          <a:off x="0" y="0"/>
          <a:ext cx="0" cy="0"/>
          <a:chOff x="0" y="0"/>
          <a:chExt cx="0" cy="0"/>
        </a:xfrm>
      </p:grpSpPr>
      <p:sp>
        <p:nvSpPr>
          <p:cNvPr id="60" name="Google Shape;60;p34"/>
          <p:cNvSpPr/>
          <p:nvPr/>
        </p:nvSpPr>
        <p:spPr>
          <a:xfrm>
            <a:off x="191344" y="123479"/>
            <a:ext cx="11809312" cy="661104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1" name="Google Shape;61;p34"/>
          <p:cNvSpPr txBox="1"/>
          <p:nvPr>
            <p:ph idx="1" type="body"/>
          </p:nvPr>
        </p:nvSpPr>
        <p:spPr>
          <a:xfrm>
            <a:off x="0" y="242176"/>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960"/>
              </a:spcBef>
              <a:spcAft>
                <a:spcPts val="0"/>
              </a:spcAft>
              <a:buClr>
                <a:schemeClr val="lt1"/>
              </a:buClr>
              <a:buSzPts val="4800"/>
              <a:buFont typeface="Arial"/>
              <a:buNone/>
              <a:defRPr b="0" i="0" sz="4800" u="none" cap="none" strike="noStrike">
                <a:solidFill>
                  <a:schemeClr val="lt1"/>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62" name="Google Shape;62;p34"/>
          <p:cNvSpPr txBox="1"/>
          <p:nvPr>
            <p:ph idx="2" type="body"/>
          </p:nvPr>
        </p:nvSpPr>
        <p:spPr>
          <a:xfrm>
            <a:off x="0" y="1010261"/>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73"/>
              </a:spcBef>
              <a:spcAft>
                <a:spcPts val="0"/>
              </a:spcAft>
              <a:buClr>
                <a:schemeClr val="lt1"/>
              </a:buClr>
              <a:buSzPts val="1867"/>
              <a:buFont typeface="Arial"/>
              <a:buNone/>
              <a:defRPr b="0" i="0" sz="1867" u="none" cap="none" strike="noStrike">
                <a:solidFill>
                  <a:schemeClr val="lt1"/>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63" name="Google Shape;63;p34"/>
          <p:cNvSpPr/>
          <p:nvPr>
            <p:ph idx="3" type="pic"/>
          </p:nvPr>
        </p:nvSpPr>
        <p:spPr>
          <a:xfrm>
            <a:off x="0" y="1797032"/>
            <a:ext cx="2880320" cy="2496064"/>
          </a:xfrm>
          <a:prstGeom prst="rect">
            <a:avLst/>
          </a:prstGeom>
          <a:solidFill>
            <a:srgbClr val="F2F2F2"/>
          </a:solidFill>
          <a:ln>
            <a:noFill/>
          </a:ln>
        </p:spPr>
      </p:sp>
      <p:sp>
        <p:nvSpPr>
          <p:cNvPr id="64" name="Google Shape;64;p34"/>
          <p:cNvSpPr/>
          <p:nvPr>
            <p:ph idx="4" type="pic"/>
          </p:nvPr>
        </p:nvSpPr>
        <p:spPr>
          <a:xfrm>
            <a:off x="3103893" y="1797032"/>
            <a:ext cx="2880320" cy="2496064"/>
          </a:xfrm>
          <a:prstGeom prst="rect">
            <a:avLst/>
          </a:prstGeom>
          <a:solidFill>
            <a:srgbClr val="F2F2F2"/>
          </a:solidFill>
          <a:ln>
            <a:noFill/>
          </a:ln>
        </p:spPr>
      </p:sp>
      <p:sp>
        <p:nvSpPr>
          <p:cNvPr id="65" name="Google Shape;65;p34"/>
          <p:cNvSpPr/>
          <p:nvPr>
            <p:ph idx="5" type="pic"/>
          </p:nvPr>
        </p:nvSpPr>
        <p:spPr>
          <a:xfrm>
            <a:off x="6207787" y="1797032"/>
            <a:ext cx="2880320" cy="2496064"/>
          </a:xfrm>
          <a:prstGeom prst="rect">
            <a:avLst/>
          </a:prstGeom>
          <a:solidFill>
            <a:srgbClr val="F2F2F2"/>
          </a:solidFill>
          <a:ln>
            <a:noFill/>
          </a:ln>
        </p:spPr>
      </p:sp>
      <p:sp>
        <p:nvSpPr>
          <p:cNvPr id="66" name="Google Shape;66;p34"/>
          <p:cNvSpPr/>
          <p:nvPr>
            <p:ph idx="6" type="pic"/>
          </p:nvPr>
        </p:nvSpPr>
        <p:spPr>
          <a:xfrm>
            <a:off x="9311680" y="1797032"/>
            <a:ext cx="2880320" cy="2496064"/>
          </a:xfrm>
          <a:prstGeom prst="rect">
            <a:avLst/>
          </a:prstGeom>
          <a:solidFill>
            <a:srgbClr val="F2F2F2"/>
          </a:solidFill>
          <a:ln>
            <a:noFill/>
          </a:ln>
        </p:spPr>
      </p:sp>
      <p:sp>
        <p:nvSpPr>
          <p:cNvPr id="67" name="Google Shape;67;p34"/>
          <p:cNvSpPr/>
          <p:nvPr/>
        </p:nvSpPr>
        <p:spPr>
          <a:xfrm>
            <a:off x="0" y="4293096"/>
            <a:ext cx="2880000" cy="21122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8" name="Google Shape;68;p34"/>
          <p:cNvSpPr/>
          <p:nvPr/>
        </p:nvSpPr>
        <p:spPr>
          <a:xfrm>
            <a:off x="3104000" y="4293096"/>
            <a:ext cx="2880000" cy="21122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69" name="Google Shape;69;p34"/>
          <p:cNvSpPr/>
          <p:nvPr/>
        </p:nvSpPr>
        <p:spPr>
          <a:xfrm>
            <a:off x="6208000" y="4293096"/>
            <a:ext cx="2880000" cy="21122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0" name="Google Shape;70;p34"/>
          <p:cNvSpPr/>
          <p:nvPr/>
        </p:nvSpPr>
        <p:spPr>
          <a:xfrm>
            <a:off x="9312000" y="4293096"/>
            <a:ext cx="2880000" cy="211223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s and Contents Layout">
  <p:cSld name="1_Images and Contents Layout">
    <p:spTree>
      <p:nvGrpSpPr>
        <p:cNvPr id="71" name="Shape 71"/>
        <p:cNvGrpSpPr/>
        <p:nvPr/>
      </p:nvGrpSpPr>
      <p:grpSpPr>
        <a:xfrm>
          <a:off x="0" y="0"/>
          <a:ext cx="0" cy="0"/>
          <a:chOff x="0" y="0"/>
          <a:chExt cx="0" cy="0"/>
        </a:xfrm>
      </p:grpSpPr>
      <p:sp>
        <p:nvSpPr>
          <p:cNvPr id="72" name="Google Shape;72;p35"/>
          <p:cNvSpPr/>
          <p:nvPr/>
        </p:nvSpPr>
        <p:spPr>
          <a:xfrm>
            <a:off x="0" y="3909485"/>
            <a:ext cx="12192000" cy="2948516"/>
          </a:xfrm>
          <a:prstGeom prst="rect">
            <a:avLst/>
          </a:prstGeom>
          <a:solidFill>
            <a:schemeClr val="accent1"/>
          </a:solidFill>
          <a:ln>
            <a:noFill/>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73" name="Google Shape;73;p35"/>
          <p:cNvSpPr txBox="1"/>
          <p:nvPr>
            <p:ph idx="1" type="body"/>
          </p:nvPr>
        </p:nvSpPr>
        <p:spPr>
          <a:xfrm>
            <a:off x="0" y="242176"/>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74" name="Google Shape;74;p35"/>
          <p:cNvSpPr txBox="1"/>
          <p:nvPr>
            <p:ph idx="2" type="body"/>
          </p:nvPr>
        </p:nvSpPr>
        <p:spPr>
          <a:xfrm>
            <a:off x="0" y="1010261"/>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pic>
        <p:nvPicPr>
          <p:cNvPr descr="D:\Fullppt\005-PNG이미지\노트북.png" id="75" name="Google Shape;75;p35"/>
          <p:cNvPicPr preferRelativeResize="0"/>
          <p:nvPr/>
        </p:nvPicPr>
        <p:blipFill rotWithShape="1">
          <a:blip r:embed="rId2">
            <a:alphaModFix/>
          </a:blip>
          <a:srcRect b="0" l="0" r="0" t="0"/>
          <a:stretch/>
        </p:blipFill>
        <p:spPr>
          <a:xfrm>
            <a:off x="3407701" y="1508787"/>
            <a:ext cx="9640360" cy="4903243"/>
          </a:xfrm>
          <a:prstGeom prst="rect">
            <a:avLst/>
          </a:prstGeom>
          <a:noFill/>
          <a:ln>
            <a:noFill/>
          </a:ln>
        </p:spPr>
      </p:pic>
      <p:sp>
        <p:nvSpPr>
          <p:cNvPr id="76" name="Google Shape;76;p35"/>
          <p:cNvSpPr/>
          <p:nvPr>
            <p:ph idx="3" type="pic"/>
          </p:nvPr>
        </p:nvSpPr>
        <p:spPr>
          <a:xfrm>
            <a:off x="6017974" y="2168343"/>
            <a:ext cx="4620289" cy="3416807"/>
          </a:xfrm>
          <a:prstGeom prst="rect">
            <a:avLst/>
          </a:prstGeom>
          <a:solidFill>
            <a:srgbClr val="F2F2F2"/>
          </a:solidFill>
          <a:ln>
            <a:noFill/>
          </a:ln>
        </p:spPr>
      </p:sp>
      <p:sp>
        <p:nvSpPr>
          <p:cNvPr id="77" name="Google Shape;77;p35"/>
          <p:cNvSpPr/>
          <p:nvPr/>
        </p:nvSpPr>
        <p:spPr>
          <a:xfrm>
            <a:off x="623392" y="4485118"/>
            <a:ext cx="4032448" cy="1344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s and Contents Layout">
  <p:cSld name="2_Images and Contents Layout">
    <p:spTree>
      <p:nvGrpSpPr>
        <p:cNvPr id="78" name="Shape 78"/>
        <p:cNvGrpSpPr/>
        <p:nvPr/>
      </p:nvGrpSpPr>
      <p:grpSpPr>
        <a:xfrm>
          <a:off x="0" y="0"/>
          <a:ext cx="0" cy="0"/>
          <a:chOff x="0" y="0"/>
          <a:chExt cx="0" cy="0"/>
        </a:xfrm>
      </p:grpSpPr>
      <p:sp>
        <p:nvSpPr>
          <p:cNvPr id="79" name="Google Shape;79;p36"/>
          <p:cNvSpPr txBox="1"/>
          <p:nvPr>
            <p:ph idx="1" type="body"/>
          </p:nvPr>
        </p:nvSpPr>
        <p:spPr>
          <a:xfrm>
            <a:off x="0" y="242176"/>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96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80" name="Google Shape;80;p36"/>
          <p:cNvSpPr txBox="1"/>
          <p:nvPr>
            <p:ph idx="2" type="body"/>
          </p:nvPr>
        </p:nvSpPr>
        <p:spPr>
          <a:xfrm>
            <a:off x="0" y="1010261"/>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81" name="Google Shape;81;p36"/>
          <p:cNvSpPr/>
          <p:nvPr/>
        </p:nvSpPr>
        <p:spPr>
          <a:xfrm>
            <a:off x="0" y="2346339"/>
            <a:ext cx="12192000" cy="2948516"/>
          </a:xfrm>
          <a:prstGeom prst="rect">
            <a:avLst/>
          </a:prstGeom>
          <a:solidFill>
            <a:schemeClr val="accent1"/>
          </a:solidFill>
          <a:ln>
            <a:noFill/>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pic>
        <p:nvPicPr>
          <p:cNvPr descr="D:\Fullppt\PNG이미지\핸드폰2.png" id="82" name="Google Shape;82;p36"/>
          <p:cNvPicPr preferRelativeResize="0"/>
          <p:nvPr/>
        </p:nvPicPr>
        <p:blipFill rotWithShape="1">
          <a:blip r:embed="rId2">
            <a:alphaModFix/>
          </a:blip>
          <a:srcRect b="0" l="0" r="0" t="0"/>
          <a:stretch/>
        </p:blipFill>
        <p:spPr>
          <a:xfrm>
            <a:off x="8030944" y="1389641"/>
            <a:ext cx="3825696" cy="4632841"/>
          </a:xfrm>
          <a:prstGeom prst="rect">
            <a:avLst/>
          </a:prstGeom>
          <a:noFill/>
          <a:ln>
            <a:noFill/>
          </a:ln>
        </p:spPr>
      </p:pic>
      <p:sp>
        <p:nvSpPr>
          <p:cNvPr id="83" name="Google Shape;83;p36"/>
          <p:cNvSpPr/>
          <p:nvPr>
            <p:ph idx="3" type="pic"/>
          </p:nvPr>
        </p:nvSpPr>
        <p:spPr>
          <a:xfrm>
            <a:off x="9840416" y="1566977"/>
            <a:ext cx="1344149" cy="3408139"/>
          </a:xfrm>
          <a:prstGeom prst="rect">
            <a:avLst/>
          </a:prstGeom>
          <a:solidFill>
            <a:srgbClr val="F2F2F2"/>
          </a:solidFill>
          <a:ln>
            <a:noFill/>
          </a:ln>
        </p:spPr>
      </p:sp>
      <p:sp>
        <p:nvSpPr>
          <p:cNvPr id="84" name="Google Shape;84;p36"/>
          <p:cNvSpPr/>
          <p:nvPr>
            <p:ph idx="4" type="pic"/>
          </p:nvPr>
        </p:nvSpPr>
        <p:spPr>
          <a:xfrm>
            <a:off x="7524359" y="1681512"/>
            <a:ext cx="2206355" cy="3408139"/>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s and Contents Layout">
  <p:cSld name="4_Images and Contents Layout">
    <p:spTree>
      <p:nvGrpSpPr>
        <p:cNvPr id="85" name="Shape 85"/>
        <p:cNvGrpSpPr/>
        <p:nvPr/>
      </p:nvGrpSpPr>
      <p:grpSpPr>
        <a:xfrm>
          <a:off x="0" y="0"/>
          <a:ext cx="0" cy="0"/>
          <a:chOff x="0" y="0"/>
          <a:chExt cx="0" cy="0"/>
        </a:xfrm>
      </p:grpSpPr>
      <p:sp>
        <p:nvSpPr>
          <p:cNvPr id="86" name="Google Shape;86;p37"/>
          <p:cNvSpPr/>
          <p:nvPr>
            <p:ph idx="2" type="pic"/>
          </p:nvPr>
        </p:nvSpPr>
        <p:spPr>
          <a:xfrm>
            <a:off x="0" y="-1"/>
            <a:ext cx="4079776" cy="6858001"/>
          </a:xfrm>
          <a:prstGeom prst="rect">
            <a:avLst/>
          </a:prstGeom>
          <a:solidFill>
            <a:srgbClr val="F2F2F2"/>
          </a:solidFill>
          <a:ln>
            <a:noFill/>
          </a:ln>
        </p:spPr>
      </p:sp>
      <p:sp>
        <p:nvSpPr>
          <p:cNvPr id="87" name="Google Shape;87;p37"/>
          <p:cNvSpPr/>
          <p:nvPr/>
        </p:nvSpPr>
        <p:spPr>
          <a:xfrm>
            <a:off x="6480043" y="0"/>
            <a:ext cx="48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88" name="Google Shape;88;p37"/>
          <p:cNvSpPr/>
          <p:nvPr/>
        </p:nvSpPr>
        <p:spPr>
          <a:xfrm>
            <a:off x="6528043" y="1749000"/>
            <a:ext cx="240000" cy="3360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s and Contents Layout">
  <p:cSld name="5_Images and Contents Layout">
    <p:bg>
      <p:bgPr>
        <a:solidFill>
          <a:schemeClr val="accent1"/>
        </a:solidFill>
      </p:bgPr>
    </p:bg>
    <p:spTree>
      <p:nvGrpSpPr>
        <p:cNvPr id="89" name="Shape 89"/>
        <p:cNvGrpSpPr/>
        <p:nvPr/>
      </p:nvGrpSpPr>
      <p:grpSpPr>
        <a:xfrm>
          <a:off x="0" y="0"/>
          <a:ext cx="0" cy="0"/>
          <a:chOff x="0" y="0"/>
          <a:chExt cx="0" cy="0"/>
        </a:xfrm>
      </p:grpSpPr>
      <p:sp>
        <p:nvSpPr>
          <p:cNvPr id="90" name="Google Shape;90;p38"/>
          <p:cNvSpPr/>
          <p:nvPr>
            <p:ph idx="2" type="pic"/>
          </p:nvPr>
        </p:nvSpPr>
        <p:spPr>
          <a:xfrm>
            <a:off x="0" y="-1"/>
            <a:ext cx="12192000" cy="4102100"/>
          </a:xfrm>
          <a:prstGeom prst="rect">
            <a:avLst/>
          </a:prstGeom>
          <a:solidFill>
            <a:srgbClr val="F2F2F2"/>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s and Contents Layout">
  <p:cSld name="6_Images and Contents Layout">
    <p:spTree>
      <p:nvGrpSpPr>
        <p:cNvPr id="91" name="Shape 91"/>
        <p:cNvGrpSpPr/>
        <p:nvPr/>
      </p:nvGrpSpPr>
      <p:grpSpPr>
        <a:xfrm>
          <a:off x="0" y="0"/>
          <a:ext cx="0" cy="0"/>
          <a:chOff x="0" y="0"/>
          <a:chExt cx="0" cy="0"/>
        </a:xfrm>
      </p:grpSpPr>
      <p:sp>
        <p:nvSpPr>
          <p:cNvPr id="92" name="Google Shape;92;p39"/>
          <p:cNvSpPr txBox="1"/>
          <p:nvPr>
            <p:ph idx="1" type="body"/>
          </p:nvPr>
        </p:nvSpPr>
        <p:spPr>
          <a:xfrm>
            <a:off x="4175787" y="242176"/>
            <a:ext cx="8016213" cy="768085"/>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93" name="Google Shape;93;p39"/>
          <p:cNvSpPr txBox="1"/>
          <p:nvPr>
            <p:ph idx="2" type="body"/>
          </p:nvPr>
        </p:nvSpPr>
        <p:spPr>
          <a:xfrm>
            <a:off x="4175787" y="1010261"/>
            <a:ext cx="8016213" cy="384043"/>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94" name="Google Shape;94;p39"/>
          <p:cNvSpPr/>
          <p:nvPr>
            <p:ph idx="3" type="pic"/>
          </p:nvPr>
        </p:nvSpPr>
        <p:spPr>
          <a:xfrm>
            <a:off x="0" y="-1"/>
            <a:ext cx="4079776" cy="6858001"/>
          </a:xfrm>
          <a:prstGeom prst="rect">
            <a:avLst/>
          </a:prstGeom>
          <a:solidFill>
            <a:srgbClr val="F2F2F2"/>
          </a:solidFill>
          <a:ln>
            <a:noFill/>
          </a:ln>
        </p:spPr>
      </p:sp>
      <p:sp>
        <p:nvSpPr>
          <p:cNvPr id="95" name="Google Shape;95;p39"/>
          <p:cNvSpPr/>
          <p:nvPr>
            <p:ph idx="4" type="pic"/>
          </p:nvPr>
        </p:nvSpPr>
        <p:spPr>
          <a:xfrm>
            <a:off x="4195293" y="1508787"/>
            <a:ext cx="4079776" cy="5349213"/>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s and Contents Layout">
  <p:cSld name="3_Images and Contents Layout">
    <p:spTree>
      <p:nvGrpSpPr>
        <p:cNvPr id="96" name="Shape 96"/>
        <p:cNvGrpSpPr/>
        <p:nvPr/>
      </p:nvGrpSpPr>
      <p:grpSpPr>
        <a:xfrm>
          <a:off x="0" y="0"/>
          <a:ext cx="0" cy="0"/>
          <a:chOff x="0" y="0"/>
          <a:chExt cx="0" cy="0"/>
        </a:xfrm>
      </p:grpSpPr>
      <p:sp>
        <p:nvSpPr>
          <p:cNvPr id="97" name="Google Shape;97;p40"/>
          <p:cNvSpPr/>
          <p:nvPr/>
        </p:nvSpPr>
        <p:spPr>
          <a:xfrm>
            <a:off x="0" y="548680"/>
            <a:ext cx="8592277" cy="5760640"/>
          </a:xfrm>
          <a:prstGeom prst="rect">
            <a:avLst/>
          </a:prstGeom>
          <a:solidFill>
            <a:schemeClr val="accent1"/>
          </a:solidFill>
          <a:ln>
            <a:noFill/>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98" name="Google Shape;98;p40"/>
          <p:cNvSpPr/>
          <p:nvPr>
            <p:ph idx="2" type="pic"/>
          </p:nvPr>
        </p:nvSpPr>
        <p:spPr>
          <a:xfrm>
            <a:off x="180829" y="260650"/>
            <a:ext cx="2592288" cy="6336701"/>
          </a:xfrm>
          <a:prstGeom prst="rect">
            <a:avLst/>
          </a:prstGeom>
          <a:solidFill>
            <a:srgbClr val="F2F2F2"/>
          </a:solidFill>
          <a:ln>
            <a:noFill/>
          </a:ln>
        </p:spPr>
      </p:sp>
      <p:sp>
        <p:nvSpPr>
          <p:cNvPr id="99" name="Google Shape;99;p40"/>
          <p:cNvSpPr/>
          <p:nvPr>
            <p:ph idx="3" type="pic"/>
          </p:nvPr>
        </p:nvSpPr>
        <p:spPr>
          <a:xfrm>
            <a:off x="2965139" y="260650"/>
            <a:ext cx="2592288" cy="6336701"/>
          </a:xfrm>
          <a:prstGeom prst="rect">
            <a:avLst/>
          </a:prstGeom>
          <a:solidFill>
            <a:srgbClr val="F2F2F2"/>
          </a:solidFill>
          <a:ln>
            <a:noFill/>
          </a:ln>
        </p:spPr>
      </p:sp>
      <p:sp>
        <p:nvSpPr>
          <p:cNvPr id="100" name="Google Shape;100;p40"/>
          <p:cNvSpPr/>
          <p:nvPr>
            <p:ph idx="4" type="pic"/>
          </p:nvPr>
        </p:nvSpPr>
        <p:spPr>
          <a:xfrm>
            <a:off x="5749448" y="260650"/>
            <a:ext cx="2592288" cy="6336701"/>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s and Contents Layout">
  <p:cSld name="7_Images and Contents Layout">
    <p:bg>
      <p:bgPr>
        <a:solidFill>
          <a:schemeClr val="accent1"/>
        </a:solidFill>
      </p:bgPr>
    </p:bg>
    <p:spTree>
      <p:nvGrpSpPr>
        <p:cNvPr id="101" name="Shape 101"/>
        <p:cNvGrpSpPr/>
        <p:nvPr/>
      </p:nvGrpSpPr>
      <p:grpSpPr>
        <a:xfrm>
          <a:off x="0" y="0"/>
          <a:ext cx="0" cy="0"/>
          <a:chOff x="0" y="0"/>
          <a:chExt cx="0" cy="0"/>
        </a:xfrm>
      </p:grpSpPr>
      <p:sp>
        <p:nvSpPr>
          <p:cNvPr id="102" name="Google Shape;102;p41"/>
          <p:cNvSpPr/>
          <p:nvPr>
            <p:ph idx="2" type="pic"/>
          </p:nvPr>
        </p:nvSpPr>
        <p:spPr>
          <a:xfrm>
            <a:off x="8592277" y="356659"/>
            <a:ext cx="2880000" cy="2880000"/>
          </a:xfrm>
          <a:prstGeom prst="rect">
            <a:avLst/>
          </a:prstGeom>
          <a:solidFill>
            <a:srgbClr val="F2F2F2"/>
          </a:solidFill>
          <a:ln>
            <a:noFill/>
          </a:ln>
        </p:spPr>
      </p:sp>
      <p:sp>
        <p:nvSpPr>
          <p:cNvPr id="103" name="Google Shape;103;p41"/>
          <p:cNvSpPr/>
          <p:nvPr>
            <p:ph idx="3" type="pic"/>
          </p:nvPr>
        </p:nvSpPr>
        <p:spPr>
          <a:xfrm>
            <a:off x="8592277" y="3621021"/>
            <a:ext cx="2880000" cy="2880000"/>
          </a:xfrm>
          <a:prstGeom prst="rect">
            <a:avLst/>
          </a:prstGeom>
          <a:solidFill>
            <a:srgbClr val="F2F2F2"/>
          </a:solidFill>
          <a:ln>
            <a:noFill/>
          </a:ln>
        </p:spPr>
      </p:sp>
      <p:sp>
        <p:nvSpPr>
          <p:cNvPr id="104" name="Google Shape;104;p41"/>
          <p:cNvSpPr/>
          <p:nvPr>
            <p:ph idx="4" type="pic"/>
          </p:nvPr>
        </p:nvSpPr>
        <p:spPr>
          <a:xfrm>
            <a:off x="5314951" y="356659"/>
            <a:ext cx="2880000" cy="2880000"/>
          </a:xfrm>
          <a:prstGeom prst="rect">
            <a:avLst/>
          </a:prstGeom>
          <a:solidFill>
            <a:srgbClr val="F2F2F2"/>
          </a:solidFill>
          <a:ln>
            <a:noFill/>
          </a:ln>
        </p:spPr>
      </p:sp>
      <p:sp>
        <p:nvSpPr>
          <p:cNvPr id="105" name="Google Shape;105;p41"/>
          <p:cNvSpPr/>
          <p:nvPr>
            <p:ph idx="5" type="pic"/>
          </p:nvPr>
        </p:nvSpPr>
        <p:spPr>
          <a:xfrm>
            <a:off x="5314951" y="3621021"/>
            <a:ext cx="2880000" cy="2880000"/>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Images and Contents Layout">
  <p:cSld name="8_Images and Contents Layout">
    <p:spTree>
      <p:nvGrpSpPr>
        <p:cNvPr id="106" name="Shape 106"/>
        <p:cNvGrpSpPr/>
        <p:nvPr/>
      </p:nvGrpSpPr>
      <p:grpSpPr>
        <a:xfrm>
          <a:off x="0" y="0"/>
          <a:ext cx="0" cy="0"/>
          <a:chOff x="0" y="0"/>
          <a:chExt cx="0" cy="0"/>
        </a:xfrm>
      </p:grpSpPr>
      <p:sp>
        <p:nvSpPr>
          <p:cNvPr id="107" name="Google Shape;107;p42"/>
          <p:cNvSpPr txBox="1"/>
          <p:nvPr>
            <p:ph idx="1" type="body"/>
          </p:nvPr>
        </p:nvSpPr>
        <p:spPr>
          <a:xfrm>
            <a:off x="527381" y="4389107"/>
            <a:ext cx="11664619" cy="768085"/>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08" name="Google Shape;108;p42"/>
          <p:cNvSpPr txBox="1"/>
          <p:nvPr>
            <p:ph idx="2" type="body"/>
          </p:nvPr>
        </p:nvSpPr>
        <p:spPr>
          <a:xfrm>
            <a:off x="527381" y="5157192"/>
            <a:ext cx="11664619" cy="384043"/>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09" name="Google Shape;109;p42"/>
          <p:cNvSpPr/>
          <p:nvPr/>
        </p:nvSpPr>
        <p:spPr>
          <a:xfrm>
            <a:off x="0" y="6618000"/>
            <a:ext cx="12192000" cy="240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110" name="Google Shape;110;p42"/>
          <p:cNvSpPr/>
          <p:nvPr/>
        </p:nvSpPr>
        <p:spPr>
          <a:xfrm>
            <a:off x="0" y="0"/>
            <a:ext cx="12192000" cy="96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111" name="Google Shape;111;p42"/>
          <p:cNvSpPr/>
          <p:nvPr>
            <p:ph idx="3" type="pic"/>
          </p:nvPr>
        </p:nvSpPr>
        <p:spPr>
          <a:xfrm>
            <a:off x="623392" y="452669"/>
            <a:ext cx="4416171" cy="3744096"/>
          </a:xfrm>
          <a:prstGeom prst="rect">
            <a:avLst/>
          </a:prstGeom>
          <a:solidFill>
            <a:srgbClr val="F2F2F2"/>
          </a:solidFill>
          <a:ln>
            <a:noFill/>
          </a:ln>
        </p:spPr>
      </p:sp>
      <p:sp>
        <p:nvSpPr>
          <p:cNvPr id="112" name="Google Shape;112;p42"/>
          <p:cNvSpPr/>
          <p:nvPr>
            <p:ph idx="4" type="pic"/>
          </p:nvPr>
        </p:nvSpPr>
        <p:spPr>
          <a:xfrm>
            <a:off x="5327915" y="452669"/>
            <a:ext cx="6240693" cy="1776000"/>
          </a:xfrm>
          <a:prstGeom prst="rect">
            <a:avLst/>
          </a:prstGeom>
          <a:solidFill>
            <a:srgbClr val="F2F2F2"/>
          </a:solidFill>
          <a:ln>
            <a:noFill/>
          </a:ln>
        </p:spPr>
      </p:sp>
      <p:sp>
        <p:nvSpPr>
          <p:cNvPr id="113" name="Google Shape;113;p42"/>
          <p:cNvSpPr/>
          <p:nvPr>
            <p:ph idx="5" type="pic"/>
          </p:nvPr>
        </p:nvSpPr>
        <p:spPr>
          <a:xfrm>
            <a:off x="5327915" y="2420765"/>
            <a:ext cx="1920000" cy="1776000"/>
          </a:xfrm>
          <a:prstGeom prst="rect">
            <a:avLst/>
          </a:prstGeom>
          <a:solidFill>
            <a:srgbClr val="F2F2F2"/>
          </a:solidFill>
          <a:ln>
            <a:noFill/>
          </a:ln>
        </p:spPr>
      </p:sp>
      <p:sp>
        <p:nvSpPr>
          <p:cNvPr id="114" name="Google Shape;114;p42"/>
          <p:cNvSpPr/>
          <p:nvPr>
            <p:ph idx="6" type="pic"/>
          </p:nvPr>
        </p:nvSpPr>
        <p:spPr>
          <a:xfrm>
            <a:off x="7488261" y="2420765"/>
            <a:ext cx="1920000" cy="1776000"/>
          </a:xfrm>
          <a:prstGeom prst="rect">
            <a:avLst/>
          </a:prstGeom>
          <a:solidFill>
            <a:srgbClr val="F2F2F2"/>
          </a:solidFill>
          <a:ln>
            <a:noFill/>
          </a:ln>
        </p:spPr>
      </p:sp>
      <p:sp>
        <p:nvSpPr>
          <p:cNvPr id="115" name="Google Shape;115;p42"/>
          <p:cNvSpPr/>
          <p:nvPr>
            <p:ph idx="7" type="pic"/>
          </p:nvPr>
        </p:nvSpPr>
        <p:spPr>
          <a:xfrm>
            <a:off x="9648608" y="2420765"/>
            <a:ext cx="1920000" cy="17760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pes sets layout">
  <p:cSld name="shapes sets layout">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43"/>
          <p:cNvSpPr txBox="1"/>
          <p:nvPr>
            <p:ph idx="1" type="body"/>
          </p:nvPr>
        </p:nvSpPr>
        <p:spPr>
          <a:xfrm>
            <a:off x="323528" y="12347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108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sets layout">
  <p:cSld name="icon sets layout">
    <p:spTree>
      <p:nvGrpSpPr>
        <p:cNvPr id="118" name="Shape 118"/>
        <p:cNvGrpSpPr/>
        <p:nvPr/>
      </p:nvGrpSpPr>
      <p:grpSpPr>
        <a:xfrm>
          <a:off x="0" y="0"/>
          <a:ext cx="0" cy="0"/>
          <a:chOff x="0" y="0"/>
          <a:chExt cx="0" cy="0"/>
        </a:xfrm>
      </p:grpSpPr>
      <p:sp>
        <p:nvSpPr>
          <p:cNvPr id="119" name="Google Shape;119;p44"/>
          <p:cNvSpPr txBox="1"/>
          <p:nvPr>
            <p:ph idx="1" type="body"/>
          </p:nvPr>
        </p:nvSpPr>
        <p:spPr>
          <a:xfrm>
            <a:off x="0" y="164638"/>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lnSpc>
                <a:spcPct val="100000"/>
              </a:lnSpc>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20" name="Google Shape;120;p44"/>
          <p:cNvSpPr/>
          <p:nvPr/>
        </p:nvSpPr>
        <p:spPr>
          <a:xfrm>
            <a:off x="472011" y="1508786"/>
            <a:ext cx="3799787" cy="4865561"/>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121" name="Google Shape;121;p44"/>
          <p:cNvSpPr/>
          <p:nvPr/>
        </p:nvSpPr>
        <p:spPr>
          <a:xfrm>
            <a:off x="709243" y="1796667"/>
            <a:ext cx="144693" cy="4320631"/>
          </a:xfrm>
          <a:prstGeom prst="roundRect">
            <a:avLst>
              <a:gd fmla="val 50000" name="adj"/>
            </a:avLst>
          </a:pr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122" name="Google Shape;122;p44"/>
          <p:cNvSpPr/>
          <p:nvPr/>
        </p:nvSpPr>
        <p:spPr>
          <a:xfrm rot="5400000">
            <a:off x="3456857" y="1650935"/>
            <a:ext cx="669775" cy="669775"/>
          </a:xfrm>
          <a:prstGeom prst="halfFrame">
            <a:avLst>
              <a:gd fmla="val 23728" name="adj1"/>
              <a:gd fmla="val 24642" name="adj2"/>
            </a:avLst>
          </a:prstGeom>
          <a:solidFill>
            <a:schemeClr val="lt1">
              <a:alpha val="2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5" Type="http://schemas.openxmlformats.org/officeDocument/2006/relationships/slideLayout" Target="../slideLayouts/slideLayout6.xml"/><Relationship Id="rId19" Type="http://schemas.openxmlformats.org/officeDocument/2006/relationships/slideLayout" Target="../slideLayouts/slideLayout20.xml"/><Relationship Id="rId6" Type="http://schemas.openxmlformats.org/officeDocument/2006/relationships/slideLayout" Target="../slideLayouts/slideLayout7.xml"/><Relationship Id="rId18" Type="http://schemas.openxmlformats.org/officeDocument/2006/relationships/slideLayout" Target="../slideLayouts/slideLayout19.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442914" y="432001"/>
            <a:ext cx="11306175" cy="1387275"/>
          </a:xfrm>
          <a:prstGeom prst="rect">
            <a:avLst/>
          </a:prstGeom>
          <a:noFill/>
          <a:ln>
            <a:noFill/>
          </a:ln>
        </p:spPr>
        <p:txBody>
          <a:bodyPr anchorCtr="0" anchor="t" bIns="0" lIns="0" spcFirstLastPara="1" rIns="0" wrap="square" tIns="0">
            <a:normAutofit/>
          </a:bodyPr>
          <a:lstStyle>
            <a:lvl1pPr lvl="0" marR="0" rtl="0" algn="l">
              <a:lnSpc>
                <a:spcPct val="85000"/>
              </a:lnSpc>
              <a:spcBef>
                <a:spcPts val="0"/>
              </a:spcBef>
              <a:spcAft>
                <a:spcPts val="0"/>
              </a:spcAft>
              <a:buClr>
                <a:schemeClr val="lt1"/>
              </a:buClr>
              <a:buSzPts val="3200"/>
              <a:buFont typeface="Georgia"/>
              <a:buNone/>
              <a:defRPr b="0" i="0" sz="3200" u="none" cap="none" strike="noStrike">
                <a:solidFill>
                  <a:schemeClr val="lt1"/>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442914" y="2103437"/>
            <a:ext cx="11306175" cy="40687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1"/>
              </a:buClr>
              <a:buSzPts val="1800"/>
              <a:buFont typeface="Arial"/>
              <a:buNone/>
              <a:defRPr b="1" i="0" sz="1800" u="none" cap="none" strike="noStrike">
                <a:solidFill>
                  <a:schemeClr val="accent1"/>
                </a:solidFill>
                <a:latin typeface="Arial"/>
                <a:ea typeface="Arial"/>
                <a:cs typeface="Arial"/>
                <a:sym typeface="Arial"/>
              </a:defRPr>
            </a:lvl1pPr>
            <a:lvl2pPr indent="-228600" lvl="1" marL="914400" marR="0" rtl="0" algn="l">
              <a:lnSpc>
                <a:spcPct val="100000"/>
              </a:lnSpc>
              <a:spcBef>
                <a:spcPts val="12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2pPr>
            <a:lvl3pPr indent="-330200" lvl="2" marL="1371600" marR="0" rtl="0" algn="l">
              <a:lnSpc>
                <a:spcPct val="100000"/>
              </a:lnSpc>
              <a:spcBef>
                <a:spcPts val="6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3pPr>
            <a:lvl4pPr indent="-330200" lvl="3" marL="1828800" marR="0" rtl="0" algn="l">
              <a:lnSpc>
                <a:spcPct val="100000"/>
              </a:lnSpc>
              <a:spcBef>
                <a:spcPts val="6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4pPr>
            <a:lvl5pPr indent="-330200" lvl="4" marL="2286000" marR="0" rtl="0" algn="l">
              <a:lnSpc>
                <a:spcPct val="100000"/>
              </a:lnSpc>
              <a:spcBef>
                <a:spcPts val="6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5pPr>
            <a:lvl6pPr indent="-330200" lvl="5" marL="2743200" marR="0" rtl="0" algn="l">
              <a:lnSpc>
                <a:spcPct val="100000"/>
              </a:lnSpc>
              <a:spcBef>
                <a:spcPts val="6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6pPr>
            <a:lvl7pPr indent="-330200" lvl="6" marL="3200400" marR="0" rtl="0" algn="l">
              <a:lnSpc>
                <a:spcPct val="100000"/>
              </a:lnSpc>
              <a:spcBef>
                <a:spcPts val="6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7pPr>
            <a:lvl8pPr indent="-330200" lvl="7" marL="3657600" marR="0" rtl="0" algn="l">
              <a:lnSpc>
                <a:spcPct val="100000"/>
              </a:lnSpc>
              <a:spcBef>
                <a:spcPts val="6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lnSpc>
                <a:spcPct val="100000"/>
              </a:lnSpc>
              <a:spcBef>
                <a:spcPts val="600"/>
              </a:spcBef>
              <a:spcAft>
                <a:spcPts val="600"/>
              </a:spcAft>
              <a:buClr>
                <a:schemeClr val="lt1"/>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12" name="Google Shape;12;p24"/>
          <p:cNvSpPr txBox="1"/>
          <p:nvPr>
            <p:ph idx="12" type="sldNum"/>
          </p:nvPr>
        </p:nvSpPr>
        <p:spPr>
          <a:xfrm>
            <a:off x="9984296" y="6492240"/>
            <a:ext cx="1764792" cy="13716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51"/>
              <a:buFont typeface="Arial"/>
              <a:buNone/>
              <a:defRPr b="0" i="0" sz="751"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
        <p:nvSpPr>
          <p:cNvPr id="13" name="Google Shape;13;p24"/>
          <p:cNvSpPr txBox="1"/>
          <p:nvPr>
            <p:ph idx="10" type="dt"/>
          </p:nvPr>
        </p:nvSpPr>
        <p:spPr>
          <a:xfrm>
            <a:off x="9984296" y="6355080"/>
            <a:ext cx="1764792" cy="137160"/>
          </a:xfrm>
          <a:prstGeom prst="rect">
            <a:avLst/>
          </a:prstGeom>
          <a:noFill/>
          <a:ln>
            <a:noFill/>
          </a:ln>
        </p:spPr>
        <p:txBody>
          <a:bodyPr anchorCtr="0" anchor="b" bIns="0" lIns="0" spcFirstLastPara="1" rIns="0" wrap="square" tIns="0">
            <a:noAutofit/>
          </a:bodyPr>
          <a:lstStyle>
            <a:lvl1pPr lvl="0" marR="0" rtl="0" algn="r">
              <a:lnSpc>
                <a:spcPct val="100000"/>
              </a:lnSpc>
              <a:spcBef>
                <a:spcPts val="0"/>
              </a:spcBef>
              <a:spcAft>
                <a:spcPts val="0"/>
              </a:spcAft>
              <a:buClr>
                <a:srgbClr val="000000"/>
              </a:buClr>
              <a:buSzPts val="1400"/>
              <a:buFont typeface="Arial"/>
              <a:buNone/>
              <a:defRPr b="0" i="0" sz="751"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14" name="Google Shape;14;p24"/>
          <p:cNvSpPr txBox="1"/>
          <p:nvPr>
            <p:ph idx="11" type="ftr"/>
          </p:nvPr>
        </p:nvSpPr>
        <p:spPr>
          <a:xfrm>
            <a:off x="442912" y="6355080"/>
            <a:ext cx="5473701" cy="137160"/>
          </a:xfrm>
          <a:prstGeom prst="rect">
            <a:avLst/>
          </a:prstGeom>
          <a:noFill/>
          <a:ln>
            <a:noFill/>
          </a:ln>
        </p:spPr>
        <p:txBody>
          <a:bodyPr anchorCtr="0" anchor="b"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751"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pos="279">
          <p15:clr>
            <a:srgbClr val="F26B43"/>
          </p15:clr>
        </p15:guide>
        <p15:guide id="3" pos="7401">
          <p15:clr>
            <a:srgbClr val="F26B43"/>
          </p15:clr>
        </p15:guide>
        <p15:guide id="4" pos="3953">
          <p15:clr>
            <a:srgbClr val="F26B43"/>
          </p15:clr>
        </p15:guide>
        <p15:guide id="5" pos="3727">
          <p15:clr>
            <a:srgbClr val="F26B43"/>
          </p15:clr>
        </p15:guide>
        <p15:guide id="6" orient="horz" pos="3888">
          <p15:clr>
            <a:srgbClr val="F26B43"/>
          </p15:clr>
        </p15:guide>
        <p15:guide id="7" pos="2726">
          <p15:clr>
            <a:srgbClr val="F26B43"/>
          </p15:clr>
        </p15:guide>
        <p15:guide id="8" pos="2502">
          <p15:clr>
            <a:srgbClr val="F26B43"/>
          </p15:clr>
        </p15:guide>
        <p15:guide id="9" pos="4952">
          <p15:clr>
            <a:srgbClr val="F26B43"/>
          </p15:clr>
        </p15:guide>
        <p15:guide id="10" pos="5177">
          <p15:clr>
            <a:srgbClr val="F26B43"/>
          </p15:clr>
        </p15:guide>
        <p15:guide id="11" orient="horz" pos="816">
          <p15:clr>
            <a:srgbClr val="F26B43"/>
          </p15:clr>
        </p15:guide>
        <p15:guide id="12" orient="horz" pos="27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 name="Shape 2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16.jpg"/><Relationship Id="rId5"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61565325e1_0_1"/>
          <p:cNvSpPr/>
          <p:nvPr>
            <p:ph idx="2" type="pic"/>
          </p:nvPr>
        </p:nvSpPr>
        <p:spPr>
          <a:xfrm>
            <a:off x="0" y="0"/>
            <a:ext cx="12192000" cy="6858000"/>
          </a:xfrm>
          <a:prstGeom prst="rect">
            <a:avLst/>
          </a:prstGeom>
          <a:solidFill>
            <a:schemeClr val="lt2"/>
          </a:solidFill>
          <a:ln>
            <a:noFill/>
          </a:ln>
        </p:spPr>
      </p:sp>
      <p:sp>
        <p:nvSpPr>
          <p:cNvPr id="129" name="Google Shape;129;g261565325e1_0_1"/>
          <p:cNvSpPr txBox="1"/>
          <p:nvPr>
            <p:ph idx="1" type="body"/>
          </p:nvPr>
        </p:nvSpPr>
        <p:spPr>
          <a:xfrm>
            <a:off x="0" y="1143000"/>
            <a:ext cx="4572000" cy="4572000"/>
          </a:xfrm>
          <a:prstGeom prst="rect">
            <a:avLst/>
          </a:prstGeom>
          <a:solidFill>
            <a:srgbClr val="E0301E"/>
          </a:solidFill>
          <a:ln>
            <a:noFill/>
          </a:ln>
        </p:spPr>
        <p:txBody>
          <a:bodyPr anchorCtr="0" anchor="t" bIns="180000" lIns="438900" spcFirstLastPara="1" rIns="252000" wrap="square" tIns="1440000">
            <a:noAutofit/>
          </a:bodyPr>
          <a:lstStyle/>
          <a:p>
            <a:pPr indent="0" lvl="0" marL="0" rtl="0" algn="l">
              <a:lnSpc>
                <a:spcPct val="90000"/>
              </a:lnSpc>
              <a:spcBef>
                <a:spcPts val="0"/>
              </a:spcBef>
              <a:spcAft>
                <a:spcPts val="0"/>
              </a:spcAft>
              <a:buSzPts val="2600"/>
              <a:buNone/>
            </a:pPr>
            <a:r>
              <a:t/>
            </a:r>
            <a:endParaRPr/>
          </a:p>
        </p:txBody>
      </p:sp>
      <p:sp>
        <p:nvSpPr>
          <p:cNvPr id="130" name="Google Shape;130;g261565325e1_0_1"/>
          <p:cNvSpPr txBox="1"/>
          <p:nvPr>
            <p:ph idx="12" type="sldNum"/>
          </p:nvPr>
        </p:nvSpPr>
        <p:spPr>
          <a:xfrm>
            <a:off x="9984296" y="6492240"/>
            <a:ext cx="1764900" cy="1371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751"/>
              <a:buFont typeface="Arial"/>
              <a:buNone/>
            </a:pPr>
            <a:fld id="{00000000-1234-1234-1234-123412341234}" type="slidenum">
              <a:rPr lang="en-IN"/>
              <a:t>‹#›</a:t>
            </a:fld>
            <a:endParaRPr/>
          </a:p>
        </p:txBody>
      </p:sp>
      <p:pic>
        <p:nvPicPr>
          <p:cNvPr id="131" name="Google Shape;131;g261565325e1_0_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p:nvPr>
            <p:ph idx="2" type="pic"/>
          </p:nvPr>
        </p:nvSpPr>
        <p:spPr>
          <a:xfrm>
            <a:off x="0" y="76200"/>
            <a:ext cx="12192000" cy="6858000"/>
          </a:xfrm>
          <a:prstGeom prst="rect">
            <a:avLst/>
          </a:prstGeom>
          <a:solidFill>
            <a:schemeClr val="lt2"/>
          </a:solidFill>
          <a:ln>
            <a:noFill/>
          </a:ln>
        </p:spPr>
      </p:sp>
      <p:sp>
        <p:nvSpPr>
          <p:cNvPr id="137" name="Google Shape;137;p10"/>
          <p:cNvSpPr txBox="1"/>
          <p:nvPr>
            <p:ph idx="1" type="body"/>
          </p:nvPr>
        </p:nvSpPr>
        <p:spPr>
          <a:xfrm>
            <a:off x="51115" y="1143000"/>
            <a:ext cx="4572000" cy="4572000"/>
          </a:xfrm>
          <a:prstGeom prst="rect">
            <a:avLst/>
          </a:prstGeom>
          <a:solidFill>
            <a:srgbClr val="38B6A1"/>
          </a:solidFill>
          <a:ln>
            <a:noFill/>
          </a:ln>
        </p:spPr>
        <p:txBody>
          <a:bodyPr anchorCtr="0" anchor="t" bIns="180000" lIns="438900" spcFirstLastPara="1" rIns="252000" wrap="square" tIns="1440000">
            <a:noAutofit/>
          </a:bodyPr>
          <a:lstStyle/>
          <a:p>
            <a:pPr indent="-228600" lvl="0" marL="457200" rtl="0" algn="l">
              <a:lnSpc>
                <a:spcPct val="90000"/>
              </a:lnSpc>
              <a:spcBef>
                <a:spcPts val="0"/>
              </a:spcBef>
              <a:spcAft>
                <a:spcPts val="0"/>
              </a:spcAft>
              <a:buClr>
                <a:schemeClr val="lt1"/>
              </a:buClr>
              <a:buSzPts val="2600"/>
              <a:buFont typeface="Arial"/>
              <a:buNone/>
            </a:pPr>
            <a:r>
              <a:rPr b="1" lang="en-IN" sz="5400"/>
              <a:t>Overview of this Session</a:t>
            </a:r>
            <a:endParaRPr/>
          </a:p>
        </p:txBody>
      </p:sp>
      <p:sp>
        <p:nvSpPr>
          <p:cNvPr id="138" name="Google Shape;138;p10"/>
          <p:cNvSpPr txBox="1"/>
          <p:nvPr>
            <p:ph idx="12" type="sldNum"/>
          </p:nvPr>
        </p:nvSpPr>
        <p:spPr>
          <a:xfrm>
            <a:off x="9984296" y="6492240"/>
            <a:ext cx="1764792" cy="13716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51"/>
              <a:buNone/>
            </a:pPr>
            <a:fld id="{00000000-1234-1234-1234-123412341234}" type="slidenum">
              <a:rPr lang="en-IN"/>
              <a:t>‹#›</a:t>
            </a:fld>
            <a:endParaRPr/>
          </a:p>
        </p:txBody>
      </p:sp>
      <p:sp>
        <p:nvSpPr>
          <p:cNvPr id="139" name="Google Shape;139;p10"/>
          <p:cNvSpPr txBox="1"/>
          <p:nvPr/>
        </p:nvSpPr>
        <p:spPr>
          <a:xfrm>
            <a:off x="4674230" y="1059609"/>
            <a:ext cx="7380921" cy="46647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Arial"/>
                <a:ea typeface="Arial"/>
                <a:cs typeface="Arial"/>
                <a:sym typeface="Arial"/>
              </a:rPr>
              <a:t>This Session will cover the Components of Lakhpati planning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nvSpPr>
        <p:spPr>
          <a:xfrm>
            <a:off x="2543605" y="403093"/>
            <a:ext cx="8064896" cy="10771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Arial"/>
                <a:ea typeface="Arial"/>
                <a:cs typeface="Arial"/>
                <a:sym typeface="Arial"/>
              </a:rPr>
              <a:t>Questions to consider during </a:t>
            </a:r>
            <a:r>
              <a:rPr b="1" i="0" lang="en-IN" sz="3200" u="none" cap="none" strike="noStrike">
                <a:solidFill>
                  <a:srgbClr val="000000"/>
                </a:solidFill>
                <a:latin typeface="Arial"/>
                <a:ea typeface="Arial"/>
                <a:cs typeface="Arial"/>
                <a:sym typeface="Arial"/>
                <a:extLst>
                  <a:ext uri="http://customooxmlschemas.google.com/">
                    <go:slidesCustomData xmlns:go="http://customooxmlschemas.google.com/" textRoundtripDataId="0"/>
                  </a:ext>
                </a:extLst>
              </a:rPr>
              <a:t>lakhpati </a:t>
            </a:r>
            <a:r>
              <a:rPr b="1" i="0" lang="en-IN" sz="3200" u="none" cap="none" strike="noStrike">
                <a:solidFill>
                  <a:srgbClr val="000000"/>
                </a:solidFill>
                <a:latin typeface="Arial"/>
                <a:ea typeface="Arial"/>
                <a:cs typeface="Arial"/>
                <a:sym typeface="Arial"/>
              </a:rPr>
              <a:t>planning of SHG HHs</a:t>
            </a:r>
            <a:endParaRPr b="0" i="0" sz="1400" u="none" cap="none" strike="noStrike">
              <a:solidFill>
                <a:srgbClr val="000000"/>
              </a:solidFill>
              <a:latin typeface="Arial"/>
              <a:ea typeface="Arial"/>
              <a:cs typeface="Arial"/>
              <a:sym typeface="Arial"/>
            </a:endParaRPr>
          </a:p>
        </p:txBody>
      </p:sp>
      <p:sp>
        <p:nvSpPr>
          <p:cNvPr id="145" name="Google Shape;145;p23"/>
          <p:cNvSpPr/>
          <p:nvPr/>
        </p:nvSpPr>
        <p:spPr>
          <a:xfrm>
            <a:off x="2687217" y="2062064"/>
            <a:ext cx="2500604" cy="2547257"/>
          </a:xfrm>
          <a:prstGeom prst="rect">
            <a:avLst/>
          </a:prstGeom>
          <a:solidFill>
            <a:schemeClr val="accent3"/>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0" i="0" lang="en-IN" sz="4000" u="none" cap="none" strike="noStrike">
                <a:solidFill>
                  <a:schemeClr val="lt1"/>
                </a:solidFill>
                <a:latin typeface="Arial"/>
                <a:ea typeface="Arial"/>
                <a:cs typeface="Arial"/>
                <a:sym typeface="Arial"/>
              </a:rPr>
              <a:t>WHY?</a:t>
            </a:r>
            <a:endParaRPr b="0" i="0" sz="1400" u="none" cap="none" strike="noStrike">
              <a:solidFill>
                <a:srgbClr val="000000"/>
              </a:solidFill>
              <a:latin typeface="Arial"/>
              <a:ea typeface="Arial"/>
              <a:cs typeface="Arial"/>
              <a:sym typeface="Arial"/>
            </a:endParaRPr>
          </a:p>
        </p:txBody>
      </p:sp>
      <p:sp>
        <p:nvSpPr>
          <p:cNvPr id="146" name="Google Shape;146;p23"/>
          <p:cNvSpPr/>
          <p:nvPr/>
        </p:nvSpPr>
        <p:spPr>
          <a:xfrm>
            <a:off x="5620139" y="2062065"/>
            <a:ext cx="2500604" cy="2547256"/>
          </a:xfrm>
          <a:prstGeom prst="rect">
            <a:avLst/>
          </a:prstGeom>
          <a:solidFill>
            <a:schemeClr val="accent2"/>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0" i="0" lang="en-IN" sz="4000" u="none" cap="none" strike="noStrike">
                <a:solidFill>
                  <a:schemeClr val="lt1"/>
                </a:solidFill>
                <a:latin typeface="Arial"/>
                <a:ea typeface="Arial"/>
                <a:cs typeface="Arial"/>
                <a:sym typeface="Arial"/>
              </a:rPr>
              <a:t>WHAT?</a:t>
            </a:r>
            <a:endParaRPr b="0" i="0" sz="1400" u="none" cap="none" strike="noStrike">
              <a:solidFill>
                <a:srgbClr val="000000"/>
              </a:solidFill>
              <a:latin typeface="Arial"/>
              <a:ea typeface="Arial"/>
              <a:cs typeface="Arial"/>
              <a:sym typeface="Arial"/>
            </a:endParaRPr>
          </a:p>
        </p:txBody>
      </p:sp>
      <p:sp>
        <p:nvSpPr>
          <p:cNvPr id="147" name="Google Shape;147;p23"/>
          <p:cNvSpPr/>
          <p:nvPr/>
        </p:nvSpPr>
        <p:spPr>
          <a:xfrm>
            <a:off x="8553061" y="2062065"/>
            <a:ext cx="2500604" cy="2547256"/>
          </a:xfrm>
          <a:prstGeom prst="rect">
            <a:avLst/>
          </a:prstGeom>
          <a:solidFill>
            <a:schemeClr val="accent3"/>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0" i="0" lang="en-IN" sz="4000" u="none" cap="none" strike="noStrike">
                <a:solidFill>
                  <a:schemeClr val="lt1"/>
                </a:solidFill>
                <a:latin typeface="Arial"/>
                <a:ea typeface="Arial"/>
                <a:cs typeface="Arial"/>
                <a:sym typeface="Arial"/>
              </a:rPr>
              <a:t>HOW?</a:t>
            </a:r>
            <a:endParaRPr b="0" i="0" sz="1400" u="none" cap="none" strike="noStrike">
              <a:solidFill>
                <a:srgbClr val="000000"/>
              </a:solidFill>
              <a:latin typeface="Arial"/>
              <a:ea typeface="Arial"/>
              <a:cs typeface="Arial"/>
              <a:sym typeface="Arial"/>
            </a:endParaRPr>
          </a:p>
        </p:txBody>
      </p:sp>
      <p:sp>
        <p:nvSpPr>
          <p:cNvPr id="148" name="Google Shape;148;p23"/>
          <p:cNvSpPr/>
          <p:nvPr/>
        </p:nvSpPr>
        <p:spPr>
          <a:xfrm>
            <a:off x="3115800" y="6249575"/>
            <a:ext cx="21801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149" name="Google Shape;149;p23"/>
          <p:cNvSpPr/>
          <p:nvPr/>
        </p:nvSpPr>
        <p:spPr>
          <a:xfrm>
            <a:off x="52958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150" name="Google Shape;150;p23"/>
          <p:cNvSpPr/>
          <p:nvPr/>
        </p:nvSpPr>
        <p:spPr>
          <a:xfrm>
            <a:off x="7340642"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151" name="Google Shape;151;p23"/>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p:nvPr/>
        </p:nvSpPr>
        <p:spPr>
          <a:xfrm>
            <a:off x="2687217" y="2062064"/>
            <a:ext cx="8154954" cy="2547257"/>
          </a:xfrm>
          <a:prstGeom prst="rect">
            <a:avLst/>
          </a:prstGeom>
          <a:solidFill>
            <a:schemeClr val="accent3"/>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0"/>
              <a:buFont typeface="Arial"/>
              <a:buNone/>
            </a:pPr>
            <a:r>
              <a:rPr b="0" i="0" lang="en-IN" sz="8000" u="none" cap="none" strike="noStrike">
                <a:solidFill>
                  <a:schemeClr val="lt1"/>
                </a:solidFill>
                <a:latin typeface="Arial"/>
                <a:ea typeface="Arial"/>
                <a:cs typeface="Arial"/>
                <a:sym typeface="Arial"/>
              </a:rPr>
              <a:t>WHY?</a:t>
            </a:r>
            <a:endParaRPr b="0" i="0" sz="1400" u="none" cap="none" strike="noStrike">
              <a:solidFill>
                <a:srgbClr val="000000"/>
              </a:solidFill>
              <a:latin typeface="Arial"/>
              <a:ea typeface="Arial"/>
              <a:cs typeface="Arial"/>
              <a:sym typeface="Arial"/>
            </a:endParaRPr>
          </a:p>
        </p:txBody>
      </p:sp>
      <p:sp>
        <p:nvSpPr>
          <p:cNvPr id="157" name="Google Shape;157;p25"/>
          <p:cNvSpPr/>
          <p:nvPr/>
        </p:nvSpPr>
        <p:spPr>
          <a:xfrm>
            <a:off x="3115800" y="6249575"/>
            <a:ext cx="21801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158" name="Google Shape;158;p25"/>
          <p:cNvSpPr/>
          <p:nvPr/>
        </p:nvSpPr>
        <p:spPr>
          <a:xfrm>
            <a:off x="52958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159" name="Google Shape;159;p25"/>
          <p:cNvSpPr/>
          <p:nvPr/>
        </p:nvSpPr>
        <p:spPr>
          <a:xfrm>
            <a:off x="7340642"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160" name="Google Shape;160;p25"/>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26082a72ac3_0_24"/>
          <p:cNvSpPr txBox="1"/>
          <p:nvPr/>
        </p:nvSpPr>
        <p:spPr>
          <a:xfrm>
            <a:off x="2327325" y="76200"/>
            <a:ext cx="9353100" cy="12006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IN" sz="4000" u="none" cap="none" strike="noStrike">
                <a:solidFill>
                  <a:schemeClr val="lt1"/>
                </a:solidFill>
                <a:latin typeface="Arial"/>
                <a:ea typeface="Arial"/>
                <a:cs typeface="Arial"/>
                <a:sym typeface="Arial"/>
              </a:rPr>
              <a:t>Why</a:t>
            </a:r>
            <a:r>
              <a:rPr b="1" i="0" lang="en-IN" sz="3200" u="none" cap="none" strike="noStrike">
                <a:solidFill>
                  <a:schemeClr val="lt1"/>
                </a:solidFill>
                <a:latin typeface="Arial"/>
                <a:ea typeface="Arial"/>
                <a:cs typeface="Arial"/>
                <a:sym typeface="Arial"/>
              </a:rPr>
              <a:t> the HH should explore additional livelihood options?</a:t>
            </a:r>
            <a:endParaRPr b="0" i="0" sz="1400" u="none" cap="none" strike="noStrike">
              <a:solidFill>
                <a:schemeClr val="lt1"/>
              </a:solidFill>
              <a:latin typeface="Arial"/>
              <a:ea typeface="Arial"/>
              <a:cs typeface="Arial"/>
              <a:sym typeface="Arial"/>
            </a:endParaRPr>
          </a:p>
        </p:txBody>
      </p:sp>
      <p:sp>
        <p:nvSpPr>
          <p:cNvPr id="166" name="Google Shape;166;g26082a72ac3_0_24"/>
          <p:cNvSpPr/>
          <p:nvPr/>
        </p:nvSpPr>
        <p:spPr>
          <a:xfrm>
            <a:off x="2528383" y="1309639"/>
            <a:ext cx="1738200" cy="950400"/>
          </a:xfrm>
          <a:prstGeom prst="rect">
            <a:avLst/>
          </a:prstGeom>
          <a:solidFill>
            <a:srgbClr val="38761D"/>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lt1"/>
                </a:solidFill>
                <a:latin typeface="Arial"/>
                <a:ea typeface="Arial"/>
                <a:cs typeface="Arial"/>
                <a:sym typeface="Arial"/>
              </a:rPr>
              <a:t>Education for Children</a:t>
            </a:r>
            <a:endParaRPr b="1" i="0" sz="1400" u="none" cap="none" strike="noStrike">
              <a:solidFill>
                <a:schemeClr val="lt1"/>
              </a:solidFill>
              <a:latin typeface="Arial"/>
              <a:ea typeface="Arial"/>
              <a:cs typeface="Arial"/>
              <a:sym typeface="Arial"/>
            </a:endParaRPr>
          </a:p>
        </p:txBody>
      </p:sp>
      <p:sp>
        <p:nvSpPr>
          <p:cNvPr id="167" name="Google Shape;167;g26082a72ac3_0_24"/>
          <p:cNvSpPr/>
          <p:nvPr/>
        </p:nvSpPr>
        <p:spPr>
          <a:xfrm>
            <a:off x="4974807" y="1309654"/>
            <a:ext cx="1738200" cy="950400"/>
          </a:xfrm>
          <a:prstGeom prst="rect">
            <a:avLst/>
          </a:prstGeom>
          <a:solidFill>
            <a:srgbClr val="38761D"/>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lt1"/>
                </a:solidFill>
                <a:latin typeface="Arial"/>
                <a:ea typeface="Arial"/>
                <a:cs typeface="Arial"/>
                <a:sym typeface="Arial"/>
              </a:rPr>
              <a:t>Quality of Life</a:t>
            </a:r>
            <a:endParaRPr b="1" i="0" sz="1400" u="none" cap="none" strike="noStrike">
              <a:solidFill>
                <a:schemeClr val="lt1"/>
              </a:solidFill>
              <a:latin typeface="Arial"/>
              <a:ea typeface="Arial"/>
              <a:cs typeface="Arial"/>
              <a:sym typeface="Arial"/>
            </a:endParaRPr>
          </a:p>
        </p:txBody>
      </p:sp>
      <p:sp>
        <p:nvSpPr>
          <p:cNvPr id="168" name="Google Shape;168;g26082a72ac3_0_24"/>
          <p:cNvSpPr/>
          <p:nvPr/>
        </p:nvSpPr>
        <p:spPr>
          <a:xfrm>
            <a:off x="7421230" y="1309645"/>
            <a:ext cx="1738200" cy="950400"/>
          </a:xfrm>
          <a:prstGeom prst="rect">
            <a:avLst/>
          </a:prstGeom>
          <a:solidFill>
            <a:srgbClr val="38761D"/>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lt1"/>
                </a:solidFill>
                <a:latin typeface="Arial"/>
                <a:ea typeface="Arial"/>
                <a:cs typeface="Arial"/>
                <a:sym typeface="Arial"/>
              </a:rPr>
              <a:t>Financial Security</a:t>
            </a:r>
            <a:endParaRPr b="1" i="0" sz="1400" u="none" cap="none" strike="noStrike">
              <a:solidFill>
                <a:schemeClr val="lt1"/>
              </a:solidFill>
              <a:latin typeface="Arial"/>
              <a:ea typeface="Arial"/>
              <a:cs typeface="Arial"/>
              <a:sym typeface="Arial"/>
            </a:endParaRPr>
          </a:p>
        </p:txBody>
      </p:sp>
      <p:sp>
        <p:nvSpPr>
          <p:cNvPr id="169" name="Google Shape;169;g26082a72ac3_0_24"/>
          <p:cNvSpPr/>
          <p:nvPr/>
        </p:nvSpPr>
        <p:spPr>
          <a:xfrm>
            <a:off x="9867654" y="1309660"/>
            <a:ext cx="1738200" cy="950400"/>
          </a:xfrm>
          <a:prstGeom prst="rect">
            <a:avLst/>
          </a:prstGeom>
          <a:solidFill>
            <a:srgbClr val="38761D"/>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lt1"/>
                </a:solidFill>
                <a:latin typeface="Arial"/>
                <a:ea typeface="Arial"/>
                <a:cs typeface="Arial"/>
                <a:sym typeface="Arial"/>
              </a:rPr>
              <a:t>Health</a:t>
            </a:r>
            <a:endParaRPr b="1" i="0" sz="1400" u="none" cap="none" strike="noStrike">
              <a:solidFill>
                <a:schemeClr val="lt1"/>
              </a:solidFill>
              <a:latin typeface="Arial"/>
              <a:ea typeface="Arial"/>
              <a:cs typeface="Arial"/>
              <a:sym typeface="Arial"/>
            </a:endParaRPr>
          </a:p>
        </p:txBody>
      </p:sp>
      <p:sp>
        <p:nvSpPr>
          <p:cNvPr id="170" name="Google Shape;170;g26082a72ac3_0_24"/>
          <p:cNvSpPr/>
          <p:nvPr/>
        </p:nvSpPr>
        <p:spPr>
          <a:xfrm>
            <a:off x="2528390" y="2407597"/>
            <a:ext cx="9077400" cy="421500"/>
          </a:xfrm>
          <a:prstGeom prst="rect">
            <a:avLst/>
          </a:prstGeom>
          <a:solidFill>
            <a:srgbClr val="E0301E"/>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IN" sz="2800" u="none" cap="none" strike="noStrike">
                <a:solidFill>
                  <a:schemeClr val="lt1"/>
                </a:solidFill>
                <a:latin typeface="Arial"/>
                <a:ea typeface="Arial"/>
                <a:cs typeface="Arial"/>
                <a:sym typeface="Arial"/>
              </a:rPr>
              <a:t>Enough Disposable Income </a:t>
            </a:r>
            <a:endParaRPr b="0" i="0" sz="2800" u="none" cap="none" strike="noStrike">
              <a:solidFill>
                <a:schemeClr val="lt1"/>
              </a:solidFill>
              <a:latin typeface="Arial"/>
              <a:ea typeface="Arial"/>
              <a:cs typeface="Arial"/>
              <a:sym typeface="Arial"/>
            </a:endParaRPr>
          </a:p>
        </p:txBody>
      </p:sp>
      <p:sp>
        <p:nvSpPr>
          <p:cNvPr id="171" name="Google Shape;171;g26082a72ac3_0_24"/>
          <p:cNvSpPr/>
          <p:nvPr/>
        </p:nvSpPr>
        <p:spPr>
          <a:xfrm>
            <a:off x="3676856" y="3576041"/>
            <a:ext cx="6328800" cy="421500"/>
          </a:xfrm>
          <a:prstGeom prst="rect">
            <a:avLst/>
          </a:prstGeom>
          <a:solidFill>
            <a:srgbClr val="E0301E"/>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IN" sz="2800" u="none" cap="none" strike="noStrike">
                <a:solidFill>
                  <a:schemeClr val="lt1"/>
                </a:solidFill>
                <a:latin typeface="Arial"/>
                <a:ea typeface="Arial"/>
                <a:cs typeface="Arial"/>
                <a:sym typeface="Arial"/>
              </a:rPr>
              <a:t>Lakhpati Didi (Rs. 1 Lakh+)</a:t>
            </a:r>
            <a:endParaRPr b="1" i="0" sz="2800" u="none" cap="none" strike="noStrike">
              <a:solidFill>
                <a:schemeClr val="lt1"/>
              </a:solidFill>
              <a:latin typeface="Arial"/>
              <a:ea typeface="Arial"/>
              <a:cs typeface="Arial"/>
              <a:sym typeface="Arial"/>
            </a:endParaRPr>
          </a:p>
        </p:txBody>
      </p:sp>
      <p:sp>
        <p:nvSpPr>
          <p:cNvPr id="172" name="Google Shape;172;g26082a72ac3_0_24"/>
          <p:cNvSpPr/>
          <p:nvPr/>
        </p:nvSpPr>
        <p:spPr>
          <a:xfrm>
            <a:off x="6696857" y="2822157"/>
            <a:ext cx="268500" cy="747000"/>
          </a:xfrm>
          <a:prstGeom prst="upArrow">
            <a:avLst>
              <a:gd fmla="val 50000" name="adj1"/>
              <a:gd fmla="val 50000" name="adj2"/>
            </a:avLst>
          </a:prstGeom>
          <a:solidFill>
            <a:schemeClr val="accent1"/>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3" name="Google Shape;173;g26082a72ac3_0_24"/>
          <p:cNvSpPr/>
          <p:nvPr/>
        </p:nvSpPr>
        <p:spPr>
          <a:xfrm>
            <a:off x="3771540" y="4745757"/>
            <a:ext cx="6328800" cy="421500"/>
          </a:xfrm>
          <a:prstGeom prst="rect">
            <a:avLst/>
          </a:prstGeom>
          <a:solidFill>
            <a:srgbClr val="E0301E"/>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IN" sz="2800" u="none" cap="none" strike="noStrike">
                <a:solidFill>
                  <a:schemeClr val="lt1"/>
                </a:solidFill>
                <a:latin typeface="Arial"/>
                <a:ea typeface="Arial"/>
                <a:cs typeface="Arial"/>
                <a:sym typeface="Arial"/>
              </a:rPr>
              <a:t>Potential Lakhpati Didi</a:t>
            </a:r>
            <a:endParaRPr b="1" i="0" sz="2800" u="none" cap="none" strike="noStrike">
              <a:solidFill>
                <a:schemeClr val="lt1"/>
              </a:solidFill>
              <a:latin typeface="Arial"/>
              <a:ea typeface="Arial"/>
              <a:cs typeface="Arial"/>
              <a:sym typeface="Arial"/>
            </a:endParaRPr>
          </a:p>
        </p:txBody>
      </p:sp>
      <p:sp>
        <p:nvSpPr>
          <p:cNvPr id="174" name="Google Shape;174;g26082a72ac3_0_24"/>
          <p:cNvSpPr/>
          <p:nvPr/>
        </p:nvSpPr>
        <p:spPr>
          <a:xfrm>
            <a:off x="6717064" y="3991873"/>
            <a:ext cx="268500" cy="747000"/>
          </a:xfrm>
          <a:prstGeom prst="upArrow">
            <a:avLst>
              <a:gd fmla="val 50000" name="adj1"/>
              <a:gd fmla="val 50000" name="adj2"/>
            </a:avLst>
          </a:prstGeom>
          <a:solidFill>
            <a:schemeClr val="accent1"/>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5" name="Google Shape;175;g26082a72ac3_0_24"/>
          <p:cNvSpPr/>
          <p:nvPr/>
        </p:nvSpPr>
        <p:spPr>
          <a:xfrm>
            <a:off x="3771550" y="5915475"/>
            <a:ext cx="6328800" cy="421500"/>
          </a:xfrm>
          <a:prstGeom prst="rect">
            <a:avLst/>
          </a:prstGeom>
          <a:solidFill>
            <a:srgbClr val="E0301E"/>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IN" sz="2800" u="none" cap="none" strike="noStrike">
                <a:solidFill>
                  <a:schemeClr val="lt1"/>
                </a:solidFill>
                <a:latin typeface="Arial"/>
                <a:ea typeface="Arial"/>
                <a:cs typeface="Arial"/>
                <a:sym typeface="Arial"/>
              </a:rPr>
              <a:t>Have Potential and Interested </a:t>
            </a:r>
            <a:endParaRPr b="1" i="0" sz="2800" u="none" cap="none" strike="noStrike">
              <a:solidFill>
                <a:schemeClr val="lt1"/>
              </a:solidFill>
              <a:latin typeface="Arial"/>
              <a:ea typeface="Arial"/>
              <a:cs typeface="Arial"/>
              <a:sym typeface="Arial"/>
            </a:endParaRPr>
          </a:p>
        </p:txBody>
      </p:sp>
      <p:sp>
        <p:nvSpPr>
          <p:cNvPr id="176" name="Google Shape;176;g26082a72ac3_0_24"/>
          <p:cNvSpPr/>
          <p:nvPr/>
        </p:nvSpPr>
        <p:spPr>
          <a:xfrm>
            <a:off x="6717064" y="5161589"/>
            <a:ext cx="268500" cy="747000"/>
          </a:xfrm>
          <a:prstGeom prst="upArrow">
            <a:avLst>
              <a:gd fmla="val 50000" name="adj1"/>
              <a:gd fmla="val 50000" name="adj2"/>
            </a:avLst>
          </a:prstGeom>
          <a:solidFill>
            <a:schemeClr val="accent1"/>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7" name="Google Shape;177;g26082a72ac3_0_24"/>
          <p:cNvSpPr txBox="1"/>
          <p:nvPr/>
        </p:nvSpPr>
        <p:spPr>
          <a:xfrm>
            <a:off x="7106541" y="5349061"/>
            <a:ext cx="4408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Arial"/>
                <a:ea typeface="Arial"/>
                <a:cs typeface="Arial"/>
                <a:sym typeface="Arial"/>
              </a:rPr>
              <a:t>Linked with CRPs</a:t>
            </a:r>
            <a:endParaRPr b="1" i="0" sz="1800" u="none" cap="none" strike="noStrike">
              <a:solidFill>
                <a:srgbClr val="000000"/>
              </a:solidFill>
              <a:latin typeface="Arial"/>
              <a:ea typeface="Arial"/>
              <a:cs typeface="Arial"/>
              <a:sym typeface="Arial"/>
            </a:endParaRPr>
          </a:p>
        </p:txBody>
      </p:sp>
      <p:sp>
        <p:nvSpPr>
          <p:cNvPr id="178" name="Google Shape;178;g26082a72ac3_0_24"/>
          <p:cNvSpPr txBox="1"/>
          <p:nvPr/>
        </p:nvSpPr>
        <p:spPr>
          <a:xfrm>
            <a:off x="6985662" y="4149790"/>
            <a:ext cx="4408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Arial"/>
                <a:ea typeface="Arial"/>
                <a:cs typeface="Arial"/>
                <a:sym typeface="Arial"/>
              </a:rPr>
              <a:t>Strengthening Livelihoods</a:t>
            </a:r>
            <a:endParaRPr b="1" i="0" sz="1800" u="none" cap="none" strike="noStrike">
              <a:solidFill>
                <a:srgbClr val="000000"/>
              </a:solidFill>
              <a:latin typeface="Arial"/>
              <a:ea typeface="Arial"/>
              <a:cs typeface="Arial"/>
              <a:sym typeface="Arial"/>
            </a:endParaRPr>
          </a:p>
        </p:txBody>
      </p:sp>
      <p:sp>
        <p:nvSpPr>
          <p:cNvPr id="179" name="Google Shape;179;g26082a72ac3_0_24"/>
          <p:cNvSpPr txBox="1"/>
          <p:nvPr/>
        </p:nvSpPr>
        <p:spPr>
          <a:xfrm>
            <a:off x="6985662" y="2980723"/>
            <a:ext cx="4408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Arial"/>
                <a:ea typeface="Arial"/>
                <a:cs typeface="Arial"/>
                <a:sym typeface="Arial"/>
              </a:rPr>
              <a:t>Enhanced returns and savings</a:t>
            </a:r>
            <a:endParaRPr b="1" i="0" sz="1800" u="none" cap="none" strike="noStrike">
              <a:solidFill>
                <a:srgbClr val="000000"/>
              </a:solidFill>
              <a:latin typeface="Arial"/>
              <a:ea typeface="Arial"/>
              <a:cs typeface="Arial"/>
              <a:sym typeface="Arial"/>
            </a:endParaRPr>
          </a:p>
        </p:txBody>
      </p:sp>
      <p:sp>
        <p:nvSpPr>
          <p:cNvPr id="180" name="Google Shape;180;g26082a72ac3_0_24"/>
          <p:cNvSpPr/>
          <p:nvPr/>
        </p:nvSpPr>
        <p:spPr>
          <a:xfrm>
            <a:off x="3115800" y="6401975"/>
            <a:ext cx="21801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181" name="Google Shape;181;g26082a72ac3_0_24"/>
          <p:cNvSpPr/>
          <p:nvPr/>
        </p:nvSpPr>
        <p:spPr>
          <a:xfrm>
            <a:off x="5295816" y="64019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182" name="Google Shape;182;g26082a72ac3_0_24"/>
          <p:cNvSpPr/>
          <p:nvPr/>
        </p:nvSpPr>
        <p:spPr>
          <a:xfrm>
            <a:off x="7340642" y="64019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183" name="Google Shape;183;g26082a72ac3_0_24"/>
          <p:cNvSpPr/>
          <p:nvPr/>
        </p:nvSpPr>
        <p:spPr>
          <a:xfrm>
            <a:off x="9240034" y="64019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6"/>
          <p:cNvSpPr/>
          <p:nvPr/>
        </p:nvSpPr>
        <p:spPr>
          <a:xfrm>
            <a:off x="2687217" y="2062064"/>
            <a:ext cx="8154954" cy="2547257"/>
          </a:xfrm>
          <a:prstGeom prst="rect">
            <a:avLst/>
          </a:prstGeom>
          <a:solidFill>
            <a:schemeClr val="accent4"/>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0"/>
              <a:buFont typeface="Arial"/>
              <a:buNone/>
            </a:pPr>
            <a:r>
              <a:rPr b="0" i="0" lang="en-IN" sz="8000" u="none" cap="none" strike="noStrike">
                <a:solidFill>
                  <a:schemeClr val="lt1"/>
                </a:solidFill>
                <a:latin typeface="Arial"/>
                <a:ea typeface="Arial"/>
                <a:cs typeface="Arial"/>
                <a:sym typeface="Arial"/>
              </a:rPr>
              <a:t>WHAT?</a:t>
            </a:r>
            <a:endParaRPr b="0" i="0" sz="1400" u="none" cap="none" strike="noStrike">
              <a:solidFill>
                <a:srgbClr val="000000"/>
              </a:solidFill>
              <a:latin typeface="Arial"/>
              <a:ea typeface="Arial"/>
              <a:cs typeface="Arial"/>
              <a:sym typeface="Arial"/>
            </a:endParaRPr>
          </a:p>
        </p:txBody>
      </p:sp>
      <p:sp>
        <p:nvSpPr>
          <p:cNvPr id="189" name="Google Shape;189;p46"/>
          <p:cNvSpPr/>
          <p:nvPr/>
        </p:nvSpPr>
        <p:spPr>
          <a:xfrm>
            <a:off x="3115800" y="6249575"/>
            <a:ext cx="21801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190" name="Google Shape;190;p46"/>
          <p:cNvSpPr/>
          <p:nvPr/>
        </p:nvSpPr>
        <p:spPr>
          <a:xfrm>
            <a:off x="52958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191" name="Google Shape;191;p46"/>
          <p:cNvSpPr/>
          <p:nvPr/>
        </p:nvSpPr>
        <p:spPr>
          <a:xfrm>
            <a:off x="7340642"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192" name="Google Shape;192;p46"/>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
          <p:cNvSpPr txBox="1"/>
          <p:nvPr>
            <p:ph idx="2" type="body"/>
          </p:nvPr>
        </p:nvSpPr>
        <p:spPr>
          <a:xfrm>
            <a:off x="3983765" y="1050279"/>
            <a:ext cx="7776000" cy="2891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800"/>
              <a:buNone/>
            </a:pPr>
            <a:r>
              <a:rPr b="1" lang="en-IN" sz="4800">
                <a:solidFill>
                  <a:srgbClr val="C00000"/>
                </a:solidFill>
              </a:rPr>
              <a:t>What </a:t>
            </a:r>
            <a:r>
              <a:rPr b="1" lang="en-IN" sz="4800">
                <a:solidFill>
                  <a:srgbClr val="C00000"/>
                </a:solidFill>
              </a:rPr>
              <a:t>components </a:t>
            </a:r>
            <a:r>
              <a:rPr b="1" lang="en-IN" sz="4800">
                <a:solidFill>
                  <a:srgbClr val="C00000"/>
                </a:solidFill>
              </a:rPr>
              <a:t>a family must </a:t>
            </a:r>
            <a:r>
              <a:rPr b="1" lang="en-IN" sz="4800">
                <a:solidFill>
                  <a:srgbClr val="C00000"/>
                </a:solidFill>
              </a:rPr>
              <a:t>include</a:t>
            </a:r>
            <a:r>
              <a:rPr b="1" lang="en-IN" sz="4800">
                <a:solidFill>
                  <a:srgbClr val="C00000"/>
                </a:solidFill>
              </a:rPr>
              <a:t> </a:t>
            </a:r>
            <a:r>
              <a:rPr b="1" lang="en-IN" sz="4800">
                <a:solidFill>
                  <a:srgbClr val="C00000"/>
                </a:solidFill>
              </a:rPr>
              <a:t>in the Lakhpati Plan</a:t>
            </a:r>
            <a:r>
              <a:rPr b="1" lang="en-IN" sz="4800">
                <a:solidFill>
                  <a:srgbClr val="C00000"/>
                </a:solidFill>
              </a:rPr>
              <a:t>?</a:t>
            </a:r>
            <a:endParaRPr/>
          </a:p>
        </p:txBody>
      </p:sp>
      <p:pic>
        <p:nvPicPr>
          <p:cNvPr descr="Hand drawn stickman confused with speech bubble question mark. Simple  outline curious doodle icon clipart. For question support clipart Stock  Vector Image &amp; Art - Alamy" id="199" name="Google Shape;199;p2"/>
          <p:cNvPicPr preferRelativeResize="0"/>
          <p:nvPr/>
        </p:nvPicPr>
        <p:blipFill rotWithShape="1">
          <a:blip r:embed="rId3">
            <a:alphaModFix/>
          </a:blip>
          <a:srcRect b="0" l="0" r="0" t="0"/>
          <a:stretch/>
        </p:blipFill>
        <p:spPr>
          <a:xfrm>
            <a:off x="239349" y="1892829"/>
            <a:ext cx="3744416" cy="3683592"/>
          </a:xfrm>
          <a:prstGeom prst="rect">
            <a:avLst/>
          </a:prstGeom>
          <a:noFill/>
          <a:ln>
            <a:noFill/>
          </a:ln>
        </p:spPr>
      </p:pic>
      <p:sp>
        <p:nvSpPr>
          <p:cNvPr id="200" name="Google Shape;200;p2"/>
          <p:cNvSpPr/>
          <p:nvPr/>
        </p:nvSpPr>
        <p:spPr>
          <a:xfrm>
            <a:off x="2306001" y="3941367"/>
            <a:ext cx="9453900" cy="1569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IN" sz="4800" u="none" cap="none" strike="noStrike">
                <a:solidFill>
                  <a:schemeClr val="accent3"/>
                </a:solidFill>
                <a:latin typeface="Arial"/>
                <a:ea typeface="Arial"/>
                <a:cs typeface="Arial"/>
                <a:sym typeface="Arial"/>
              </a:rPr>
              <a:t>Group Discussion -3 Groups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IN" sz="4800" u="none" cap="none" strike="noStrike">
                <a:solidFill>
                  <a:schemeClr val="accent3"/>
                </a:solidFill>
                <a:latin typeface="Arial"/>
                <a:ea typeface="Arial"/>
                <a:cs typeface="Arial"/>
                <a:sym typeface="Arial"/>
              </a:rPr>
              <a:t>10 Mins</a:t>
            </a:r>
            <a:endParaRPr b="1" i="0" sz="4800" u="none" cap="none" strike="noStrike">
              <a:solidFill>
                <a:schemeClr val="accent3"/>
              </a:solidFill>
              <a:latin typeface="Arial"/>
              <a:ea typeface="Arial"/>
              <a:cs typeface="Arial"/>
              <a:sym typeface="Arial"/>
            </a:endParaRPr>
          </a:p>
        </p:txBody>
      </p:sp>
      <p:sp>
        <p:nvSpPr>
          <p:cNvPr id="201" name="Google Shape;201;p2"/>
          <p:cNvSpPr/>
          <p:nvPr/>
        </p:nvSpPr>
        <p:spPr>
          <a:xfrm>
            <a:off x="2963400" y="6325775"/>
            <a:ext cx="21801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02" name="Google Shape;202;p2"/>
          <p:cNvSpPr/>
          <p:nvPr/>
        </p:nvSpPr>
        <p:spPr>
          <a:xfrm>
            <a:off x="5143416" y="63257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03" name="Google Shape;203;p2"/>
          <p:cNvSpPr/>
          <p:nvPr/>
        </p:nvSpPr>
        <p:spPr>
          <a:xfrm>
            <a:off x="7188242" y="63257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04" name="Google Shape;204;p2"/>
          <p:cNvSpPr/>
          <p:nvPr/>
        </p:nvSpPr>
        <p:spPr>
          <a:xfrm>
            <a:off x="9087634" y="63257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29edd0802fb_0_0"/>
          <p:cNvSpPr txBox="1"/>
          <p:nvPr>
            <p:ph idx="1" type="body"/>
          </p:nvPr>
        </p:nvSpPr>
        <p:spPr>
          <a:xfrm>
            <a:off x="0" y="164638"/>
            <a:ext cx="12192000" cy="76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960"/>
              </a:spcBef>
              <a:spcAft>
                <a:spcPts val="0"/>
              </a:spcAft>
              <a:buSzPts val="4800"/>
              <a:buNone/>
            </a:pPr>
            <a:r>
              <a:rPr lang="en-IN"/>
              <a:t>5 A Framework</a:t>
            </a:r>
            <a:endParaRPr/>
          </a:p>
        </p:txBody>
      </p:sp>
      <p:sp>
        <p:nvSpPr>
          <p:cNvPr id="211" name="Google Shape;211;g29edd0802fb_0_0"/>
          <p:cNvSpPr txBox="1"/>
          <p:nvPr>
            <p:ph idx="2" type="body"/>
          </p:nvPr>
        </p:nvSpPr>
        <p:spPr>
          <a:xfrm>
            <a:off x="0" y="932752"/>
            <a:ext cx="12192000" cy="5675700"/>
          </a:xfrm>
          <a:prstGeom prst="rect">
            <a:avLst/>
          </a:prstGeom>
          <a:noFill/>
          <a:ln>
            <a:noFill/>
          </a:ln>
        </p:spPr>
        <p:txBody>
          <a:bodyPr anchorCtr="0" anchor="ctr" bIns="45700" lIns="91425" spcFirstLastPara="1" rIns="91425" wrap="square" tIns="45700">
            <a:noAutofit/>
          </a:bodyPr>
          <a:lstStyle/>
          <a:p>
            <a:pPr indent="-374650" lvl="0" marL="457200" rtl="0" algn="l">
              <a:lnSpc>
                <a:spcPct val="115000"/>
              </a:lnSpc>
              <a:spcBef>
                <a:spcPts val="1500"/>
              </a:spcBef>
              <a:spcAft>
                <a:spcPts val="0"/>
              </a:spcAft>
              <a:buClr>
                <a:schemeClr val="dk1"/>
              </a:buClr>
              <a:buSzPts val="2300"/>
              <a:buFont typeface="Roboto"/>
              <a:buChar char="●"/>
            </a:pPr>
            <a:r>
              <a:rPr b="1" lang="en-IN" sz="2300">
                <a:solidFill>
                  <a:schemeClr val="dk1"/>
                </a:solidFill>
                <a:latin typeface="Roboto"/>
                <a:ea typeface="Roboto"/>
                <a:cs typeface="Roboto"/>
                <a:sym typeface="Roboto"/>
              </a:rPr>
              <a:t>Ability (or Skill): </a:t>
            </a:r>
            <a:r>
              <a:rPr lang="en-IN" sz="2300">
                <a:solidFill>
                  <a:schemeClr val="dk1"/>
                </a:solidFill>
                <a:latin typeface="Roboto"/>
                <a:ea typeface="Roboto"/>
                <a:cs typeface="Roboto"/>
                <a:sym typeface="Roboto"/>
              </a:rPr>
              <a:t>Refers to the skills, knowledge, and physical capability of individuals or communities</a:t>
            </a:r>
            <a:endParaRPr sz="2300">
              <a:solidFill>
                <a:schemeClr val="dk1"/>
              </a:solidFill>
              <a:latin typeface="Roboto"/>
              <a:ea typeface="Roboto"/>
              <a:cs typeface="Roboto"/>
              <a:sym typeface="Roboto"/>
            </a:endParaRPr>
          </a:p>
          <a:p>
            <a:pPr indent="-374650" lvl="0" marL="457200" rtl="0" algn="l">
              <a:lnSpc>
                <a:spcPct val="115000"/>
              </a:lnSpc>
              <a:spcBef>
                <a:spcPts val="0"/>
              </a:spcBef>
              <a:spcAft>
                <a:spcPts val="0"/>
              </a:spcAft>
              <a:buClr>
                <a:schemeClr val="dk1"/>
              </a:buClr>
              <a:buSzPts val="2300"/>
              <a:buFont typeface="Roboto"/>
              <a:buChar char="●"/>
            </a:pPr>
            <a:r>
              <a:rPr b="1" lang="en-IN" sz="2300">
                <a:solidFill>
                  <a:schemeClr val="dk1"/>
                </a:solidFill>
                <a:latin typeface="Roboto"/>
                <a:ea typeface="Roboto"/>
                <a:cs typeface="Roboto"/>
                <a:sym typeface="Roboto"/>
              </a:rPr>
              <a:t>Access: </a:t>
            </a:r>
            <a:r>
              <a:rPr lang="en-IN" sz="2300">
                <a:solidFill>
                  <a:schemeClr val="dk1"/>
                </a:solidFill>
                <a:latin typeface="Roboto"/>
                <a:ea typeface="Roboto"/>
                <a:cs typeface="Roboto"/>
                <a:sym typeface="Roboto"/>
              </a:rPr>
              <a:t>Involves the availability and reachability of resources, services, and opportunities. This includes access to markets, information, technology, infrastructure, and financial services.</a:t>
            </a:r>
            <a:endParaRPr sz="2300">
              <a:solidFill>
                <a:schemeClr val="dk1"/>
              </a:solidFill>
              <a:latin typeface="Roboto"/>
              <a:ea typeface="Roboto"/>
              <a:cs typeface="Roboto"/>
              <a:sym typeface="Roboto"/>
            </a:endParaRPr>
          </a:p>
          <a:p>
            <a:pPr indent="-374650" lvl="0" marL="457200" rtl="0" algn="l">
              <a:lnSpc>
                <a:spcPct val="115000"/>
              </a:lnSpc>
              <a:spcBef>
                <a:spcPts val="0"/>
              </a:spcBef>
              <a:spcAft>
                <a:spcPts val="0"/>
              </a:spcAft>
              <a:buClr>
                <a:schemeClr val="dk1"/>
              </a:buClr>
              <a:buSzPts val="2300"/>
              <a:buFont typeface="Roboto"/>
              <a:buChar char="●"/>
            </a:pPr>
            <a:r>
              <a:rPr b="1" lang="en-IN" sz="2300">
                <a:solidFill>
                  <a:schemeClr val="dk1"/>
                </a:solidFill>
                <a:latin typeface="Roboto"/>
                <a:ea typeface="Roboto"/>
                <a:cs typeface="Roboto"/>
                <a:sym typeface="Roboto"/>
              </a:rPr>
              <a:t>Assets:</a:t>
            </a:r>
            <a:r>
              <a:rPr lang="en-IN" sz="2300">
                <a:solidFill>
                  <a:schemeClr val="dk1"/>
                </a:solidFill>
                <a:latin typeface="Roboto"/>
                <a:ea typeface="Roboto"/>
                <a:cs typeface="Roboto"/>
                <a:sym typeface="Roboto"/>
              </a:rPr>
              <a:t> Assets can be tangible, like land, equipment, livestock, or money, and intangible, such as social networks, reputation, or skills. </a:t>
            </a:r>
            <a:endParaRPr sz="2300">
              <a:solidFill>
                <a:schemeClr val="dk1"/>
              </a:solidFill>
              <a:latin typeface="Roboto"/>
              <a:ea typeface="Roboto"/>
              <a:cs typeface="Roboto"/>
              <a:sym typeface="Roboto"/>
            </a:endParaRPr>
          </a:p>
          <a:p>
            <a:pPr indent="-374650" lvl="0" marL="457200" rtl="0" algn="l">
              <a:lnSpc>
                <a:spcPct val="115000"/>
              </a:lnSpc>
              <a:spcBef>
                <a:spcPts val="0"/>
              </a:spcBef>
              <a:spcAft>
                <a:spcPts val="0"/>
              </a:spcAft>
              <a:buClr>
                <a:schemeClr val="dk1"/>
              </a:buClr>
              <a:buSzPts val="2300"/>
              <a:buFont typeface="Roboto"/>
              <a:buChar char="●"/>
            </a:pPr>
            <a:r>
              <a:rPr b="1" lang="en-IN" sz="2300">
                <a:solidFill>
                  <a:schemeClr val="dk1"/>
                </a:solidFill>
                <a:latin typeface="Roboto"/>
                <a:ea typeface="Roboto"/>
                <a:cs typeface="Roboto"/>
                <a:sym typeface="Roboto"/>
              </a:rPr>
              <a:t>Attitude:</a:t>
            </a:r>
            <a:r>
              <a:rPr lang="en-IN" sz="2300">
                <a:solidFill>
                  <a:schemeClr val="dk1"/>
                </a:solidFill>
                <a:latin typeface="Roboto"/>
                <a:ea typeface="Roboto"/>
                <a:cs typeface="Roboto"/>
                <a:sym typeface="Roboto"/>
              </a:rPr>
              <a:t> It includes aspects like willingness to take risks, openness to change, resilience in the face of adversity, and the overall outlook towards life and work.</a:t>
            </a:r>
            <a:endParaRPr sz="2300">
              <a:solidFill>
                <a:schemeClr val="dk1"/>
              </a:solidFill>
              <a:latin typeface="Roboto"/>
              <a:ea typeface="Roboto"/>
              <a:cs typeface="Roboto"/>
              <a:sym typeface="Roboto"/>
            </a:endParaRPr>
          </a:p>
          <a:p>
            <a:pPr indent="-374650" lvl="0" marL="457200" rtl="0" algn="l">
              <a:lnSpc>
                <a:spcPct val="115000"/>
              </a:lnSpc>
              <a:spcBef>
                <a:spcPts val="0"/>
              </a:spcBef>
              <a:spcAft>
                <a:spcPts val="0"/>
              </a:spcAft>
              <a:buClr>
                <a:schemeClr val="dk1"/>
              </a:buClr>
              <a:buSzPts val="2300"/>
              <a:buFont typeface="Roboto"/>
              <a:buChar char="●"/>
            </a:pPr>
            <a:r>
              <a:rPr b="1" lang="en-IN" sz="2300">
                <a:solidFill>
                  <a:schemeClr val="dk1"/>
                </a:solidFill>
                <a:latin typeface="Roboto"/>
                <a:ea typeface="Roboto"/>
                <a:cs typeface="Roboto"/>
                <a:sym typeface="Roboto"/>
              </a:rPr>
              <a:t>Affiliation: </a:t>
            </a:r>
            <a:r>
              <a:rPr lang="en-IN" sz="2300">
                <a:solidFill>
                  <a:schemeClr val="dk1"/>
                </a:solidFill>
                <a:latin typeface="Roboto"/>
                <a:ea typeface="Roboto"/>
                <a:cs typeface="Roboto"/>
                <a:sym typeface="Roboto"/>
              </a:rPr>
              <a:t>it refers to the social and institutional relationships and networks that people are part of. Affiliations can influence decision-making and power dynamics within communities</a:t>
            </a:r>
            <a:endParaRPr sz="2300">
              <a:solidFill>
                <a:schemeClr val="dk1"/>
              </a:solidFill>
              <a:latin typeface="Roboto"/>
              <a:ea typeface="Roboto"/>
              <a:cs typeface="Roboto"/>
              <a:sym typeface="Roboto"/>
            </a:endParaRPr>
          </a:p>
          <a:p>
            <a:pPr indent="0" lvl="0" marL="0" rtl="0" algn="ctr">
              <a:lnSpc>
                <a:spcPct val="100000"/>
              </a:lnSpc>
              <a:spcBef>
                <a:spcPts val="1500"/>
              </a:spcBef>
              <a:spcAft>
                <a:spcPts val="0"/>
              </a:spcAft>
              <a:buSzPts val="1867"/>
              <a:buNone/>
            </a:pPr>
            <a:r>
              <a:t/>
            </a:r>
            <a:endParaRPr sz="2367"/>
          </a:p>
        </p:txBody>
      </p:sp>
      <p:sp>
        <p:nvSpPr>
          <p:cNvPr id="212" name="Google Shape;212;g29edd0802fb_0_0"/>
          <p:cNvSpPr/>
          <p:nvPr/>
        </p:nvSpPr>
        <p:spPr>
          <a:xfrm>
            <a:off x="3115800" y="6325775"/>
            <a:ext cx="21801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13" name="Google Shape;213;g29edd0802fb_0_0"/>
          <p:cNvSpPr/>
          <p:nvPr/>
        </p:nvSpPr>
        <p:spPr>
          <a:xfrm>
            <a:off x="5295816" y="63257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14" name="Google Shape;214;g29edd0802fb_0_0"/>
          <p:cNvSpPr/>
          <p:nvPr/>
        </p:nvSpPr>
        <p:spPr>
          <a:xfrm>
            <a:off x="7340642" y="63257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15" name="Google Shape;215;g29edd0802fb_0_0"/>
          <p:cNvSpPr/>
          <p:nvPr/>
        </p:nvSpPr>
        <p:spPr>
          <a:xfrm>
            <a:off x="9240034" y="63257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g1537e8911ba_0_0"/>
          <p:cNvPicPr preferRelativeResize="0"/>
          <p:nvPr/>
        </p:nvPicPr>
        <p:blipFill rotWithShape="1">
          <a:blip r:embed="rId3">
            <a:alphaModFix/>
          </a:blip>
          <a:srcRect b="0" l="0" r="0" t="0"/>
          <a:stretch/>
        </p:blipFill>
        <p:spPr>
          <a:xfrm flipH="1">
            <a:off x="11184564" y="1"/>
            <a:ext cx="1007435" cy="1042631"/>
          </a:xfrm>
          <a:prstGeom prst="rect">
            <a:avLst/>
          </a:prstGeom>
          <a:noFill/>
          <a:ln>
            <a:noFill/>
          </a:ln>
        </p:spPr>
      </p:pic>
      <p:sp>
        <p:nvSpPr>
          <p:cNvPr id="222" name="Google Shape;222;g1537e8911ba_0_0"/>
          <p:cNvSpPr txBox="1"/>
          <p:nvPr/>
        </p:nvSpPr>
        <p:spPr>
          <a:xfrm>
            <a:off x="2062575" y="0"/>
            <a:ext cx="9886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Arial"/>
                <a:ea typeface="Arial"/>
                <a:cs typeface="Arial"/>
                <a:sym typeface="Arial"/>
              </a:rPr>
              <a:t>Outside Support Possible out of 5‘A’s</a:t>
            </a:r>
            <a:endParaRPr b="0" i="0" sz="1400" u="none" cap="none" strike="noStrike">
              <a:solidFill>
                <a:srgbClr val="000000"/>
              </a:solidFill>
              <a:latin typeface="Arial"/>
              <a:ea typeface="Arial"/>
              <a:cs typeface="Arial"/>
              <a:sym typeface="Arial"/>
            </a:endParaRPr>
          </a:p>
        </p:txBody>
      </p:sp>
      <p:grpSp>
        <p:nvGrpSpPr>
          <p:cNvPr id="223" name="Google Shape;223;g1537e8911ba_0_0"/>
          <p:cNvGrpSpPr/>
          <p:nvPr/>
        </p:nvGrpSpPr>
        <p:grpSpPr>
          <a:xfrm>
            <a:off x="4137847" y="737889"/>
            <a:ext cx="6227799" cy="4911432"/>
            <a:chOff x="1014538" y="2335631"/>
            <a:chExt cx="4472708" cy="3849084"/>
          </a:xfrm>
        </p:grpSpPr>
        <p:sp>
          <p:nvSpPr>
            <p:cNvPr id="224" name="Google Shape;224;g1537e8911ba_0_0"/>
            <p:cNvSpPr/>
            <p:nvPr/>
          </p:nvSpPr>
          <p:spPr>
            <a:xfrm>
              <a:off x="1014538" y="2381253"/>
              <a:ext cx="2435100" cy="2292300"/>
            </a:xfrm>
            <a:prstGeom prst="ellipse">
              <a:avLst/>
            </a:prstGeom>
            <a:solidFill>
              <a:schemeClr val="accent1">
                <a:alpha val="32156"/>
              </a:schemeClr>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n-IN" sz="3600" u="none" cap="none" strike="noStrike">
                  <a:solidFill>
                    <a:schemeClr val="dk1"/>
                  </a:solidFill>
                  <a:latin typeface="Arial"/>
                  <a:ea typeface="Arial"/>
                  <a:cs typeface="Arial"/>
                  <a:sym typeface="Arial"/>
                </a:rPr>
                <a:t>Assets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0" i="0" lang="en-IN" sz="1800" u="none" cap="none" strike="noStrike">
                  <a:solidFill>
                    <a:schemeClr val="dk1"/>
                  </a:solidFill>
                  <a:latin typeface="Arial"/>
                  <a:ea typeface="Arial"/>
                  <a:cs typeface="Arial"/>
                  <a:sym typeface="Arial"/>
                </a:rPr>
                <a:t>(Equipment, Infrastructure)</a:t>
              </a:r>
              <a:endParaRPr b="0" i="0" sz="900" u="none" cap="none" strike="noStrike">
                <a:solidFill>
                  <a:srgbClr val="000000"/>
                </a:solidFill>
                <a:latin typeface="Arial"/>
                <a:ea typeface="Arial"/>
                <a:cs typeface="Arial"/>
                <a:sym typeface="Arial"/>
              </a:endParaRPr>
            </a:p>
          </p:txBody>
        </p:sp>
        <p:sp>
          <p:nvSpPr>
            <p:cNvPr id="225" name="Google Shape;225;g1537e8911ba_0_0"/>
            <p:cNvSpPr/>
            <p:nvPr/>
          </p:nvSpPr>
          <p:spPr>
            <a:xfrm>
              <a:off x="3052146" y="2335631"/>
              <a:ext cx="2435100" cy="2292300"/>
            </a:xfrm>
            <a:prstGeom prst="ellipse">
              <a:avLst/>
            </a:prstGeom>
            <a:solidFill>
              <a:schemeClr val="accent1">
                <a:alpha val="32156"/>
              </a:schemeClr>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n-IN" sz="3600" u="none" cap="none" strike="noStrike">
                  <a:solidFill>
                    <a:schemeClr val="dk1"/>
                  </a:solidFill>
                  <a:latin typeface="Arial"/>
                  <a:ea typeface="Arial"/>
                  <a:cs typeface="Arial"/>
                  <a:sym typeface="Arial"/>
                </a:rPr>
                <a:t>Skill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0" i="0" lang="en-IN" sz="1800" u="none" cap="none" strike="noStrike">
                  <a:solidFill>
                    <a:schemeClr val="dk1"/>
                  </a:solidFill>
                  <a:latin typeface="Arial"/>
                  <a:ea typeface="Arial"/>
                  <a:cs typeface="Arial"/>
                  <a:sym typeface="Arial"/>
                </a:rPr>
                <a:t>(Training, Capacity Building/ Exposure etc)</a:t>
              </a:r>
              <a:endParaRPr b="0" i="0" sz="900" u="none" cap="none" strike="noStrike">
                <a:solidFill>
                  <a:srgbClr val="000000"/>
                </a:solidFill>
                <a:latin typeface="Arial"/>
                <a:ea typeface="Arial"/>
                <a:cs typeface="Arial"/>
                <a:sym typeface="Arial"/>
              </a:endParaRPr>
            </a:p>
          </p:txBody>
        </p:sp>
        <p:sp>
          <p:nvSpPr>
            <p:cNvPr id="226" name="Google Shape;226;g1537e8911ba_0_0"/>
            <p:cNvSpPr/>
            <p:nvPr/>
          </p:nvSpPr>
          <p:spPr>
            <a:xfrm>
              <a:off x="1950956" y="3892415"/>
              <a:ext cx="2435100" cy="2292300"/>
            </a:xfrm>
            <a:prstGeom prst="ellipse">
              <a:avLst/>
            </a:prstGeom>
            <a:solidFill>
              <a:schemeClr val="accent1">
                <a:alpha val="32156"/>
              </a:schemeClr>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0" i="0" lang="en-IN" sz="3600" u="none" cap="none" strike="noStrike">
                  <a:solidFill>
                    <a:schemeClr val="dk1"/>
                  </a:solidFill>
                  <a:latin typeface="Arial"/>
                  <a:ea typeface="Arial"/>
                  <a:cs typeface="Arial"/>
                  <a:sym typeface="Arial"/>
                </a:rPr>
                <a:t>Access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0" i="0" lang="en-IN" sz="2000" u="none" cap="none" strike="noStrike">
                  <a:solidFill>
                    <a:schemeClr val="dk1"/>
                  </a:solidFill>
                  <a:latin typeface="Arial"/>
                  <a:ea typeface="Arial"/>
                  <a:cs typeface="Arial"/>
                  <a:sym typeface="Arial"/>
                </a:rPr>
                <a:t>(</a:t>
              </a:r>
              <a:r>
                <a:rPr b="1" i="0" lang="en-IN" sz="2000" u="none" cap="none" strike="noStrike">
                  <a:solidFill>
                    <a:schemeClr val="dk1"/>
                  </a:solidFill>
                  <a:latin typeface="Arial"/>
                  <a:ea typeface="Arial"/>
                  <a:cs typeface="Arial"/>
                  <a:sym typeface="Arial"/>
                </a:rPr>
                <a:t>Market and Finance</a:t>
              </a:r>
              <a:r>
                <a:rPr b="0" i="0" lang="en-IN" sz="2000" u="none" cap="none" strike="noStrike">
                  <a:solidFill>
                    <a:schemeClr val="dk1"/>
                  </a:solidFill>
                  <a:latin typeface="Arial"/>
                  <a:ea typeface="Arial"/>
                  <a:cs typeface="Arial"/>
                  <a:sym typeface="Arial"/>
                </a:rPr>
                <a:t> – Loan/ Subsidy etc))</a:t>
              </a:r>
              <a:endParaRPr b="0" i="0" sz="1000" u="none" cap="none" strike="noStrike">
                <a:solidFill>
                  <a:srgbClr val="000000"/>
                </a:solidFill>
                <a:latin typeface="Arial"/>
                <a:ea typeface="Arial"/>
                <a:cs typeface="Arial"/>
                <a:sym typeface="Arial"/>
              </a:endParaRPr>
            </a:p>
          </p:txBody>
        </p:sp>
      </p:grpSp>
      <p:sp>
        <p:nvSpPr>
          <p:cNvPr id="227" name="Google Shape;227;g1537e8911ba_0_0"/>
          <p:cNvSpPr/>
          <p:nvPr/>
        </p:nvSpPr>
        <p:spPr>
          <a:xfrm>
            <a:off x="2062575" y="1262025"/>
            <a:ext cx="2124300" cy="14772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n-IN" sz="1900" u="none" cap="none" strike="noStrike">
                <a:solidFill>
                  <a:schemeClr val="dk1"/>
                </a:solidFill>
                <a:latin typeface="Cambria"/>
                <a:ea typeface="Cambria"/>
                <a:cs typeface="Cambria"/>
                <a:sym typeface="Cambria"/>
              </a:rPr>
              <a:t>Assets:</a:t>
            </a:r>
            <a:endParaRPr b="0" i="0" sz="1900" u="none" cap="none" strike="noStrike">
              <a:solidFill>
                <a:schemeClr val="dk1"/>
              </a:solidFill>
              <a:latin typeface="Cambria"/>
              <a:ea typeface="Cambria"/>
              <a:cs typeface="Cambria"/>
              <a:sym typeface="Cambria"/>
            </a:endParaRPr>
          </a:p>
          <a:p>
            <a:pPr indent="-349250" lvl="0" marL="457200" marR="0" rtl="0" algn="just">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Physical Infra supporting livelihoods</a:t>
            </a:r>
            <a:endParaRPr b="0" i="0" sz="1900" u="none" cap="none" strike="noStrike">
              <a:solidFill>
                <a:schemeClr val="dk1"/>
              </a:solidFill>
              <a:latin typeface="Cambria"/>
              <a:ea typeface="Cambria"/>
              <a:cs typeface="Cambria"/>
              <a:sym typeface="Cambria"/>
            </a:endParaRPr>
          </a:p>
          <a:p>
            <a:pPr indent="-349250" lvl="0" marL="457200" marR="0" rtl="0" algn="just">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Natural and other Assets</a:t>
            </a:r>
            <a:endParaRPr b="0" i="0" sz="1900" u="none" cap="none" strike="noStrike">
              <a:solidFill>
                <a:schemeClr val="dk1"/>
              </a:solidFill>
              <a:latin typeface="Cambria"/>
              <a:ea typeface="Cambria"/>
              <a:cs typeface="Cambria"/>
              <a:sym typeface="Cambria"/>
            </a:endParaRPr>
          </a:p>
        </p:txBody>
      </p:sp>
      <p:sp>
        <p:nvSpPr>
          <p:cNvPr id="228" name="Google Shape;228;g1537e8911ba_0_0"/>
          <p:cNvSpPr/>
          <p:nvPr/>
        </p:nvSpPr>
        <p:spPr>
          <a:xfrm>
            <a:off x="9025523" y="3779572"/>
            <a:ext cx="3048000" cy="17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900" u="none" cap="none" strike="noStrike">
                <a:solidFill>
                  <a:schemeClr val="dk1"/>
                </a:solidFill>
                <a:latin typeface="Cambria"/>
                <a:ea typeface="Cambria"/>
                <a:cs typeface="Cambria"/>
                <a:sym typeface="Cambria"/>
              </a:rPr>
              <a:t>Skills: </a:t>
            </a:r>
            <a:endParaRPr b="1" i="0" sz="1900" u="none" cap="none" strike="noStrike">
              <a:solidFill>
                <a:schemeClr val="dk1"/>
              </a:solidFill>
              <a:latin typeface="Cambria"/>
              <a:ea typeface="Cambria"/>
              <a:cs typeface="Cambria"/>
              <a:sym typeface="Cambria"/>
            </a:endParaRPr>
          </a:p>
          <a:p>
            <a:pPr indent="-349250" lvl="0" marL="457200" marR="0" rtl="0" algn="l">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Ability to take the LH activity up</a:t>
            </a:r>
            <a:endParaRPr b="0" i="0" sz="1900" u="none" cap="none" strike="noStrike">
              <a:solidFill>
                <a:schemeClr val="dk1"/>
              </a:solidFill>
              <a:latin typeface="Cambria"/>
              <a:ea typeface="Cambria"/>
              <a:cs typeface="Cambria"/>
              <a:sym typeface="Cambria"/>
            </a:endParaRPr>
          </a:p>
          <a:p>
            <a:pPr indent="-349250" lvl="1" marL="914400" marR="0" rtl="0" algn="l">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Knowledge</a:t>
            </a:r>
            <a:endParaRPr b="0" i="0" sz="1900" u="none" cap="none" strike="noStrike">
              <a:solidFill>
                <a:schemeClr val="dk1"/>
              </a:solidFill>
              <a:latin typeface="Cambria"/>
              <a:ea typeface="Cambria"/>
              <a:cs typeface="Cambria"/>
              <a:sym typeface="Cambria"/>
            </a:endParaRPr>
          </a:p>
          <a:p>
            <a:pPr indent="-349250" lvl="1" marL="914400" marR="0" rtl="0" algn="l">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Skills</a:t>
            </a:r>
            <a:endParaRPr b="0" i="0" sz="1900" u="none" cap="none" strike="noStrike">
              <a:solidFill>
                <a:schemeClr val="dk1"/>
              </a:solidFill>
              <a:latin typeface="Cambria"/>
              <a:ea typeface="Cambria"/>
              <a:cs typeface="Cambria"/>
              <a:sym typeface="Cambria"/>
            </a:endParaRPr>
          </a:p>
          <a:p>
            <a:pPr indent="0" lvl="0" marL="91440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29" name="Google Shape;229;g1537e8911ba_0_0"/>
          <p:cNvSpPr/>
          <p:nvPr/>
        </p:nvSpPr>
        <p:spPr>
          <a:xfrm>
            <a:off x="2062575" y="3907850"/>
            <a:ext cx="3915300" cy="22377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n-IN" sz="1900" u="none" cap="none" strike="noStrike">
                <a:solidFill>
                  <a:schemeClr val="dk1"/>
                </a:solidFill>
                <a:latin typeface="Cambria"/>
                <a:ea typeface="Cambria"/>
                <a:cs typeface="Cambria"/>
                <a:sym typeface="Cambria"/>
              </a:rPr>
              <a:t>Access:</a:t>
            </a:r>
            <a:r>
              <a:rPr b="0" i="0" lang="en-IN" sz="1900" u="none" cap="none" strike="noStrike">
                <a:solidFill>
                  <a:schemeClr val="dk1"/>
                </a:solidFill>
                <a:latin typeface="Cambria"/>
                <a:ea typeface="Cambria"/>
                <a:cs typeface="Cambria"/>
                <a:sym typeface="Cambria"/>
              </a:rPr>
              <a:t> </a:t>
            </a:r>
            <a:endParaRPr b="0" i="0" sz="1900" u="none" cap="none" strike="noStrike">
              <a:solidFill>
                <a:schemeClr val="dk1"/>
              </a:solidFill>
              <a:latin typeface="Cambria"/>
              <a:ea typeface="Cambria"/>
              <a:cs typeface="Cambria"/>
              <a:sym typeface="Cambria"/>
            </a:endParaRPr>
          </a:p>
          <a:p>
            <a:pPr indent="-349250" lvl="0" marL="457200" marR="0" rtl="0" algn="just">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to Finance loan, schemes, </a:t>
            </a:r>
            <a:endParaRPr b="0" i="0" sz="1900" u="none" cap="none" strike="noStrike">
              <a:solidFill>
                <a:schemeClr val="dk1"/>
              </a:solidFill>
              <a:latin typeface="Cambria"/>
              <a:ea typeface="Cambria"/>
              <a:cs typeface="Cambria"/>
              <a:sym typeface="Cambria"/>
            </a:endParaRPr>
          </a:p>
          <a:p>
            <a:pPr indent="-349250" lvl="0" marL="457200" marR="0" rtl="0" algn="just">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to Information</a:t>
            </a:r>
            <a:endParaRPr b="0" i="0" sz="1900" u="none" cap="none" strike="noStrike">
              <a:solidFill>
                <a:schemeClr val="dk1"/>
              </a:solidFill>
              <a:latin typeface="Cambria"/>
              <a:ea typeface="Cambria"/>
              <a:cs typeface="Cambria"/>
              <a:sym typeface="Cambria"/>
            </a:endParaRPr>
          </a:p>
          <a:p>
            <a:pPr indent="-349250" lvl="0" marL="457200" marR="0" rtl="0" algn="just">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to Market </a:t>
            </a:r>
            <a:endParaRPr b="0" i="0" sz="1900" u="none" cap="none" strike="noStrike">
              <a:solidFill>
                <a:schemeClr val="dk1"/>
              </a:solidFill>
              <a:latin typeface="Cambria"/>
              <a:ea typeface="Cambria"/>
              <a:cs typeface="Cambria"/>
              <a:sym typeface="Cambria"/>
            </a:endParaRPr>
          </a:p>
          <a:p>
            <a:pPr indent="-349250" lvl="1" marL="1371600" marR="0" rtl="0" algn="just">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Direct Access</a:t>
            </a:r>
            <a:endParaRPr b="0" i="0" sz="1900" u="none" cap="none" strike="noStrike">
              <a:solidFill>
                <a:schemeClr val="dk1"/>
              </a:solidFill>
              <a:latin typeface="Cambria"/>
              <a:ea typeface="Cambria"/>
              <a:cs typeface="Cambria"/>
              <a:sym typeface="Cambria"/>
            </a:endParaRPr>
          </a:p>
          <a:p>
            <a:pPr indent="-349250" lvl="1" marL="1371600" marR="0" rtl="0" algn="just">
              <a:lnSpc>
                <a:spcPct val="100000"/>
              </a:lnSpc>
              <a:spcBef>
                <a:spcPts val="0"/>
              </a:spcBef>
              <a:spcAft>
                <a:spcPts val="0"/>
              </a:spcAft>
              <a:buClr>
                <a:schemeClr val="dk1"/>
              </a:buClr>
              <a:buSzPts val="1900"/>
              <a:buFont typeface="Cambria"/>
              <a:buChar char="○"/>
            </a:pPr>
            <a:r>
              <a:rPr b="0" i="0" lang="en-IN" sz="1900" u="none" cap="none" strike="noStrike">
                <a:solidFill>
                  <a:schemeClr val="dk1"/>
                </a:solidFill>
                <a:latin typeface="Cambria"/>
                <a:ea typeface="Cambria"/>
                <a:cs typeface="Cambria"/>
                <a:sym typeface="Cambria"/>
              </a:rPr>
              <a:t>Aggregation through PG/PE/FPO etc</a:t>
            </a:r>
            <a:endParaRPr b="0" i="0" sz="1900" u="none" cap="none" strike="noStrike">
              <a:solidFill>
                <a:schemeClr val="dk1"/>
              </a:solidFill>
              <a:latin typeface="Cambria"/>
              <a:ea typeface="Cambria"/>
              <a:cs typeface="Cambria"/>
              <a:sym typeface="Cambria"/>
            </a:endParaRPr>
          </a:p>
        </p:txBody>
      </p:sp>
      <p:sp>
        <p:nvSpPr>
          <p:cNvPr id="230" name="Google Shape;230;g1537e8911ba_0_0"/>
          <p:cNvSpPr/>
          <p:nvPr/>
        </p:nvSpPr>
        <p:spPr>
          <a:xfrm>
            <a:off x="31158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31" name="Google Shape;231;g1537e8911ba_0_0"/>
          <p:cNvSpPr/>
          <p:nvPr/>
        </p:nvSpPr>
        <p:spPr>
          <a:xfrm>
            <a:off x="5295816" y="6249575"/>
            <a:ext cx="20625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32" name="Google Shape;232;g1537e8911ba_0_0"/>
          <p:cNvSpPr/>
          <p:nvPr/>
        </p:nvSpPr>
        <p:spPr>
          <a:xfrm>
            <a:off x="7340642"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33" name="Google Shape;233;g1537e8911ba_0_0"/>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g1537e8911ba_0_21"/>
          <p:cNvPicPr preferRelativeResize="0"/>
          <p:nvPr/>
        </p:nvPicPr>
        <p:blipFill rotWithShape="1">
          <a:blip r:embed="rId3">
            <a:alphaModFix/>
          </a:blip>
          <a:srcRect b="0" l="0" r="0" t="0"/>
          <a:stretch/>
        </p:blipFill>
        <p:spPr>
          <a:xfrm flipH="1">
            <a:off x="11184564" y="1"/>
            <a:ext cx="1007435" cy="1042631"/>
          </a:xfrm>
          <a:prstGeom prst="rect">
            <a:avLst/>
          </a:prstGeom>
          <a:noFill/>
          <a:ln>
            <a:noFill/>
          </a:ln>
        </p:spPr>
      </p:pic>
      <p:sp>
        <p:nvSpPr>
          <p:cNvPr id="240" name="Google Shape;240;g1537e8911ba_0_21"/>
          <p:cNvSpPr txBox="1"/>
          <p:nvPr/>
        </p:nvSpPr>
        <p:spPr>
          <a:xfrm>
            <a:off x="2543605" y="250693"/>
            <a:ext cx="8064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Arial"/>
                <a:ea typeface="Arial"/>
                <a:cs typeface="Arial"/>
                <a:sym typeface="Arial"/>
              </a:rPr>
              <a:t>Asset- Example</a:t>
            </a:r>
            <a:endParaRPr b="0" i="0" sz="1400" u="none" cap="none" strike="noStrike">
              <a:solidFill>
                <a:srgbClr val="000000"/>
              </a:solidFill>
              <a:latin typeface="Arial"/>
              <a:ea typeface="Arial"/>
              <a:cs typeface="Arial"/>
              <a:sym typeface="Arial"/>
            </a:endParaRPr>
          </a:p>
        </p:txBody>
      </p:sp>
      <p:graphicFrame>
        <p:nvGraphicFramePr>
          <p:cNvPr id="241" name="Google Shape;241;g1537e8911ba_0_21"/>
          <p:cNvGraphicFramePr/>
          <p:nvPr/>
        </p:nvGraphicFramePr>
        <p:xfrm>
          <a:off x="2543600" y="984025"/>
          <a:ext cx="3000000" cy="3000000"/>
        </p:xfrm>
        <a:graphic>
          <a:graphicData uri="http://schemas.openxmlformats.org/drawingml/2006/table">
            <a:tbl>
              <a:tblPr>
                <a:noFill/>
                <a:tableStyleId>{6F109680-8A11-4BD8-9865-01D03EE2D968}</a:tableStyleId>
              </a:tblPr>
              <a:tblGrid>
                <a:gridCol w="2651475"/>
                <a:gridCol w="2706725"/>
                <a:gridCol w="2706725"/>
              </a:tblGrid>
              <a:tr h="469225">
                <a:tc>
                  <a:txBody>
                    <a:bodyPr/>
                    <a:lstStyle/>
                    <a:p>
                      <a:pPr indent="0" lvl="0" marL="0" marR="0" rtl="0" algn="just">
                        <a:lnSpc>
                          <a:spcPct val="115000"/>
                        </a:lnSpc>
                        <a:spcBef>
                          <a:spcPts val="0"/>
                        </a:spcBef>
                        <a:spcAft>
                          <a:spcPts val="0"/>
                        </a:spcAft>
                        <a:buClr>
                          <a:srgbClr val="000000"/>
                        </a:buClr>
                        <a:buSzPts val="1800"/>
                        <a:buFont typeface="Arial"/>
                        <a:buNone/>
                      </a:pPr>
                      <a:r>
                        <a:rPr b="1" lang="en-IN" sz="1900" u="none" cap="none" strike="noStrike">
                          <a:latin typeface="Cambria"/>
                          <a:ea typeface="Cambria"/>
                          <a:cs typeface="Cambria"/>
                          <a:sym typeface="Cambria"/>
                        </a:rPr>
                        <a:t>Equipment</a:t>
                      </a:r>
                      <a:endParaRPr b="1" sz="19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7AD4DC"/>
                    </a:solidFill>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900" u="none" cap="none" strike="noStrike">
                          <a:latin typeface="Cambria"/>
                          <a:ea typeface="Cambria"/>
                          <a:cs typeface="Cambria"/>
                          <a:sym typeface="Cambria"/>
                        </a:rPr>
                        <a:t>Infrastructure</a:t>
                      </a:r>
                      <a:endParaRPr b="1" sz="19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92D050"/>
                    </a:solidFill>
                  </a:tcPr>
                </a:tc>
                <a:tc>
                  <a:txBody>
                    <a:bodyPr/>
                    <a:lstStyle/>
                    <a:p>
                      <a:pPr indent="0" lvl="0" marL="0" marR="0" rtl="0" algn="just">
                        <a:lnSpc>
                          <a:spcPct val="115000"/>
                        </a:lnSpc>
                        <a:spcBef>
                          <a:spcPts val="0"/>
                        </a:spcBef>
                        <a:spcAft>
                          <a:spcPts val="0"/>
                        </a:spcAft>
                        <a:buClr>
                          <a:srgbClr val="000000"/>
                        </a:buClr>
                        <a:buSzPts val="1900"/>
                        <a:buFont typeface="Arial"/>
                        <a:buNone/>
                      </a:pPr>
                      <a:r>
                        <a:rPr b="1" lang="en-IN" sz="1900" u="none" cap="none" strike="noStrike">
                          <a:latin typeface="Cambria"/>
                          <a:ea typeface="Cambria"/>
                          <a:cs typeface="Cambria"/>
                          <a:sym typeface="Cambria"/>
                        </a:rPr>
                        <a:t>Livestock &amp; Animal Resources</a:t>
                      </a:r>
                      <a:endParaRPr b="1" sz="19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92D050"/>
                    </a:solidFill>
                  </a:tcPr>
                </a:tc>
              </a:tr>
              <a:tr h="3696300">
                <a:tc>
                  <a:txBody>
                    <a:bodyPr/>
                    <a:lstStyle/>
                    <a:p>
                      <a:pPr indent="0" lvl="0" marL="0" marR="0" rtl="0" algn="just">
                        <a:lnSpc>
                          <a:spcPct val="115000"/>
                        </a:lnSpc>
                        <a:spcBef>
                          <a:spcPts val="0"/>
                        </a:spcBef>
                        <a:spcAft>
                          <a:spcPts val="0"/>
                        </a:spcAft>
                        <a:buClr>
                          <a:srgbClr val="000000"/>
                        </a:buClr>
                        <a:buSzPts val="1800"/>
                        <a:buFont typeface="Arial"/>
                        <a:buNone/>
                      </a:pPr>
                      <a:r>
                        <a:rPr b="1" lang="en-IN" sz="1900" u="none" cap="none" strike="noStrike">
                          <a:latin typeface="Cambria"/>
                          <a:ea typeface="Cambria"/>
                          <a:cs typeface="Cambria"/>
                          <a:sym typeface="Cambria"/>
                        </a:rPr>
                        <a:t>Farming: </a:t>
                      </a:r>
                      <a:r>
                        <a:rPr lang="en-IN" sz="1900" u="none" cap="none" strike="noStrike">
                          <a:latin typeface="Cambria"/>
                          <a:ea typeface="Cambria"/>
                          <a:cs typeface="Cambria"/>
                          <a:sym typeface="Cambria"/>
                        </a:rPr>
                        <a:t>Solar Pump, thresher, sprayer, sprinkler, de seeder etc.</a:t>
                      </a:r>
                      <a:endParaRPr sz="1900" u="none" cap="none" strike="noStrike">
                        <a:latin typeface="Cambria"/>
                        <a:ea typeface="Cambria"/>
                        <a:cs typeface="Cambria"/>
                        <a:sym typeface="Cambria"/>
                      </a:endParaRPr>
                    </a:p>
                    <a:p>
                      <a:pPr indent="0" lvl="0" marL="0" marR="0" rtl="0" algn="just">
                        <a:lnSpc>
                          <a:spcPct val="115000"/>
                        </a:lnSpc>
                        <a:spcBef>
                          <a:spcPts val="1200"/>
                        </a:spcBef>
                        <a:spcAft>
                          <a:spcPts val="0"/>
                        </a:spcAft>
                        <a:buClr>
                          <a:srgbClr val="000000"/>
                        </a:buClr>
                        <a:buSzPts val="1800"/>
                        <a:buFont typeface="Arial"/>
                        <a:buNone/>
                      </a:pPr>
                      <a:r>
                        <a:rPr b="1" lang="en-IN" sz="1900" u="none" cap="none" strike="noStrike">
                          <a:latin typeface="Cambria"/>
                          <a:ea typeface="Cambria"/>
                          <a:cs typeface="Cambria"/>
                          <a:sym typeface="Cambria"/>
                        </a:rPr>
                        <a:t>Animal Husbandry: </a:t>
                      </a:r>
                      <a:r>
                        <a:rPr lang="en-IN" sz="1900" u="none" cap="none" strike="noStrike">
                          <a:latin typeface="Cambria"/>
                          <a:ea typeface="Cambria"/>
                          <a:cs typeface="Cambria"/>
                          <a:sym typeface="Cambria"/>
                        </a:rPr>
                        <a:t>Containers, weighing scales, air blowers, water pumps, etc</a:t>
                      </a:r>
                      <a:endParaRPr sz="1900" u="none" cap="none" strike="noStrike">
                        <a:latin typeface="Cambria"/>
                        <a:ea typeface="Cambria"/>
                        <a:cs typeface="Cambria"/>
                        <a:sym typeface="Cambria"/>
                      </a:endParaRPr>
                    </a:p>
                    <a:p>
                      <a:pPr indent="0" lvl="0" marL="0" marR="0" rtl="0" algn="just">
                        <a:lnSpc>
                          <a:spcPct val="115000"/>
                        </a:lnSpc>
                        <a:spcBef>
                          <a:spcPts val="1200"/>
                        </a:spcBef>
                        <a:spcAft>
                          <a:spcPts val="0"/>
                        </a:spcAft>
                        <a:buClr>
                          <a:srgbClr val="000000"/>
                        </a:buClr>
                        <a:buSzPts val="1800"/>
                        <a:buFont typeface="Arial"/>
                        <a:buNone/>
                      </a:pPr>
                      <a:r>
                        <a:rPr b="1" lang="en-IN" sz="1900" u="none" cap="none" strike="noStrike">
                          <a:latin typeface="Cambria"/>
                          <a:ea typeface="Cambria"/>
                          <a:cs typeface="Cambria"/>
                          <a:sym typeface="Cambria"/>
                        </a:rPr>
                        <a:t>Non-farm Enterprise: </a:t>
                      </a:r>
                      <a:r>
                        <a:rPr lang="en-IN" sz="1900" u="none" cap="none" strike="noStrike">
                          <a:latin typeface="Cambria"/>
                          <a:ea typeface="Cambria"/>
                          <a:cs typeface="Cambria"/>
                          <a:sym typeface="Cambria"/>
                        </a:rPr>
                        <a:t>Pottery Wheel, coir machine, packaging machine, turmeric boiler, etc</a:t>
                      </a:r>
                      <a:endParaRPr sz="19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900" u="none" cap="none" strike="noStrike">
                          <a:latin typeface="Cambria"/>
                          <a:ea typeface="Cambria"/>
                          <a:cs typeface="Cambria"/>
                          <a:sym typeface="Cambria"/>
                        </a:rPr>
                        <a:t>Farming:</a:t>
                      </a:r>
                      <a:r>
                        <a:rPr lang="en-IN" sz="1900" u="none" cap="none" strike="noStrike">
                          <a:latin typeface="Cambria"/>
                          <a:ea typeface="Cambria"/>
                          <a:cs typeface="Cambria"/>
                          <a:sym typeface="Cambria"/>
                        </a:rPr>
                        <a:t> Field bunds, field channels, Well, Pond, Dry yard, Storage hall.</a:t>
                      </a:r>
                      <a:endParaRPr sz="1900" u="none" cap="none" strike="noStrike">
                        <a:latin typeface="Cambria"/>
                        <a:ea typeface="Cambria"/>
                        <a:cs typeface="Cambria"/>
                        <a:sym typeface="Cambria"/>
                      </a:endParaRPr>
                    </a:p>
                    <a:p>
                      <a:pPr indent="0" lvl="0" marL="0" marR="0" rtl="0" algn="just">
                        <a:lnSpc>
                          <a:spcPct val="115000"/>
                        </a:lnSpc>
                        <a:spcBef>
                          <a:spcPts val="1200"/>
                        </a:spcBef>
                        <a:spcAft>
                          <a:spcPts val="0"/>
                        </a:spcAft>
                        <a:buClr>
                          <a:srgbClr val="000000"/>
                        </a:buClr>
                        <a:buSzPts val="1800"/>
                        <a:buFont typeface="Arial"/>
                        <a:buNone/>
                      </a:pPr>
                      <a:r>
                        <a:rPr b="1" lang="en-IN" sz="1900" u="none" cap="none" strike="noStrike">
                          <a:latin typeface="Cambria"/>
                          <a:ea typeface="Cambria"/>
                          <a:cs typeface="Cambria"/>
                          <a:sym typeface="Cambria"/>
                        </a:rPr>
                        <a:t>Animal Husbandry: </a:t>
                      </a:r>
                      <a:r>
                        <a:rPr lang="en-IN" sz="1900" u="none" cap="none" strike="noStrike">
                          <a:latin typeface="Cambria"/>
                          <a:ea typeface="Cambria"/>
                          <a:cs typeface="Cambria"/>
                          <a:sym typeface="Cambria"/>
                        </a:rPr>
                        <a:t>Cattle shed, poultry sheds etc</a:t>
                      </a:r>
                      <a:endParaRPr sz="1900" u="none" cap="none" strike="noStrike">
                        <a:latin typeface="Cambria"/>
                        <a:ea typeface="Cambria"/>
                        <a:cs typeface="Cambria"/>
                        <a:sym typeface="Cambria"/>
                      </a:endParaRPr>
                    </a:p>
                    <a:p>
                      <a:pPr indent="0" lvl="0" marL="0" marR="0" rtl="0" algn="just">
                        <a:lnSpc>
                          <a:spcPct val="115000"/>
                        </a:lnSpc>
                        <a:spcBef>
                          <a:spcPts val="1200"/>
                        </a:spcBef>
                        <a:spcAft>
                          <a:spcPts val="0"/>
                        </a:spcAft>
                        <a:buClr>
                          <a:srgbClr val="000000"/>
                        </a:buClr>
                        <a:buSzPts val="1800"/>
                        <a:buFont typeface="Arial"/>
                        <a:buNone/>
                      </a:pPr>
                      <a:r>
                        <a:rPr b="1" lang="en-IN" sz="1900" u="none" cap="none" strike="noStrike">
                          <a:latin typeface="Cambria"/>
                          <a:ea typeface="Cambria"/>
                          <a:cs typeface="Cambria"/>
                          <a:sym typeface="Cambria"/>
                        </a:rPr>
                        <a:t>Non-farm Enterprise: </a:t>
                      </a:r>
                      <a:r>
                        <a:rPr lang="en-IN" sz="1900" u="none" cap="none" strike="noStrike">
                          <a:latin typeface="Cambria"/>
                          <a:ea typeface="Cambria"/>
                          <a:cs typeface="Cambria"/>
                          <a:sym typeface="Cambria"/>
                        </a:rPr>
                        <a:t>Work-shed, Processing unit etc.</a:t>
                      </a:r>
                      <a:endParaRPr sz="19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rgbClr val="000000"/>
                        </a:buClr>
                        <a:buSzPts val="1900"/>
                        <a:buFont typeface="Arial"/>
                        <a:buNone/>
                      </a:pPr>
                      <a:r>
                        <a:rPr b="1" lang="en-IN" sz="1900" u="none" cap="none" strike="noStrike">
                          <a:latin typeface="Cambria"/>
                          <a:ea typeface="Cambria"/>
                          <a:cs typeface="Cambria"/>
                          <a:sym typeface="Cambria"/>
                        </a:rPr>
                        <a:t>Livestock:</a:t>
                      </a:r>
                      <a:r>
                        <a:rPr lang="en-IN" sz="1900" u="none" cap="none" strike="noStrike">
                          <a:latin typeface="Cambria"/>
                          <a:ea typeface="Cambria"/>
                          <a:cs typeface="Cambria"/>
                          <a:sym typeface="Cambria"/>
                        </a:rPr>
                        <a:t> cattle, pigs buffalo, poultry, </a:t>
                      </a:r>
                      <a:r>
                        <a:rPr lang="en-IN" sz="1900" u="none" cap="none" strike="noStrike">
                          <a:solidFill>
                            <a:schemeClr val="dk1"/>
                          </a:solidFill>
                          <a:latin typeface="Cambria"/>
                          <a:ea typeface="Cambria"/>
                          <a:cs typeface="Cambria"/>
                          <a:sym typeface="Cambria"/>
                        </a:rPr>
                        <a:t>goat /sheep, etc</a:t>
                      </a:r>
                      <a:endParaRPr sz="1900" u="none" cap="none" strike="noStrike">
                        <a:solidFill>
                          <a:schemeClr val="dk1"/>
                        </a:solidFill>
                        <a:latin typeface="Cambria"/>
                        <a:ea typeface="Cambria"/>
                        <a:cs typeface="Cambria"/>
                        <a:sym typeface="Cambria"/>
                      </a:endParaRPr>
                    </a:p>
                    <a:p>
                      <a:pPr indent="0" lvl="0" marL="0" marR="0" rtl="0" algn="just">
                        <a:lnSpc>
                          <a:spcPct val="115000"/>
                        </a:lnSpc>
                        <a:spcBef>
                          <a:spcPts val="0"/>
                        </a:spcBef>
                        <a:spcAft>
                          <a:spcPts val="0"/>
                        </a:spcAft>
                        <a:buClr>
                          <a:srgbClr val="000000"/>
                        </a:buClr>
                        <a:buSzPts val="1900"/>
                        <a:buFont typeface="Arial"/>
                        <a:buNone/>
                      </a:pPr>
                      <a:r>
                        <a:t/>
                      </a:r>
                      <a:endParaRPr sz="1900" u="none" cap="none" strike="noStrike">
                        <a:solidFill>
                          <a:schemeClr val="dk1"/>
                        </a:solidFill>
                        <a:latin typeface="Cambria"/>
                        <a:ea typeface="Cambria"/>
                        <a:cs typeface="Cambria"/>
                        <a:sym typeface="Cambria"/>
                      </a:endParaRPr>
                    </a:p>
                    <a:p>
                      <a:pPr indent="0" lvl="0" marL="0" marR="0" rtl="0" algn="just">
                        <a:lnSpc>
                          <a:spcPct val="115000"/>
                        </a:lnSpc>
                        <a:spcBef>
                          <a:spcPts val="0"/>
                        </a:spcBef>
                        <a:spcAft>
                          <a:spcPts val="0"/>
                        </a:spcAft>
                        <a:buClr>
                          <a:srgbClr val="000000"/>
                        </a:buClr>
                        <a:buSzPts val="1900"/>
                        <a:buFont typeface="Arial"/>
                        <a:buNone/>
                      </a:pPr>
                      <a:r>
                        <a:rPr b="1" lang="en-IN" sz="1900" u="none" cap="none" strike="noStrike">
                          <a:solidFill>
                            <a:schemeClr val="dk1"/>
                          </a:solidFill>
                          <a:latin typeface="Cambria"/>
                          <a:ea typeface="Cambria"/>
                          <a:cs typeface="Cambria"/>
                          <a:sym typeface="Cambria"/>
                        </a:rPr>
                        <a:t>Breeding Resources: </a:t>
                      </a:r>
                      <a:endParaRPr b="1" sz="1900" u="none" cap="none" strike="noStrike">
                        <a:solidFill>
                          <a:schemeClr val="dk1"/>
                        </a:solidFill>
                        <a:latin typeface="Cambria"/>
                        <a:ea typeface="Cambria"/>
                        <a:cs typeface="Cambria"/>
                        <a:sym typeface="Cambria"/>
                      </a:endParaRPr>
                    </a:p>
                    <a:p>
                      <a:pPr indent="0" lvl="0" marL="0" marR="0" rtl="0" algn="just">
                        <a:lnSpc>
                          <a:spcPct val="115000"/>
                        </a:lnSpc>
                        <a:spcBef>
                          <a:spcPts val="0"/>
                        </a:spcBef>
                        <a:spcAft>
                          <a:spcPts val="0"/>
                        </a:spcAft>
                        <a:buClr>
                          <a:srgbClr val="000000"/>
                        </a:buClr>
                        <a:buSzPts val="1900"/>
                        <a:buFont typeface="Arial"/>
                        <a:buNone/>
                      </a:pPr>
                      <a:r>
                        <a:rPr lang="en-IN" sz="1900" u="none" cap="none" strike="noStrike">
                          <a:solidFill>
                            <a:schemeClr val="dk1"/>
                          </a:solidFill>
                          <a:latin typeface="Cambria"/>
                          <a:ea typeface="Cambria"/>
                          <a:cs typeface="Cambria"/>
                          <a:sym typeface="Cambria"/>
                        </a:rPr>
                        <a:t>Breeding stock, AI Supplies, etc</a:t>
                      </a:r>
                      <a:endParaRPr sz="1900" u="none" cap="none" strike="noStrike">
                        <a:solidFill>
                          <a:schemeClr val="dk1"/>
                        </a:solidFill>
                        <a:latin typeface="Cambria"/>
                        <a:ea typeface="Cambria"/>
                        <a:cs typeface="Cambria"/>
                        <a:sym typeface="Cambria"/>
                      </a:endParaRPr>
                    </a:p>
                    <a:p>
                      <a:pPr indent="0" lvl="0" marL="0" marR="0" rtl="0" algn="just">
                        <a:lnSpc>
                          <a:spcPct val="115000"/>
                        </a:lnSpc>
                        <a:spcBef>
                          <a:spcPts val="0"/>
                        </a:spcBef>
                        <a:spcAft>
                          <a:spcPts val="0"/>
                        </a:spcAft>
                        <a:buClr>
                          <a:srgbClr val="000000"/>
                        </a:buClr>
                        <a:buSzPts val="1900"/>
                        <a:buFont typeface="Arial"/>
                        <a:buNone/>
                      </a:pPr>
                      <a:r>
                        <a:t/>
                      </a:r>
                      <a:endParaRPr sz="1900" u="none" cap="none" strike="noStrike">
                        <a:solidFill>
                          <a:schemeClr val="dk1"/>
                        </a:solidFill>
                        <a:latin typeface="Cambria"/>
                        <a:ea typeface="Cambria"/>
                        <a:cs typeface="Cambria"/>
                        <a:sym typeface="Cambria"/>
                      </a:endParaRPr>
                    </a:p>
                    <a:p>
                      <a:pPr indent="0" lvl="0" marL="0" marR="0" rtl="0" algn="just">
                        <a:lnSpc>
                          <a:spcPct val="115000"/>
                        </a:lnSpc>
                        <a:spcBef>
                          <a:spcPts val="0"/>
                        </a:spcBef>
                        <a:spcAft>
                          <a:spcPts val="0"/>
                        </a:spcAft>
                        <a:buClr>
                          <a:srgbClr val="000000"/>
                        </a:buClr>
                        <a:buSzPts val="1900"/>
                        <a:buFont typeface="Arial"/>
                        <a:buNone/>
                      </a:pPr>
                      <a:r>
                        <a:t/>
                      </a:r>
                      <a:endParaRPr sz="1900" u="none" cap="none" strike="noStrike">
                        <a:solidFill>
                          <a:schemeClr val="dk1"/>
                        </a:solidFill>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bl>
          </a:graphicData>
        </a:graphic>
      </p:graphicFrame>
      <p:sp>
        <p:nvSpPr>
          <p:cNvPr id="242" name="Google Shape;242;g1537e8911ba_0_21"/>
          <p:cNvSpPr/>
          <p:nvPr/>
        </p:nvSpPr>
        <p:spPr>
          <a:xfrm>
            <a:off x="31158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43" name="Google Shape;243;g1537e8911ba_0_21"/>
          <p:cNvSpPr/>
          <p:nvPr/>
        </p:nvSpPr>
        <p:spPr>
          <a:xfrm>
            <a:off x="5295816" y="6249575"/>
            <a:ext cx="2062500" cy="507600"/>
          </a:xfrm>
          <a:prstGeom prst="round2SameRect">
            <a:avLst>
              <a:gd fmla="val 16667" name="adj1"/>
              <a:gd fmla="val 0" name="adj2"/>
            </a:avLst>
          </a:prstGeom>
          <a:solidFill>
            <a:schemeClr val="accent3"/>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44" name="Google Shape;244;g1537e8911ba_0_21"/>
          <p:cNvSpPr/>
          <p:nvPr/>
        </p:nvSpPr>
        <p:spPr>
          <a:xfrm>
            <a:off x="7340642"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45" name="Google Shape;245;g1537e8911ba_0_21"/>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47"/>
          <p:cNvPicPr preferRelativeResize="0"/>
          <p:nvPr/>
        </p:nvPicPr>
        <p:blipFill rotWithShape="1">
          <a:blip r:embed="rId3">
            <a:alphaModFix/>
          </a:blip>
          <a:srcRect b="0" l="0" r="0" t="0"/>
          <a:stretch/>
        </p:blipFill>
        <p:spPr>
          <a:xfrm flipH="1">
            <a:off x="11184564" y="1"/>
            <a:ext cx="1007435" cy="1042631"/>
          </a:xfrm>
          <a:prstGeom prst="rect">
            <a:avLst/>
          </a:prstGeom>
          <a:noFill/>
          <a:ln>
            <a:noFill/>
          </a:ln>
        </p:spPr>
      </p:pic>
      <p:sp>
        <p:nvSpPr>
          <p:cNvPr id="252" name="Google Shape;252;p47"/>
          <p:cNvSpPr txBox="1"/>
          <p:nvPr/>
        </p:nvSpPr>
        <p:spPr>
          <a:xfrm>
            <a:off x="2543605" y="403093"/>
            <a:ext cx="8064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Arial"/>
                <a:ea typeface="Arial"/>
                <a:cs typeface="Arial"/>
                <a:sym typeface="Arial"/>
              </a:rPr>
              <a:t>Ability or Skills - Examples</a:t>
            </a:r>
            <a:endParaRPr b="0" i="0" sz="1400" u="none" cap="none" strike="noStrike">
              <a:solidFill>
                <a:srgbClr val="000000"/>
              </a:solidFill>
              <a:latin typeface="Arial"/>
              <a:ea typeface="Arial"/>
              <a:cs typeface="Arial"/>
              <a:sym typeface="Arial"/>
            </a:endParaRPr>
          </a:p>
        </p:txBody>
      </p:sp>
      <p:graphicFrame>
        <p:nvGraphicFramePr>
          <p:cNvPr id="253" name="Google Shape;253;p47"/>
          <p:cNvGraphicFramePr/>
          <p:nvPr/>
        </p:nvGraphicFramePr>
        <p:xfrm>
          <a:off x="2543605" y="1042632"/>
          <a:ext cx="3000000" cy="3000000"/>
        </p:xfrm>
        <a:graphic>
          <a:graphicData uri="http://schemas.openxmlformats.org/drawingml/2006/table">
            <a:tbl>
              <a:tblPr>
                <a:noFill/>
                <a:tableStyleId>{6F109680-8A11-4BD8-9865-01D03EE2D968}</a:tableStyleId>
              </a:tblPr>
              <a:tblGrid>
                <a:gridCol w="3038300"/>
                <a:gridCol w="3038300"/>
                <a:gridCol w="3101575"/>
              </a:tblGrid>
              <a:tr h="892075">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latin typeface="Cambria"/>
                          <a:ea typeface="Cambria"/>
                          <a:cs typeface="Cambria"/>
                          <a:sym typeface="Cambria"/>
                        </a:rPr>
                        <a:t>Technical Skills</a:t>
                      </a:r>
                      <a:endParaRPr b="1" sz="18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FFFF00"/>
                    </a:solidFill>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latin typeface="Cambria"/>
                          <a:ea typeface="Cambria"/>
                          <a:cs typeface="Cambria"/>
                          <a:sym typeface="Cambria"/>
                        </a:rPr>
                        <a:t>Business Management Skills</a:t>
                      </a:r>
                      <a:endParaRPr b="1" sz="18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7AD4DC"/>
                    </a:solidFill>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latin typeface="Cambria"/>
                          <a:ea typeface="Cambria"/>
                          <a:cs typeface="Cambria"/>
                          <a:sym typeface="Cambria"/>
                        </a:rPr>
                        <a:t>Entrepreneurial Skills</a:t>
                      </a:r>
                      <a:endParaRPr b="1" sz="18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92D050"/>
                    </a:solidFill>
                  </a:tcPr>
                </a:tc>
              </a:tr>
              <a:tr h="4022500">
                <a:tc>
                  <a:txBody>
                    <a:bodyPr/>
                    <a:lstStyle/>
                    <a:p>
                      <a:pPr indent="0" lvl="0" marL="0" marR="0" rtl="0" algn="just">
                        <a:lnSpc>
                          <a:spcPct val="115000"/>
                        </a:lnSpc>
                        <a:spcBef>
                          <a:spcPts val="0"/>
                        </a:spcBef>
                        <a:spcAft>
                          <a:spcPts val="0"/>
                        </a:spcAft>
                        <a:buClr>
                          <a:srgbClr val="000000"/>
                        </a:buClr>
                        <a:buSzPts val="1800"/>
                        <a:buFont typeface="Arial"/>
                        <a:buNone/>
                      </a:pPr>
                      <a:r>
                        <a:rPr b="1" lang="en-IN" sz="1600" u="none" cap="none" strike="noStrike">
                          <a:latin typeface="Cambria"/>
                          <a:ea typeface="Cambria"/>
                          <a:cs typeface="Cambria"/>
                          <a:sym typeface="Cambria"/>
                        </a:rPr>
                        <a:t>Farming:</a:t>
                      </a:r>
                      <a:r>
                        <a:rPr lang="en-IN" sz="1600" u="none" cap="none" strike="noStrike">
                          <a:latin typeface="Cambria"/>
                          <a:ea typeface="Cambria"/>
                          <a:cs typeface="Cambria"/>
                          <a:sym typeface="Cambria"/>
                        </a:rPr>
                        <a:t> Agro- Ecological Practices, Natural Farming, Post Harvest Management etc </a:t>
                      </a:r>
                      <a:endParaRPr sz="1600" u="none" cap="none" strike="noStrike">
                        <a:latin typeface="Cambria"/>
                        <a:ea typeface="Cambria"/>
                        <a:cs typeface="Cambria"/>
                        <a:sym typeface="Cambria"/>
                      </a:endParaRPr>
                    </a:p>
                    <a:p>
                      <a:pPr indent="0" lvl="0" marL="0" marR="0" rtl="0" algn="just">
                        <a:lnSpc>
                          <a:spcPct val="115000"/>
                        </a:lnSpc>
                        <a:spcBef>
                          <a:spcPts val="1200"/>
                        </a:spcBef>
                        <a:spcAft>
                          <a:spcPts val="0"/>
                        </a:spcAft>
                        <a:buClr>
                          <a:srgbClr val="000000"/>
                        </a:buClr>
                        <a:buSzPts val="1800"/>
                        <a:buFont typeface="Arial"/>
                        <a:buNone/>
                      </a:pPr>
                      <a:r>
                        <a:rPr b="1" lang="en-IN" sz="1600" u="none" cap="none" strike="noStrike">
                          <a:latin typeface="Cambria"/>
                          <a:ea typeface="Cambria"/>
                          <a:cs typeface="Cambria"/>
                          <a:sym typeface="Cambria"/>
                        </a:rPr>
                        <a:t>Animal Husbandry</a:t>
                      </a:r>
                      <a:r>
                        <a:rPr lang="en-IN" sz="1600" u="none" cap="none" strike="noStrike">
                          <a:latin typeface="Cambria"/>
                          <a:ea typeface="Cambria"/>
                          <a:cs typeface="Cambria"/>
                          <a:sym typeface="Cambria"/>
                        </a:rPr>
                        <a:t>: Livestock Management, Nutrition and Feeding, Breeding, Shelter Management, Hygiene and Sanitation etc.</a:t>
                      </a:r>
                      <a:endParaRPr sz="1600" u="none" cap="none" strike="noStrike">
                        <a:latin typeface="Cambria"/>
                        <a:ea typeface="Cambria"/>
                        <a:cs typeface="Cambria"/>
                        <a:sym typeface="Cambria"/>
                      </a:endParaRPr>
                    </a:p>
                    <a:p>
                      <a:pPr indent="0" lvl="0" marL="0" marR="0" rtl="0" algn="just">
                        <a:lnSpc>
                          <a:spcPct val="115000"/>
                        </a:lnSpc>
                        <a:spcBef>
                          <a:spcPts val="1200"/>
                        </a:spcBef>
                        <a:spcAft>
                          <a:spcPts val="0"/>
                        </a:spcAft>
                        <a:buClr>
                          <a:srgbClr val="000000"/>
                        </a:buClr>
                        <a:buSzPts val="1800"/>
                        <a:buFont typeface="Arial"/>
                        <a:buNone/>
                      </a:pPr>
                      <a:r>
                        <a:rPr b="1" lang="en-IN" sz="1600" u="none" cap="none" strike="noStrike">
                          <a:latin typeface="Cambria"/>
                          <a:ea typeface="Cambria"/>
                          <a:cs typeface="Cambria"/>
                          <a:sym typeface="Cambria"/>
                        </a:rPr>
                        <a:t>Non-Farm Enterprise</a:t>
                      </a:r>
                      <a:r>
                        <a:rPr lang="en-IN" sz="1600" u="none" cap="none" strike="noStrike">
                          <a:latin typeface="Cambria"/>
                          <a:ea typeface="Cambria"/>
                          <a:cs typeface="Cambria"/>
                          <a:sym typeface="Cambria"/>
                        </a:rPr>
                        <a:t>: Production Skills, Machine Operation and Maintenance etc</a:t>
                      </a:r>
                      <a:endParaRPr sz="16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600" u="none" cap="none" strike="noStrike">
                          <a:latin typeface="Cambria"/>
                          <a:ea typeface="Cambria"/>
                          <a:cs typeface="Cambria"/>
                          <a:sym typeface="Cambria"/>
                        </a:rPr>
                        <a:t>Farming &amp; Animal Husbandry: </a:t>
                      </a:r>
                      <a:r>
                        <a:rPr lang="en-IN" sz="1600" u="none" cap="none" strike="noStrike">
                          <a:latin typeface="Cambria"/>
                          <a:ea typeface="Cambria"/>
                          <a:cs typeface="Cambria"/>
                          <a:sym typeface="Cambria"/>
                        </a:rPr>
                        <a:t>Digital and Financial Literacy, Marketing, Legal and Compliances,  etc.</a:t>
                      </a:r>
                      <a:endParaRPr sz="1600" u="none" cap="none" strike="noStrike">
                        <a:latin typeface="Cambria"/>
                        <a:ea typeface="Cambria"/>
                        <a:cs typeface="Cambria"/>
                        <a:sym typeface="Cambria"/>
                      </a:endParaRPr>
                    </a:p>
                    <a:p>
                      <a:pPr indent="0" lvl="0" marL="0" marR="0" rtl="0" algn="just">
                        <a:lnSpc>
                          <a:spcPct val="115000"/>
                        </a:lnSpc>
                        <a:spcBef>
                          <a:spcPts val="1200"/>
                        </a:spcBef>
                        <a:spcAft>
                          <a:spcPts val="0"/>
                        </a:spcAft>
                        <a:buClr>
                          <a:srgbClr val="000000"/>
                        </a:buClr>
                        <a:buSzPts val="1800"/>
                        <a:buFont typeface="Arial"/>
                        <a:buNone/>
                      </a:pPr>
                      <a:r>
                        <a:rPr b="1" lang="en-IN" sz="1600" u="none" cap="none" strike="noStrike">
                          <a:latin typeface="Cambria"/>
                          <a:ea typeface="Cambria"/>
                          <a:cs typeface="Cambria"/>
                          <a:sym typeface="Cambria"/>
                        </a:rPr>
                        <a:t>Non-farm Enterprise: </a:t>
                      </a:r>
                      <a:r>
                        <a:rPr b="0" lang="en-IN" sz="1600" u="none" cap="none" strike="noStrike">
                          <a:latin typeface="Cambria"/>
                          <a:ea typeface="Cambria"/>
                          <a:cs typeface="Cambria"/>
                          <a:sym typeface="Cambria"/>
                        </a:rPr>
                        <a:t>Basic Business Management, Business Plan, Digital and Financial Literacy, Financial Management, Marketing, Legal Compliances etc.</a:t>
                      </a:r>
                      <a:endParaRPr sz="16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285750" lvl="0" marL="285750" marR="0" rtl="0" algn="just">
                        <a:lnSpc>
                          <a:spcPct val="115000"/>
                        </a:lnSpc>
                        <a:spcBef>
                          <a:spcPts val="0"/>
                        </a:spcBef>
                        <a:spcAft>
                          <a:spcPts val="0"/>
                        </a:spcAft>
                        <a:buClr>
                          <a:srgbClr val="000000"/>
                        </a:buClr>
                        <a:buSzPts val="1800"/>
                        <a:buFont typeface="Arial"/>
                        <a:buChar char="•"/>
                      </a:pPr>
                      <a:r>
                        <a:rPr lang="en-IN" sz="1600" u="none" cap="none" strike="noStrike">
                          <a:latin typeface="Cambria"/>
                          <a:ea typeface="Cambria"/>
                          <a:cs typeface="Cambria"/>
                          <a:sym typeface="Cambria"/>
                        </a:rPr>
                        <a:t>Communication</a:t>
                      </a:r>
                      <a:endParaRPr sz="1400" u="none" cap="none" strike="noStrike"/>
                    </a:p>
                    <a:p>
                      <a:pPr indent="-285750" lvl="0" marL="285750" marR="0" rtl="0" algn="just">
                        <a:lnSpc>
                          <a:spcPct val="115000"/>
                        </a:lnSpc>
                        <a:spcBef>
                          <a:spcPts val="0"/>
                        </a:spcBef>
                        <a:spcAft>
                          <a:spcPts val="0"/>
                        </a:spcAft>
                        <a:buClr>
                          <a:srgbClr val="000000"/>
                        </a:buClr>
                        <a:buSzPts val="1800"/>
                        <a:buFont typeface="Arial"/>
                        <a:buChar char="•"/>
                      </a:pPr>
                      <a:r>
                        <a:rPr lang="en-IN" sz="1600" u="none" cap="none" strike="noStrike">
                          <a:latin typeface="Cambria"/>
                          <a:ea typeface="Cambria"/>
                          <a:cs typeface="Cambria"/>
                          <a:sym typeface="Cambria"/>
                        </a:rPr>
                        <a:t>Problem Solving and Critical Thinking</a:t>
                      </a:r>
                      <a:endParaRPr sz="1400" u="none" cap="none" strike="noStrike"/>
                    </a:p>
                    <a:p>
                      <a:pPr indent="-285750" lvl="0" marL="285750" marR="0" rtl="0" algn="just">
                        <a:lnSpc>
                          <a:spcPct val="115000"/>
                        </a:lnSpc>
                        <a:spcBef>
                          <a:spcPts val="0"/>
                        </a:spcBef>
                        <a:spcAft>
                          <a:spcPts val="0"/>
                        </a:spcAft>
                        <a:buClr>
                          <a:srgbClr val="000000"/>
                        </a:buClr>
                        <a:buSzPts val="1800"/>
                        <a:buFont typeface="Arial"/>
                        <a:buChar char="•"/>
                      </a:pPr>
                      <a:r>
                        <a:rPr lang="en-IN" sz="1600" u="none" cap="none" strike="noStrike">
                          <a:latin typeface="Cambria"/>
                          <a:ea typeface="Cambria"/>
                          <a:cs typeface="Cambria"/>
                          <a:sym typeface="Cambria"/>
                        </a:rPr>
                        <a:t>Group Dynamics</a:t>
                      </a:r>
                      <a:endParaRPr sz="1400" u="none" cap="none" strike="noStrike"/>
                    </a:p>
                    <a:p>
                      <a:pPr indent="-285750" lvl="0" marL="285750" marR="0" rtl="0" algn="just">
                        <a:lnSpc>
                          <a:spcPct val="115000"/>
                        </a:lnSpc>
                        <a:spcBef>
                          <a:spcPts val="0"/>
                        </a:spcBef>
                        <a:spcAft>
                          <a:spcPts val="0"/>
                        </a:spcAft>
                        <a:buClr>
                          <a:srgbClr val="000000"/>
                        </a:buClr>
                        <a:buSzPts val="1800"/>
                        <a:buFont typeface="Arial"/>
                        <a:buChar char="•"/>
                      </a:pPr>
                      <a:r>
                        <a:rPr lang="en-IN" sz="1600" u="none" cap="none" strike="noStrike">
                          <a:latin typeface="Cambria"/>
                          <a:ea typeface="Cambria"/>
                          <a:cs typeface="Cambria"/>
                          <a:sym typeface="Cambria"/>
                        </a:rPr>
                        <a:t>Decision Making</a:t>
                      </a:r>
                      <a:endParaRPr sz="1400" u="none" cap="none" strike="noStrike"/>
                    </a:p>
                    <a:p>
                      <a:pPr indent="-285750" lvl="0" marL="285750" marR="0" rtl="0" algn="just">
                        <a:lnSpc>
                          <a:spcPct val="115000"/>
                        </a:lnSpc>
                        <a:spcBef>
                          <a:spcPts val="0"/>
                        </a:spcBef>
                        <a:spcAft>
                          <a:spcPts val="0"/>
                        </a:spcAft>
                        <a:buClr>
                          <a:srgbClr val="000000"/>
                        </a:buClr>
                        <a:buSzPts val="1800"/>
                        <a:buFont typeface="Arial"/>
                        <a:buChar char="•"/>
                      </a:pPr>
                      <a:r>
                        <a:rPr lang="en-IN" sz="1600" u="none" cap="none" strike="noStrike">
                          <a:latin typeface="Cambria"/>
                          <a:ea typeface="Cambria"/>
                          <a:cs typeface="Cambria"/>
                          <a:sym typeface="Cambria"/>
                        </a:rPr>
                        <a:t>Negotiation </a:t>
                      </a:r>
                      <a:endParaRPr sz="1400" u="none" cap="none" strike="noStrike"/>
                    </a:p>
                    <a:p>
                      <a:pPr indent="0" lvl="0" marL="0" marR="0" rtl="0" algn="just">
                        <a:lnSpc>
                          <a:spcPct val="115000"/>
                        </a:lnSpc>
                        <a:spcBef>
                          <a:spcPts val="0"/>
                        </a:spcBef>
                        <a:spcAft>
                          <a:spcPts val="0"/>
                        </a:spcAft>
                        <a:buClr>
                          <a:srgbClr val="000000"/>
                        </a:buClr>
                        <a:buSzPts val="1800"/>
                        <a:buFont typeface="Arial"/>
                        <a:buNone/>
                      </a:pPr>
                      <a:r>
                        <a:t/>
                      </a:r>
                      <a:endParaRPr sz="16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bl>
          </a:graphicData>
        </a:graphic>
      </p:graphicFrame>
      <p:sp>
        <p:nvSpPr>
          <p:cNvPr id="254" name="Google Shape;254;p47"/>
          <p:cNvSpPr/>
          <p:nvPr/>
        </p:nvSpPr>
        <p:spPr>
          <a:xfrm>
            <a:off x="31158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55" name="Google Shape;255;p47"/>
          <p:cNvSpPr/>
          <p:nvPr/>
        </p:nvSpPr>
        <p:spPr>
          <a:xfrm>
            <a:off x="5295816" y="6249575"/>
            <a:ext cx="20625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56" name="Google Shape;256;p47"/>
          <p:cNvSpPr/>
          <p:nvPr/>
        </p:nvSpPr>
        <p:spPr>
          <a:xfrm>
            <a:off x="7340642"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57" name="Google Shape;257;p47"/>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48"/>
          <p:cNvPicPr preferRelativeResize="0"/>
          <p:nvPr/>
        </p:nvPicPr>
        <p:blipFill rotWithShape="1">
          <a:blip r:embed="rId3">
            <a:alphaModFix/>
          </a:blip>
          <a:srcRect b="0" l="0" r="0" t="0"/>
          <a:stretch/>
        </p:blipFill>
        <p:spPr>
          <a:xfrm flipH="1">
            <a:off x="11184564" y="1"/>
            <a:ext cx="1007435" cy="1042631"/>
          </a:xfrm>
          <a:prstGeom prst="rect">
            <a:avLst/>
          </a:prstGeom>
          <a:noFill/>
          <a:ln>
            <a:noFill/>
          </a:ln>
        </p:spPr>
      </p:pic>
      <p:sp>
        <p:nvSpPr>
          <p:cNvPr id="264" name="Google Shape;264;p48"/>
          <p:cNvSpPr txBox="1"/>
          <p:nvPr/>
        </p:nvSpPr>
        <p:spPr>
          <a:xfrm>
            <a:off x="2543605" y="22093"/>
            <a:ext cx="8064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Arial"/>
                <a:ea typeface="Arial"/>
                <a:cs typeface="Arial"/>
                <a:sym typeface="Arial"/>
              </a:rPr>
              <a:t>Access - Examples</a:t>
            </a:r>
            <a:endParaRPr b="0" i="0" sz="1400" u="none" cap="none" strike="noStrike">
              <a:solidFill>
                <a:srgbClr val="000000"/>
              </a:solidFill>
              <a:latin typeface="Arial"/>
              <a:ea typeface="Arial"/>
              <a:cs typeface="Arial"/>
              <a:sym typeface="Arial"/>
            </a:endParaRPr>
          </a:p>
        </p:txBody>
      </p:sp>
      <p:graphicFrame>
        <p:nvGraphicFramePr>
          <p:cNvPr id="265" name="Google Shape;265;p48"/>
          <p:cNvGraphicFramePr/>
          <p:nvPr/>
        </p:nvGraphicFramePr>
        <p:xfrm>
          <a:off x="2543605" y="661632"/>
          <a:ext cx="3000000" cy="3000000"/>
        </p:xfrm>
        <a:graphic>
          <a:graphicData uri="http://schemas.openxmlformats.org/drawingml/2006/table">
            <a:tbl>
              <a:tblPr>
                <a:noFill/>
                <a:tableStyleId>{6F109680-8A11-4BD8-9865-01D03EE2D968}</a:tableStyleId>
              </a:tblPr>
              <a:tblGrid>
                <a:gridCol w="4969500"/>
                <a:gridCol w="4191275"/>
              </a:tblGrid>
              <a:tr h="892075">
                <a:tc>
                  <a:txBody>
                    <a:bodyPr/>
                    <a:lstStyle/>
                    <a:p>
                      <a:pPr indent="0" lvl="0" marL="0" marR="0" rtl="0" algn="ctr">
                        <a:lnSpc>
                          <a:spcPct val="115000"/>
                        </a:lnSpc>
                        <a:spcBef>
                          <a:spcPts val="0"/>
                        </a:spcBef>
                        <a:spcAft>
                          <a:spcPts val="0"/>
                        </a:spcAft>
                        <a:buClr>
                          <a:srgbClr val="000000"/>
                        </a:buClr>
                        <a:buSzPts val="1800"/>
                        <a:buFont typeface="Arial"/>
                        <a:buNone/>
                      </a:pPr>
                      <a:r>
                        <a:rPr b="1" lang="en-IN" sz="1800" u="none" cap="none" strike="noStrike">
                          <a:latin typeface="Cambria"/>
                          <a:ea typeface="Cambria"/>
                          <a:cs typeface="Cambria"/>
                          <a:sym typeface="Cambria"/>
                        </a:rPr>
                        <a:t>Access to Finance</a:t>
                      </a:r>
                      <a:endParaRPr b="1" sz="18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FFFF00"/>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IN" sz="1800" u="none" cap="none" strike="noStrike">
                          <a:latin typeface="Cambria"/>
                          <a:ea typeface="Cambria"/>
                          <a:cs typeface="Cambria"/>
                          <a:sym typeface="Cambria"/>
                        </a:rPr>
                        <a:t>Access to Market</a:t>
                      </a:r>
                      <a:endParaRPr b="1" sz="18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7AD4DC"/>
                    </a:solidFill>
                  </a:tcPr>
                </a:tc>
              </a:tr>
              <a:tr h="4022500">
                <a:tc>
                  <a:txBody>
                    <a:bodyPr/>
                    <a:lstStyle/>
                    <a:p>
                      <a:pPr indent="-285750" lvl="0" marL="285750" marR="0" rtl="0" algn="just">
                        <a:lnSpc>
                          <a:spcPct val="115000"/>
                        </a:lnSpc>
                        <a:spcBef>
                          <a:spcPts val="0"/>
                        </a:spcBef>
                        <a:spcAft>
                          <a:spcPts val="0"/>
                        </a:spcAft>
                        <a:buClr>
                          <a:srgbClr val="000000"/>
                        </a:buClr>
                        <a:buSzPts val="1800"/>
                        <a:buFont typeface="Arial"/>
                        <a:buChar char="•"/>
                      </a:pPr>
                      <a:r>
                        <a:rPr lang="en-IN" sz="2000" u="none" cap="none" strike="noStrike">
                          <a:latin typeface="Cambria"/>
                          <a:ea typeface="Cambria"/>
                          <a:cs typeface="Cambria"/>
                          <a:sym typeface="Cambria"/>
                        </a:rPr>
                        <a:t>SHG- Bank Linkage</a:t>
                      </a:r>
                      <a:endParaRPr sz="1400" u="none" cap="none" strike="noStrike"/>
                    </a:p>
                    <a:p>
                      <a:pPr indent="-285750" lvl="0" marL="285750" marR="0" rtl="0" algn="just">
                        <a:lnSpc>
                          <a:spcPct val="115000"/>
                        </a:lnSpc>
                        <a:spcBef>
                          <a:spcPts val="0"/>
                        </a:spcBef>
                        <a:spcAft>
                          <a:spcPts val="0"/>
                        </a:spcAft>
                        <a:buClr>
                          <a:srgbClr val="000000"/>
                        </a:buClr>
                        <a:buSzPts val="1800"/>
                        <a:buFont typeface="Arial"/>
                        <a:buChar char="•"/>
                      </a:pPr>
                      <a:r>
                        <a:rPr lang="en-IN" sz="2000" u="none" cap="none" strike="noStrike">
                          <a:latin typeface="Cambria"/>
                          <a:ea typeface="Cambria"/>
                          <a:cs typeface="Cambria"/>
                          <a:sym typeface="Cambria"/>
                        </a:rPr>
                        <a:t>Individual Financing- Loans (eg. Bank loan, MUDRA etc)</a:t>
                      </a:r>
                      <a:endParaRPr sz="1800" u="none" cap="none" strike="noStrike"/>
                    </a:p>
                    <a:p>
                      <a:pPr indent="-285750" lvl="0" marL="285750" marR="0" rtl="0" algn="just">
                        <a:lnSpc>
                          <a:spcPct val="115000"/>
                        </a:lnSpc>
                        <a:spcBef>
                          <a:spcPts val="0"/>
                        </a:spcBef>
                        <a:spcAft>
                          <a:spcPts val="0"/>
                        </a:spcAft>
                        <a:buClr>
                          <a:srgbClr val="000000"/>
                        </a:buClr>
                        <a:buSzPts val="1800"/>
                        <a:buFont typeface="Arial"/>
                        <a:buChar char="•"/>
                      </a:pPr>
                      <a:r>
                        <a:rPr lang="en-IN" sz="2000" u="none" cap="none" strike="noStrike">
                          <a:latin typeface="Cambria"/>
                          <a:ea typeface="Cambria"/>
                          <a:cs typeface="Cambria"/>
                          <a:sym typeface="Cambria"/>
                        </a:rPr>
                        <a:t>Schemes (State and Central Government)- Subsidy, Financing</a:t>
                      </a:r>
                      <a:endParaRPr sz="1800" u="none" cap="none" strike="noStrike"/>
                    </a:p>
                    <a:p>
                      <a:pPr indent="-285750" lvl="0" marL="285750" marR="0" rtl="0" algn="just">
                        <a:lnSpc>
                          <a:spcPct val="115000"/>
                        </a:lnSpc>
                        <a:spcBef>
                          <a:spcPts val="0"/>
                        </a:spcBef>
                        <a:spcAft>
                          <a:spcPts val="0"/>
                        </a:spcAft>
                        <a:buClr>
                          <a:srgbClr val="000000"/>
                        </a:buClr>
                        <a:buSzPts val="1800"/>
                        <a:buFont typeface="Arial"/>
                        <a:buChar char="•"/>
                      </a:pPr>
                      <a:r>
                        <a:rPr lang="en-IN" sz="2000" u="none" cap="none" strike="noStrike">
                          <a:latin typeface="Cambria"/>
                          <a:ea typeface="Cambria"/>
                          <a:cs typeface="Cambria"/>
                          <a:sym typeface="Cambria"/>
                        </a:rPr>
                        <a:t>NRLM – CBO Finance (CIF/ PG/ FPO finance etc)</a:t>
                      </a:r>
                      <a:endParaRPr sz="1400" u="none" cap="none" strike="noStrike"/>
                    </a:p>
                    <a:p>
                      <a:pPr indent="-171450" lvl="0" marL="285750" marR="0" rtl="0" algn="just">
                        <a:lnSpc>
                          <a:spcPct val="115000"/>
                        </a:lnSpc>
                        <a:spcBef>
                          <a:spcPts val="0"/>
                        </a:spcBef>
                        <a:spcAft>
                          <a:spcPts val="0"/>
                        </a:spcAft>
                        <a:buClr>
                          <a:srgbClr val="000000"/>
                        </a:buClr>
                        <a:buSzPts val="1800"/>
                        <a:buFont typeface="Arial"/>
                        <a:buNone/>
                      </a:pPr>
                      <a:r>
                        <a:t/>
                      </a:r>
                      <a:endParaRPr sz="1400" u="none" cap="none" strike="noStrike"/>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285750" lvl="0" marL="285750" marR="0" rtl="0" algn="just">
                        <a:lnSpc>
                          <a:spcPct val="115000"/>
                        </a:lnSpc>
                        <a:spcBef>
                          <a:spcPts val="0"/>
                        </a:spcBef>
                        <a:spcAft>
                          <a:spcPts val="0"/>
                        </a:spcAft>
                        <a:buClr>
                          <a:srgbClr val="000000"/>
                        </a:buClr>
                        <a:buSzPts val="2200"/>
                        <a:buFont typeface="Arial"/>
                        <a:buChar char="•"/>
                      </a:pPr>
                      <a:r>
                        <a:rPr lang="en-IN" sz="2000" u="none" cap="none" strike="noStrike">
                          <a:latin typeface="Cambria"/>
                          <a:ea typeface="Cambria"/>
                          <a:cs typeface="Cambria"/>
                          <a:sym typeface="Cambria"/>
                        </a:rPr>
                        <a:t>Access to Market through membership in Business Organisations like PG / PE/ FPO etc.</a:t>
                      </a:r>
                      <a:endParaRPr sz="1800" u="none" cap="none" strike="noStrike"/>
                    </a:p>
                    <a:p>
                      <a:pPr indent="-285750" lvl="0" marL="285750" marR="0" rtl="0" algn="just">
                        <a:lnSpc>
                          <a:spcPct val="115000"/>
                        </a:lnSpc>
                        <a:spcBef>
                          <a:spcPts val="0"/>
                        </a:spcBef>
                        <a:spcAft>
                          <a:spcPts val="0"/>
                        </a:spcAft>
                        <a:buClr>
                          <a:srgbClr val="000000"/>
                        </a:buClr>
                        <a:buSzPts val="2200"/>
                        <a:buFont typeface="Arial"/>
                        <a:buChar char="•"/>
                      </a:pPr>
                      <a:r>
                        <a:rPr lang="en-IN" sz="2000" u="none" cap="none" strike="noStrike">
                          <a:latin typeface="Cambria"/>
                          <a:ea typeface="Cambria"/>
                          <a:cs typeface="Cambria"/>
                          <a:sym typeface="Cambria"/>
                        </a:rPr>
                        <a:t>Private Sector Partnerships</a:t>
                      </a:r>
                      <a:endParaRPr sz="1800" u="none" cap="none" strike="noStrike"/>
                    </a:p>
                    <a:p>
                      <a:pPr indent="-285750" lvl="0" marL="285750" marR="0" rtl="0" algn="just">
                        <a:lnSpc>
                          <a:spcPct val="115000"/>
                        </a:lnSpc>
                        <a:spcBef>
                          <a:spcPts val="0"/>
                        </a:spcBef>
                        <a:spcAft>
                          <a:spcPts val="0"/>
                        </a:spcAft>
                        <a:buClr>
                          <a:srgbClr val="000000"/>
                        </a:buClr>
                        <a:buSzPts val="2200"/>
                        <a:buFont typeface="Arial"/>
                        <a:buChar char="•"/>
                      </a:pPr>
                      <a:r>
                        <a:rPr lang="en-IN" sz="2000" u="none" cap="none" strike="noStrike">
                          <a:latin typeface="Cambria"/>
                          <a:ea typeface="Cambria"/>
                          <a:cs typeface="Cambria"/>
                          <a:sym typeface="Cambria"/>
                        </a:rPr>
                        <a:t>Linkage with Start Ups</a:t>
                      </a:r>
                      <a:endParaRPr sz="1800" u="none" cap="none" strike="noStrike"/>
                    </a:p>
                    <a:p>
                      <a:pPr indent="-285750" lvl="0" marL="285750" marR="0" rtl="0" algn="just">
                        <a:lnSpc>
                          <a:spcPct val="115000"/>
                        </a:lnSpc>
                        <a:spcBef>
                          <a:spcPts val="0"/>
                        </a:spcBef>
                        <a:spcAft>
                          <a:spcPts val="0"/>
                        </a:spcAft>
                        <a:buClr>
                          <a:srgbClr val="000000"/>
                        </a:buClr>
                        <a:buSzPts val="2200"/>
                        <a:buFont typeface="Arial"/>
                        <a:buChar char="•"/>
                      </a:pPr>
                      <a:r>
                        <a:rPr lang="en-IN" sz="2000" u="none" cap="none" strike="noStrike">
                          <a:latin typeface="Cambria"/>
                          <a:ea typeface="Cambria"/>
                          <a:cs typeface="Cambria"/>
                          <a:sym typeface="Cambria"/>
                        </a:rPr>
                        <a:t>Public Procurement Opportunities etc.</a:t>
                      </a:r>
                      <a:endParaRPr sz="1800" u="none" cap="none" strike="noStrike"/>
                    </a:p>
                    <a:p>
                      <a:pPr indent="-285750" lvl="0" marL="285750" marR="0" rtl="0" algn="just">
                        <a:lnSpc>
                          <a:spcPct val="115000"/>
                        </a:lnSpc>
                        <a:spcBef>
                          <a:spcPts val="0"/>
                        </a:spcBef>
                        <a:spcAft>
                          <a:spcPts val="0"/>
                        </a:spcAft>
                        <a:buClr>
                          <a:srgbClr val="000000"/>
                        </a:buClr>
                        <a:buSzPts val="2200"/>
                        <a:buFont typeface="Arial"/>
                        <a:buChar char="•"/>
                      </a:pPr>
                      <a:r>
                        <a:rPr lang="en-IN" sz="2000" u="none" cap="none" strike="noStrike">
                          <a:latin typeface="Cambria"/>
                          <a:ea typeface="Cambria"/>
                          <a:cs typeface="Cambria"/>
                          <a:sym typeface="Cambria"/>
                        </a:rPr>
                        <a:t>E Commerce </a:t>
                      </a:r>
                      <a:endParaRPr sz="1800" u="none" cap="none" strike="noStrike"/>
                    </a:p>
                    <a:p>
                      <a:pPr indent="-285750" lvl="0" marL="285750" marR="0" rtl="0" algn="just">
                        <a:lnSpc>
                          <a:spcPct val="115000"/>
                        </a:lnSpc>
                        <a:spcBef>
                          <a:spcPts val="0"/>
                        </a:spcBef>
                        <a:spcAft>
                          <a:spcPts val="0"/>
                        </a:spcAft>
                        <a:buClr>
                          <a:srgbClr val="000000"/>
                        </a:buClr>
                        <a:buSzPts val="2200"/>
                        <a:buFont typeface="Arial"/>
                        <a:buChar char="•"/>
                      </a:pPr>
                      <a:r>
                        <a:rPr lang="en-IN" sz="2000" u="none" cap="none" strike="noStrike">
                          <a:latin typeface="Cambria"/>
                          <a:ea typeface="Cambria"/>
                          <a:cs typeface="Cambria"/>
                          <a:sym typeface="Cambria"/>
                        </a:rPr>
                        <a:t>Rural Marts etc</a:t>
                      </a:r>
                      <a:endParaRPr sz="2000" u="none" cap="none" strike="noStrike">
                        <a:latin typeface="Cambria"/>
                        <a:ea typeface="Cambria"/>
                        <a:cs typeface="Cambria"/>
                        <a:sym typeface="Cambria"/>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bl>
          </a:graphicData>
        </a:graphic>
      </p:graphicFrame>
      <p:sp>
        <p:nvSpPr>
          <p:cNvPr id="266" name="Google Shape;266;p48"/>
          <p:cNvSpPr txBox="1"/>
          <p:nvPr/>
        </p:nvSpPr>
        <p:spPr>
          <a:xfrm>
            <a:off x="2708888" y="5630725"/>
            <a:ext cx="8830200" cy="65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Note: In addition to the equipment and Infrastructure, one must identify different inputs for the Livelihood activity. Eg. Seed, Fertilizer etc in farming activities, Medicines, fee and fodder for Livestock etc. </a:t>
            </a:r>
            <a:endParaRPr b="0" i="0" sz="1400" u="none" cap="none" strike="noStrike">
              <a:solidFill>
                <a:srgbClr val="000000"/>
              </a:solidFill>
              <a:latin typeface="Arial"/>
              <a:ea typeface="Arial"/>
              <a:cs typeface="Arial"/>
              <a:sym typeface="Arial"/>
            </a:endParaRPr>
          </a:p>
        </p:txBody>
      </p:sp>
      <p:sp>
        <p:nvSpPr>
          <p:cNvPr id="267" name="Google Shape;267;p48"/>
          <p:cNvSpPr/>
          <p:nvPr/>
        </p:nvSpPr>
        <p:spPr>
          <a:xfrm>
            <a:off x="31158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68" name="Google Shape;268;p48"/>
          <p:cNvSpPr/>
          <p:nvPr/>
        </p:nvSpPr>
        <p:spPr>
          <a:xfrm>
            <a:off x="5295816" y="6249575"/>
            <a:ext cx="20625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69" name="Google Shape;269;p48"/>
          <p:cNvSpPr/>
          <p:nvPr/>
        </p:nvSpPr>
        <p:spPr>
          <a:xfrm>
            <a:off x="7340642"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70" name="Google Shape;270;p48"/>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9"/>
          <p:cNvSpPr/>
          <p:nvPr/>
        </p:nvSpPr>
        <p:spPr>
          <a:xfrm>
            <a:off x="2687217" y="2062064"/>
            <a:ext cx="8154954" cy="2547257"/>
          </a:xfrm>
          <a:prstGeom prst="rect">
            <a:avLst/>
          </a:prstGeom>
          <a:solidFill>
            <a:schemeClr val="accent3"/>
          </a:solidFill>
          <a:ln cap="flat" cmpd="sng" w="25400">
            <a:solidFill>
              <a:srgbClr val="247E8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0"/>
              <a:buFont typeface="Arial"/>
              <a:buNone/>
            </a:pPr>
            <a:r>
              <a:rPr b="0" i="0" lang="en-IN" sz="8000" u="none" cap="none" strike="noStrike">
                <a:solidFill>
                  <a:schemeClr val="lt1"/>
                </a:solidFill>
                <a:latin typeface="Arial"/>
                <a:ea typeface="Arial"/>
                <a:cs typeface="Arial"/>
                <a:sym typeface="Arial"/>
              </a:rPr>
              <a:t>HOW?</a:t>
            </a:r>
            <a:endParaRPr b="0" i="0" sz="1400" u="none" cap="none" strike="noStrike">
              <a:solidFill>
                <a:srgbClr val="000000"/>
              </a:solidFill>
              <a:latin typeface="Arial"/>
              <a:ea typeface="Arial"/>
              <a:cs typeface="Arial"/>
              <a:sym typeface="Arial"/>
            </a:endParaRPr>
          </a:p>
        </p:txBody>
      </p:sp>
      <p:sp>
        <p:nvSpPr>
          <p:cNvPr id="276" name="Google Shape;276;p49"/>
          <p:cNvSpPr/>
          <p:nvPr/>
        </p:nvSpPr>
        <p:spPr>
          <a:xfrm>
            <a:off x="31158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77" name="Google Shape;277;p49"/>
          <p:cNvSpPr/>
          <p:nvPr/>
        </p:nvSpPr>
        <p:spPr>
          <a:xfrm>
            <a:off x="52958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78" name="Google Shape;278;p49"/>
          <p:cNvSpPr/>
          <p:nvPr/>
        </p:nvSpPr>
        <p:spPr>
          <a:xfrm>
            <a:off x="7340642" y="62495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79" name="Google Shape;279;p49"/>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2612bcd1c6d_0_9"/>
          <p:cNvSpPr txBox="1"/>
          <p:nvPr/>
        </p:nvSpPr>
        <p:spPr>
          <a:xfrm>
            <a:off x="2095735" y="177282"/>
            <a:ext cx="9586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Arial"/>
                <a:ea typeface="Arial"/>
                <a:cs typeface="Arial"/>
                <a:sym typeface="Arial"/>
              </a:rPr>
              <a:t>Lakhpati Planning Approach </a:t>
            </a:r>
            <a:endParaRPr b="0" i="0" sz="1400" u="none" cap="none" strike="noStrike">
              <a:solidFill>
                <a:srgbClr val="000000"/>
              </a:solidFill>
              <a:latin typeface="Arial"/>
              <a:ea typeface="Arial"/>
              <a:cs typeface="Arial"/>
              <a:sym typeface="Arial"/>
            </a:endParaRPr>
          </a:p>
        </p:txBody>
      </p:sp>
      <p:graphicFrame>
        <p:nvGraphicFramePr>
          <p:cNvPr id="285" name="Google Shape;285;g2612bcd1c6d_0_9"/>
          <p:cNvGraphicFramePr/>
          <p:nvPr/>
        </p:nvGraphicFramePr>
        <p:xfrm>
          <a:off x="2304661" y="841586"/>
          <a:ext cx="3000000" cy="3000000"/>
        </p:xfrm>
        <a:graphic>
          <a:graphicData uri="http://schemas.openxmlformats.org/drawingml/2006/table">
            <a:tbl>
              <a:tblPr bandRow="1" firstCol="1" firstRow="1">
                <a:noFill/>
                <a:tableStyleId>{B36D17CA-BC20-4621-9059-3D9A24FC8C4A}</a:tableStyleId>
              </a:tblPr>
              <a:tblGrid>
                <a:gridCol w="2319550"/>
                <a:gridCol w="2352950"/>
                <a:gridCol w="4704775"/>
              </a:tblGrid>
              <a:tr h="502800">
                <a:tc>
                  <a:txBody>
                    <a:bodyPr/>
                    <a:lstStyle/>
                    <a:p>
                      <a:pPr indent="0" lvl="0" marL="0" marR="0" rtl="0" algn="l">
                        <a:lnSpc>
                          <a:spcPct val="107000"/>
                        </a:lnSpc>
                        <a:spcBef>
                          <a:spcPts val="0"/>
                        </a:spcBef>
                        <a:spcAft>
                          <a:spcPts val="0"/>
                        </a:spcAft>
                        <a:buClr>
                          <a:srgbClr val="000000"/>
                        </a:buClr>
                        <a:buSzPts val="2400"/>
                        <a:buFont typeface="Arial"/>
                        <a:buNone/>
                      </a:pPr>
                      <a:r>
                        <a:rPr lang="en-IN" sz="2300" u="none" cap="none" strike="noStrike"/>
                        <a:t> </a:t>
                      </a:r>
                      <a:endParaRPr sz="19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2400"/>
                        <a:buFont typeface="Arial"/>
                        <a:buNone/>
                      </a:pPr>
                      <a:r>
                        <a:rPr lang="en-IN" sz="2300" u="none" cap="none" strike="noStrike"/>
                        <a:t>From</a:t>
                      </a:r>
                      <a:endParaRPr sz="19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Clr>
                          <a:srgbClr val="000000"/>
                        </a:buClr>
                        <a:buSzPts val="2400"/>
                        <a:buFont typeface="Arial"/>
                        <a:buNone/>
                      </a:pPr>
                      <a:r>
                        <a:rPr lang="en-IN" sz="2300" u="none" cap="none" strike="noStrike"/>
                        <a:t>To </a:t>
                      </a:r>
                      <a:endParaRPr sz="1900" u="none" cap="none" strike="noStrike">
                        <a:latin typeface="Calibri"/>
                        <a:ea typeface="Calibri"/>
                        <a:cs typeface="Calibri"/>
                        <a:sym typeface="Calibri"/>
                      </a:endParaRPr>
                    </a:p>
                  </a:txBody>
                  <a:tcPr marT="0" marB="0" marR="68575" marL="68575"/>
                </a:tc>
              </a:tr>
              <a:tr h="1213150">
                <a:tc>
                  <a:txBody>
                    <a:bodyPr/>
                    <a:lstStyle/>
                    <a:p>
                      <a:pPr indent="0" lvl="0" marL="0" marR="0" rtl="0" algn="l">
                        <a:lnSpc>
                          <a:spcPct val="107000"/>
                        </a:lnSpc>
                        <a:spcBef>
                          <a:spcPts val="0"/>
                        </a:spcBef>
                        <a:spcAft>
                          <a:spcPts val="0"/>
                        </a:spcAft>
                        <a:buClr>
                          <a:srgbClr val="000000"/>
                        </a:buClr>
                        <a:buSzPts val="2000"/>
                        <a:buFont typeface="Arial"/>
                        <a:buNone/>
                      </a:pPr>
                      <a:r>
                        <a:rPr lang="en-IN" sz="1900" u="none" cap="none" strike="noStrike"/>
                        <a:t>Enhancing Returns of exiting LH activity</a:t>
                      </a:r>
                      <a:endParaRPr sz="17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000"/>
                        <a:buFont typeface="Arial"/>
                        <a:buNone/>
                      </a:pPr>
                      <a:r>
                        <a:rPr b="1" lang="en-IN" sz="1900" u="none" cap="none" strike="noStrike"/>
                        <a:t>Conventional Practices</a:t>
                      </a:r>
                      <a:endParaRPr b="1" sz="17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336550" lvl="0" marL="342900" marR="0" rtl="0" algn="l">
                        <a:lnSpc>
                          <a:spcPct val="107000"/>
                        </a:lnSpc>
                        <a:spcBef>
                          <a:spcPts val="0"/>
                        </a:spcBef>
                        <a:spcAft>
                          <a:spcPts val="0"/>
                        </a:spcAft>
                        <a:buClr>
                          <a:srgbClr val="000000"/>
                        </a:buClr>
                        <a:buSzPts val="1900"/>
                        <a:buFont typeface="Arial"/>
                        <a:buChar char="•"/>
                      </a:pPr>
                      <a:r>
                        <a:rPr lang="en-IN" sz="1900" u="none" cap="none" strike="noStrike"/>
                        <a:t>Appropriate practices</a:t>
                      </a:r>
                      <a:endParaRPr sz="1900" u="none" cap="none" strike="noStrike"/>
                    </a:p>
                    <a:p>
                      <a:pPr indent="-336550" lvl="0" marL="342900" marR="0" rtl="0" algn="l">
                        <a:lnSpc>
                          <a:spcPct val="107000"/>
                        </a:lnSpc>
                        <a:spcBef>
                          <a:spcPts val="0"/>
                        </a:spcBef>
                        <a:spcAft>
                          <a:spcPts val="0"/>
                        </a:spcAft>
                        <a:buClr>
                          <a:srgbClr val="000000"/>
                        </a:buClr>
                        <a:buSzPts val="1900"/>
                        <a:buFont typeface="Arial"/>
                        <a:buChar char="•"/>
                      </a:pPr>
                      <a:r>
                        <a:rPr lang="en-IN" sz="1900" u="none" cap="none" strike="noStrike"/>
                        <a:t>Tech adoption</a:t>
                      </a:r>
                      <a:endParaRPr sz="1900" u="none" cap="none" strike="noStrike"/>
                    </a:p>
                    <a:p>
                      <a:pPr indent="-336550" lvl="0" marL="342900" marR="0" rtl="0" algn="l">
                        <a:lnSpc>
                          <a:spcPct val="107000"/>
                        </a:lnSpc>
                        <a:spcBef>
                          <a:spcPts val="0"/>
                        </a:spcBef>
                        <a:spcAft>
                          <a:spcPts val="0"/>
                        </a:spcAft>
                        <a:buClr>
                          <a:srgbClr val="000000"/>
                        </a:buClr>
                        <a:buSzPts val="1900"/>
                        <a:buFont typeface="Arial"/>
                        <a:buChar char="•"/>
                      </a:pPr>
                      <a:r>
                        <a:rPr lang="en-IN" sz="1900" u="none" cap="none" strike="noStrike"/>
                        <a:t>Value addition (primary &amp; secondary)</a:t>
                      </a:r>
                      <a:endParaRPr sz="1900" u="none" cap="none" strike="noStrike"/>
                    </a:p>
                    <a:p>
                      <a:pPr indent="-336550" lvl="0" marL="342900" marR="0" rtl="0" algn="l">
                        <a:lnSpc>
                          <a:spcPct val="107000"/>
                        </a:lnSpc>
                        <a:spcBef>
                          <a:spcPts val="0"/>
                        </a:spcBef>
                        <a:spcAft>
                          <a:spcPts val="0"/>
                        </a:spcAft>
                        <a:buClr>
                          <a:srgbClr val="000000"/>
                        </a:buClr>
                        <a:buSzPts val="1900"/>
                        <a:buFont typeface="Arial"/>
                        <a:buChar char="•"/>
                      </a:pPr>
                      <a:r>
                        <a:rPr lang="en-IN" sz="1900" u="none" cap="none" strike="noStrike"/>
                        <a:t>Market, including social media</a:t>
                      </a:r>
                      <a:endParaRPr sz="1900" u="none" cap="none" strike="noStrike"/>
                    </a:p>
                  </a:txBody>
                  <a:tcPr marT="0" marB="0" marR="68575" marL="68575">
                    <a:lnB cap="flat" cmpd="sng" w="12700">
                      <a:solidFill>
                        <a:schemeClr val="lt1"/>
                      </a:solidFill>
                      <a:prstDash val="solid"/>
                      <a:round/>
                      <a:headEnd len="sm" w="sm" type="none"/>
                      <a:tailEnd len="sm" w="sm" type="none"/>
                    </a:lnB>
                  </a:tcPr>
                </a:tc>
              </a:tr>
              <a:tr h="1562450">
                <a:tc>
                  <a:txBody>
                    <a:bodyPr/>
                    <a:lstStyle/>
                    <a:p>
                      <a:pPr indent="0" lvl="0" marL="0" marR="0" rtl="0" algn="l">
                        <a:lnSpc>
                          <a:spcPct val="107000"/>
                        </a:lnSpc>
                        <a:spcBef>
                          <a:spcPts val="0"/>
                        </a:spcBef>
                        <a:spcAft>
                          <a:spcPts val="0"/>
                        </a:spcAft>
                        <a:buClr>
                          <a:srgbClr val="000000"/>
                        </a:buClr>
                        <a:buSzPts val="2000"/>
                        <a:buFont typeface="Arial"/>
                        <a:buNone/>
                      </a:pPr>
                      <a:r>
                        <a:rPr lang="en-IN" sz="1900" u="none" cap="none" strike="noStrike"/>
                        <a:t>Diversification for Sustained returns </a:t>
                      </a:r>
                      <a:endParaRPr sz="17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000"/>
                        <a:buFont typeface="Arial"/>
                        <a:buNone/>
                      </a:pPr>
                      <a:r>
                        <a:rPr lang="en-IN" sz="1900" u="none" cap="none" strike="noStrike"/>
                        <a:t>Single Activity, intermittent income, high vulnerability</a:t>
                      </a:r>
                      <a:endParaRPr sz="17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000"/>
                        <a:buFont typeface="Arial"/>
                        <a:buNone/>
                      </a:pPr>
                      <a:r>
                        <a:rPr b="1" lang="en-IN" sz="1900" u="none" cap="none" strike="noStrike"/>
                        <a:t>Multiple Activities</a:t>
                      </a:r>
                      <a:endParaRPr sz="1300" u="none" cap="none" strike="noStrike"/>
                    </a:p>
                    <a:p>
                      <a:pPr indent="-336550" lvl="0" marL="342900" marR="0" rtl="0" algn="l">
                        <a:lnSpc>
                          <a:spcPct val="107000"/>
                        </a:lnSpc>
                        <a:spcBef>
                          <a:spcPts val="0"/>
                        </a:spcBef>
                        <a:spcAft>
                          <a:spcPts val="0"/>
                        </a:spcAft>
                        <a:buClr>
                          <a:srgbClr val="000000"/>
                        </a:buClr>
                        <a:buSzPts val="1900"/>
                        <a:buFont typeface="Arial"/>
                        <a:buChar char="•"/>
                      </a:pPr>
                      <a:r>
                        <a:rPr b="1" lang="en-IN" sz="1900" u="none" cap="none" strike="noStrike"/>
                        <a:t>Additional activity- </a:t>
                      </a:r>
                      <a:r>
                        <a:rPr b="0" lang="en-IN" sz="1900" u="none" cap="none" strike="noStrike"/>
                        <a:t>Agriculture/ Horticulture/ Livestock/ NTFP/ Enterprise</a:t>
                      </a:r>
                      <a:endParaRPr b="0" sz="1900" u="none" cap="none" strike="noStrike"/>
                    </a:p>
                    <a:p>
                      <a:pPr indent="-336550" lvl="0" marL="342900" marR="0" rtl="0" algn="l">
                        <a:lnSpc>
                          <a:spcPct val="107000"/>
                        </a:lnSpc>
                        <a:spcBef>
                          <a:spcPts val="0"/>
                        </a:spcBef>
                        <a:spcAft>
                          <a:spcPts val="0"/>
                        </a:spcAft>
                        <a:buClr>
                          <a:srgbClr val="000000"/>
                        </a:buClr>
                        <a:buSzPts val="1900"/>
                        <a:buFont typeface="Arial"/>
                        <a:buChar char="•"/>
                      </a:pPr>
                      <a:r>
                        <a:rPr lang="en-IN" sz="1900" u="none" cap="none" strike="noStrike"/>
                        <a:t>Regular income, reduced vulnerability</a:t>
                      </a:r>
                      <a:endParaRPr sz="1900" u="none" cap="none" strike="noStrike"/>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1301350">
                <a:tc>
                  <a:txBody>
                    <a:bodyPr/>
                    <a:lstStyle/>
                    <a:p>
                      <a:pPr indent="0" lvl="0" marL="0" marR="0" rtl="0" algn="l">
                        <a:lnSpc>
                          <a:spcPct val="107000"/>
                        </a:lnSpc>
                        <a:spcBef>
                          <a:spcPts val="0"/>
                        </a:spcBef>
                        <a:spcAft>
                          <a:spcPts val="0"/>
                        </a:spcAft>
                        <a:buClr>
                          <a:srgbClr val="000000"/>
                        </a:buClr>
                        <a:buSzPts val="2000"/>
                        <a:buFont typeface="Arial"/>
                        <a:buNone/>
                      </a:pPr>
                      <a:r>
                        <a:rPr lang="en-IN" sz="1900" u="none" cap="none" strike="noStrike"/>
                        <a:t>Environmental Sustainability</a:t>
                      </a:r>
                      <a:endParaRPr sz="17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000"/>
                        <a:buFont typeface="Arial"/>
                        <a:buNone/>
                      </a:pPr>
                      <a:r>
                        <a:rPr lang="en-IN" sz="1900" u="none" cap="none" strike="noStrike"/>
                        <a:t>High dependency on resources and chemicals</a:t>
                      </a:r>
                      <a:endParaRPr sz="17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349250" lvl="0" marL="457200" marR="0" rtl="0" algn="l">
                        <a:lnSpc>
                          <a:spcPct val="107000"/>
                        </a:lnSpc>
                        <a:spcBef>
                          <a:spcPts val="0"/>
                        </a:spcBef>
                        <a:spcAft>
                          <a:spcPts val="0"/>
                        </a:spcAft>
                        <a:buClr>
                          <a:srgbClr val="000000"/>
                        </a:buClr>
                        <a:buSzPts val="1900"/>
                        <a:buFont typeface="Arial"/>
                        <a:buChar char="●"/>
                      </a:pPr>
                      <a:r>
                        <a:rPr lang="en-IN" sz="1900" u="none" cap="none" strike="noStrike"/>
                        <a:t>Natural and </a:t>
                      </a:r>
                      <a:endParaRPr sz="1900" u="none" cap="none" strike="noStrike"/>
                    </a:p>
                    <a:p>
                      <a:pPr indent="-349250" lvl="0" marL="457200" marR="0" rtl="0" algn="l">
                        <a:lnSpc>
                          <a:spcPct val="107000"/>
                        </a:lnSpc>
                        <a:spcBef>
                          <a:spcPts val="0"/>
                        </a:spcBef>
                        <a:spcAft>
                          <a:spcPts val="0"/>
                        </a:spcAft>
                        <a:buClr>
                          <a:srgbClr val="000000"/>
                        </a:buClr>
                        <a:buSzPts val="1900"/>
                        <a:buFont typeface="Arial"/>
                        <a:buChar char="●"/>
                      </a:pPr>
                      <a:r>
                        <a:rPr lang="en-IN" sz="1900" u="none" cap="none" strike="noStrike"/>
                        <a:t>Organic approaches</a:t>
                      </a:r>
                      <a:endParaRPr sz="17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461425">
                <a:tc>
                  <a:txBody>
                    <a:bodyPr/>
                    <a:lstStyle/>
                    <a:p>
                      <a:pPr indent="0" lvl="0" marL="0" marR="0" rtl="0" algn="l">
                        <a:lnSpc>
                          <a:spcPct val="107000"/>
                        </a:lnSpc>
                        <a:spcBef>
                          <a:spcPts val="0"/>
                        </a:spcBef>
                        <a:spcAft>
                          <a:spcPts val="0"/>
                        </a:spcAft>
                        <a:buClr>
                          <a:srgbClr val="000000"/>
                        </a:buClr>
                        <a:buSzPts val="1900"/>
                        <a:buFont typeface="Arial"/>
                        <a:buNone/>
                      </a:pPr>
                      <a:r>
                        <a:rPr lang="en-IN" sz="1900" u="none" cap="none" strike="noStrike"/>
                        <a:t>Social Security</a:t>
                      </a:r>
                      <a:endParaRPr sz="1900" u="none" cap="none" strike="noStrike"/>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1900"/>
                        <a:buFont typeface="Arial"/>
                        <a:buNone/>
                      </a:pPr>
                      <a:r>
                        <a:rPr lang="en-IN" sz="1900" u="none" cap="none" strike="noStrike"/>
                        <a:t>Fallback Support System for reducing vulnerability</a:t>
                      </a:r>
                      <a:endParaRPr sz="1900" u="none" cap="none" strike="noStrike"/>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49250" lvl="0" marL="457200" marR="0" rtl="0" algn="l">
                        <a:lnSpc>
                          <a:spcPct val="107000"/>
                        </a:lnSpc>
                        <a:spcBef>
                          <a:spcPts val="0"/>
                        </a:spcBef>
                        <a:spcAft>
                          <a:spcPts val="0"/>
                        </a:spcAft>
                        <a:buClr>
                          <a:srgbClr val="000000"/>
                        </a:buClr>
                        <a:buSzPts val="1900"/>
                        <a:buFont typeface="Arial"/>
                        <a:buChar char="●"/>
                      </a:pPr>
                      <a:r>
                        <a:rPr lang="en-IN" sz="1900" u="none" cap="none" strike="noStrike"/>
                        <a:t>Insurance, Pension, Employment Guarantee</a:t>
                      </a:r>
                      <a:endParaRPr sz="1900" u="none" cap="none" strike="noStrike"/>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286" name="Google Shape;286;g2612bcd1c6d_0_9"/>
          <p:cNvSpPr/>
          <p:nvPr/>
        </p:nvSpPr>
        <p:spPr>
          <a:xfrm>
            <a:off x="3115800" y="63257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87" name="Google Shape;287;g2612bcd1c6d_0_9"/>
          <p:cNvSpPr/>
          <p:nvPr/>
        </p:nvSpPr>
        <p:spPr>
          <a:xfrm>
            <a:off x="5295816" y="63257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88" name="Google Shape;288;g2612bcd1c6d_0_9"/>
          <p:cNvSpPr/>
          <p:nvPr/>
        </p:nvSpPr>
        <p:spPr>
          <a:xfrm>
            <a:off x="7340642" y="63257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289" name="Google Shape;289;g2612bcd1c6d_0_9"/>
          <p:cNvSpPr/>
          <p:nvPr/>
        </p:nvSpPr>
        <p:spPr>
          <a:xfrm>
            <a:off x="9240034" y="63257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aphicFrame>
        <p:nvGraphicFramePr>
          <p:cNvPr id="295" name="Google Shape;295;g262123cd132_0_0"/>
          <p:cNvGraphicFramePr/>
          <p:nvPr/>
        </p:nvGraphicFramePr>
        <p:xfrm>
          <a:off x="2118075" y="455350"/>
          <a:ext cx="3000000" cy="3000000"/>
        </p:xfrm>
        <a:graphic>
          <a:graphicData uri="http://schemas.openxmlformats.org/drawingml/2006/table">
            <a:tbl>
              <a:tblPr>
                <a:noFill/>
                <a:tableStyleId>{4F2DF9DA-3228-4AEA-978D-7552B1BEB1B3}</a:tableStyleId>
              </a:tblPr>
              <a:tblGrid>
                <a:gridCol w="863225"/>
                <a:gridCol w="3922625"/>
                <a:gridCol w="2539525"/>
                <a:gridCol w="2539525"/>
              </a:tblGrid>
              <a:tr h="728800">
                <a:tc gridSpan="4">
                  <a:txBody>
                    <a:bodyPr/>
                    <a:lstStyle/>
                    <a:p>
                      <a:pPr indent="0" lvl="0" marL="0" marR="0" rtl="0" algn="l">
                        <a:lnSpc>
                          <a:spcPct val="100000"/>
                        </a:lnSpc>
                        <a:spcBef>
                          <a:spcPts val="0"/>
                        </a:spcBef>
                        <a:spcAft>
                          <a:spcPts val="0"/>
                        </a:spcAft>
                        <a:buClr>
                          <a:srgbClr val="000000"/>
                        </a:buClr>
                        <a:buSzPts val="2700"/>
                        <a:buFont typeface="Arial"/>
                        <a:buNone/>
                      </a:pPr>
                      <a:r>
                        <a:rPr b="1" lang="en-IN" sz="2700" u="none" cap="none" strike="noStrike"/>
                        <a:t>Diversified livelihood planning</a:t>
                      </a:r>
                      <a:endParaRPr b="1" sz="2700" u="none" cap="none" strike="noStrike"/>
                    </a:p>
                  </a:txBody>
                  <a:tcPr marT="91425" marB="91425" marR="91425" marL="91425"/>
                </a:tc>
                <a:tc hMerge="1"/>
                <a:tc hMerge="1"/>
                <a:tc hMerge="1"/>
              </a:tr>
              <a:tr h="6787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Sl No</a:t>
                      </a:r>
                      <a:endParaRPr sz="18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t>Activities</a:t>
                      </a:r>
                      <a:endParaRPr b="1" sz="18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t>Units</a:t>
                      </a:r>
                      <a:endParaRPr b="1" sz="18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t>Net income</a:t>
                      </a:r>
                      <a:endParaRPr b="1" sz="1800" u="none" cap="none" strike="noStrike"/>
                    </a:p>
                    <a:p>
                      <a:pPr indent="0" lvl="0" marL="0" marR="0" rtl="0" algn="l">
                        <a:lnSpc>
                          <a:spcPct val="100000"/>
                        </a:lnSpc>
                        <a:spcBef>
                          <a:spcPts val="0"/>
                        </a:spcBef>
                        <a:spcAft>
                          <a:spcPts val="0"/>
                        </a:spcAft>
                        <a:buClr>
                          <a:srgbClr val="000000"/>
                        </a:buClr>
                        <a:buSzPts val="1800"/>
                        <a:buFont typeface="Arial"/>
                        <a:buNone/>
                      </a:pPr>
                      <a:r>
                        <a:rPr b="1" lang="en-IN" sz="1800" u="none" cap="none" strike="noStrike"/>
                        <a:t>(Rs/month)</a:t>
                      </a:r>
                      <a:endParaRPr b="1" sz="1800" u="none" cap="none" strike="noStrike"/>
                    </a:p>
                  </a:txBody>
                  <a:tcPr marT="91425" marB="91425" marR="91425" marL="91425"/>
                </a:tc>
              </a:tr>
              <a:tr h="5921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Fishery/poultry/goatry</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One unit each</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25-30,000</a:t>
                      </a:r>
                      <a:endParaRPr sz="1900" u="none" cap="none" strike="noStrike"/>
                    </a:p>
                  </a:txBody>
                  <a:tcPr marT="91425" marB="91425" marR="91425" marL="91425"/>
                </a:tc>
              </a:tr>
              <a:tr h="5921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Didi Cafe/footwear store</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IN" sz="1900" u="none" cap="none" strike="noStrike">
                          <a:solidFill>
                            <a:schemeClr val="dk1"/>
                          </a:solidFill>
                        </a:rPr>
                        <a:t>One unit each</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15-20,000</a:t>
                      </a:r>
                      <a:endParaRPr sz="1900" u="none" cap="none" strike="noStrike"/>
                    </a:p>
                  </a:txBody>
                  <a:tcPr marT="91425" marB="91425" marR="91425" marL="91425"/>
                </a:tc>
              </a:tr>
              <a:tr h="911000">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Fishery/poultry/vegetable/dairy/mustard oil processing</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IN" sz="1900" u="none" cap="none" strike="noStrike">
                          <a:solidFill>
                            <a:schemeClr val="dk1"/>
                          </a:solidFill>
                        </a:rPr>
                        <a:t>One unit each</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80,000</a:t>
                      </a:r>
                      <a:endParaRPr sz="1900" u="none" cap="none" strike="noStrike"/>
                    </a:p>
                  </a:txBody>
                  <a:tcPr marT="91425" marB="91425" marR="91425" marL="91425"/>
                </a:tc>
              </a:tr>
              <a:tr h="5921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Veg farming/fish farming</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IN" sz="1900" u="none" cap="none" strike="noStrike">
                          <a:solidFill>
                            <a:schemeClr val="dk1"/>
                          </a:solidFill>
                        </a:rPr>
                        <a:t>One unit each</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20,000</a:t>
                      </a:r>
                      <a:endParaRPr sz="1900" u="none" cap="none" strike="noStrike"/>
                    </a:p>
                  </a:txBody>
                  <a:tcPr marT="91425" marB="91425" marR="91425" marL="91425"/>
                </a:tc>
              </a:tr>
              <a:tr h="5921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5</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Goatery/woolen products</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IN" sz="1900" u="none" cap="none" strike="noStrike">
                          <a:solidFill>
                            <a:schemeClr val="dk1"/>
                          </a:solidFill>
                        </a:rPr>
                        <a:t>One unit each</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25-30,000</a:t>
                      </a:r>
                      <a:endParaRPr sz="1900" u="none" cap="none" strike="noStrike"/>
                    </a:p>
                  </a:txBody>
                  <a:tcPr marT="91425" marB="91425" marR="91425" marL="91425"/>
                </a:tc>
              </a:tr>
              <a:tr h="5921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Agriculture/Fisheries/Livestock</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IN" sz="1900" u="none" cap="none" strike="noStrike">
                          <a:solidFill>
                            <a:schemeClr val="dk1"/>
                          </a:solidFill>
                        </a:rPr>
                        <a:t>One unit each</a:t>
                      </a:r>
                      <a:endParaRPr sz="19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10,000</a:t>
                      </a:r>
                      <a:endParaRPr sz="1900" u="none" cap="none" strike="noStrike"/>
                    </a:p>
                  </a:txBody>
                  <a:tcPr marT="91425" marB="91425" marR="91425" marL="91425"/>
                </a:tc>
              </a:tr>
            </a:tbl>
          </a:graphicData>
        </a:graphic>
      </p:graphicFrame>
      <p:sp>
        <p:nvSpPr>
          <p:cNvPr id="296" name="Google Shape;296;g262123cd132_0_0"/>
          <p:cNvSpPr/>
          <p:nvPr/>
        </p:nvSpPr>
        <p:spPr>
          <a:xfrm>
            <a:off x="2118075" y="5722425"/>
            <a:ext cx="5134200" cy="37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900" u="none" cap="none" strike="noStrike">
                <a:solidFill>
                  <a:srgbClr val="000000"/>
                </a:solidFill>
                <a:latin typeface="Arial"/>
                <a:ea typeface="Arial"/>
                <a:cs typeface="Arial"/>
                <a:sym typeface="Arial"/>
              </a:rPr>
              <a:t>Source: Cases submitted by SRLMs</a:t>
            </a:r>
            <a:endParaRPr b="1" i="0" sz="1900" u="none" cap="none" strike="noStrike">
              <a:solidFill>
                <a:srgbClr val="000000"/>
              </a:solidFill>
              <a:latin typeface="Arial"/>
              <a:ea typeface="Arial"/>
              <a:cs typeface="Arial"/>
              <a:sym typeface="Arial"/>
            </a:endParaRPr>
          </a:p>
        </p:txBody>
      </p:sp>
      <p:sp>
        <p:nvSpPr>
          <p:cNvPr id="297" name="Google Shape;297;g262123cd132_0_0"/>
          <p:cNvSpPr/>
          <p:nvPr/>
        </p:nvSpPr>
        <p:spPr>
          <a:xfrm>
            <a:off x="31158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298" name="Google Shape;298;g262123cd132_0_0"/>
          <p:cNvSpPr/>
          <p:nvPr/>
        </p:nvSpPr>
        <p:spPr>
          <a:xfrm>
            <a:off x="52958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299" name="Google Shape;299;g262123cd132_0_0"/>
          <p:cNvSpPr/>
          <p:nvPr/>
        </p:nvSpPr>
        <p:spPr>
          <a:xfrm>
            <a:off x="7340642" y="62495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300" name="Google Shape;300;g262123cd132_0_0"/>
          <p:cNvSpPr/>
          <p:nvPr/>
        </p:nvSpPr>
        <p:spPr>
          <a:xfrm>
            <a:off x="9240034" y="6249575"/>
            <a:ext cx="1940700" cy="507600"/>
          </a:xfrm>
          <a:prstGeom prst="round2SameRect">
            <a:avLst>
              <a:gd fmla="val 16667" name="adj1"/>
              <a:gd fmla="val 0" name="adj2"/>
            </a:avLst>
          </a:prstGeom>
          <a:solidFill>
            <a:srgbClr val="DEDEDE"/>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264398da943_0_0"/>
          <p:cNvSpPr txBox="1"/>
          <p:nvPr/>
        </p:nvSpPr>
        <p:spPr>
          <a:xfrm>
            <a:off x="3214700" y="1178725"/>
            <a:ext cx="7965300" cy="38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4800"/>
              <a:t>Lakhpati Livelihoods models</a:t>
            </a:r>
            <a:endParaRPr sz="4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5"/>
          <p:cNvSpPr txBox="1"/>
          <p:nvPr>
            <p:ph idx="1" type="body"/>
          </p:nvPr>
        </p:nvSpPr>
        <p:spPr>
          <a:xfrm>
            <a:off x="836612" y="1536411"/>
            <a:ext cx="5157787" cy="4921972"/>
          </a:xfrm>
          <a:prstGeom prst="rect">
            <a:avLst/>
          </a:prstGeom>
          <a:noFill/>
          <a:ln>
            <a:noFill/>
          </a:ln>
        </p:spPr>
        <p:txBody>
          <a:bodyPr anchorCtr="0" anchor="t" bIns="45700" lIns="91425" spcFirstLastPara="1" rIns="91425" wrap="square" tIns="45700">
            <a:normAutofit/>
          </a:bodyPr>
          <a:lstStyle/>
          <a:p>
            <a:pPr indent="0" lvl="0" marL="0" rtl="0" algn="l">
              <a:lnSpc>
                <a:spcPct val="107000"/>
              </a:lnSpc>
              <a:spcBef>
                <a:spcPts val="0"/>
              </a:spcBef>
              <a:spcAft>
                <a:spcPts val="0"/>
              </a:spcAft>
              <a:buSzPts val="1800"/>
              <a:buNone/>
            </a:pPr>
            <a:r>
              <a:t/>
            </a:r>
            <a:endParaRPr sz="1800">
              <a:latin typeface="Calibri"/>
              <a:ea typeface="Calibri"/>
              <a:cs typeface="Calibri"/>
              <a:sym typeface="Calibri"/>
            </a:endParaRPr>
          </a:p>
          <a:p>
            <a:pPr indent="0" lvl="0" marL="292100" marR="80010" rtl="0" algn="just">
              <a:lnSpc>
                <a:spcPct val="115000"/>
              </a:lnSpc>
              <a:spcBef>
                <a:spcPts val="80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sz="1400"/>
          </a:p>
        </p:txBody>
      </p:sp>
      <p:sp>
        <p:nvSpPr>
          <p:cNvPr id="312" name="Google Shape;312;p55"/>
          <p:cNvSpPr txBox="1"/>
          <p:nvPr/>
        </p:nvSpPr>
        <p:spPr>
          <a:xfrm>
            <a:off x="103909" y="800100"/>
            <a:ext cx="732703" cy="454082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55"/>
          <p:cNvSpPr txBox="1"/>
          <p:nvPr/>
        </p:nvSpPr>
        <p:spPr>
          <a:xfrm>
            <a:off x="706074" y="1275132"/>
            <a:ext cx="5546944"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Arial"/>
                <a:ea typeface="Arial"/>
                <a:cs typeface="Arial"/>
                <a:sym typeface="Arial"/>
              </a:rPr>
              <a:t>Name – Aparna Deb, Khushi Mohila Dal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Arial"/>
                <a:ea typeface="Arial"/>
                <a:cs typeface="Arial"/>
                <a:sym typeface="Arial"/>
              </a:rPr>
              <a:t>Activity - </a:t>
            </a:r>
            <a:r>
              <a:rPr b="1" i="0" lang="en-IN" sz="2400" u="none" cap="none" strike="noStrike">
                <a:solidFill>
                  <a:srgbClr val="000000"/>
                </a:solidFill>
                <a:latin typeface="Arial"/>
                <a:ea typeface="Arial"/>
                <a:cs typeface="Arial"/>
                <a:sym typeface="Arial"/>
              </a:rPr>
              <a:t>Poultry, Fishery, Goatery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Arial"/>
                <a:ea typeface="Arial"/>
                <a:cs typeface="Arial"/>
                <a:sym typeface="Arial"/>
              </a:rPr>
              <a:t>Steps which were game changer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1" sz="2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IN" sz="2400" u="none" cap="none" strike="noStrike">
                <a:solidFill>
                  <a:srgbClr val="000000"/>
                </a:solidFill>
                <a:latin typeface="Arial"/>
                <a:ea typeface="Arial"/>
                <a:cs typeface="Arial"/>
                <a:sym typeface="Arial"/>
              </a:rPr>
              <a:t>Rs.2.9 lakh financing in multiple doses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IN" sz="2400" u="none" cap="none" strike="noStrike">
                <a:solidFill>
                  <a:srgbClr val="000000"/>
                </a:solidFill>
                <a:latin typeface="Arial"/>
                <a:ea typeface="Arial"/>
                <a:cs typeface="Arial"/>
                <a:sym typeface="Arial"/>
              </a:rPr>
              <a:t>Training and capacity building</a:t>
            </a:r>
            <a:endParaRPr b="0" i="0" sz="2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IN" sz="2400" u="none" cap="none" strike="noStrike">
                <a:solidFill>
                  <a:srgbClr val="000000"/>
                </a:solidFill>
                <a:latin typeface="Arial"/>
                <a:ea typeface="Arial"/>
                <a:cs typeface="Arial"/>
                <a:sym typeface="Arial"/>
              </a:rPr>
              <a:t>Diversified livelihood activities</a:t>
            </a:r>
            <a:endParaRPr b="0" i="1" sz="2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IN" sz="2400" u="none" cap="none" strike="noStrike">
                <a:solidFill>
                  <a:srgbClr val="000000"/>
                </a:solidFill>
                <a:latin typeface="Arial"/>
                <a:ea typeface="Arial"/>
                <a:cs typeface="Arial"/>
                <a:sym typeface="Arial"/>
              </a:rPr>
              <a:t>Earning </a:t>
            </a:r>
            <a:r>
              <a:rPr b="1" i="0" lang="en-IN" sz="2400" u="none" cap="none" strike="noStrike">
                <a:solidFill>
                  <a:schemeClr val="accent1"/>
                </a:solidFill>
                <a:latin typeface="Arial"/>
                <a:ea typeface="Arial"/>
                <a:cs typeface="Arial"/>
                <a:sym typeface="Arial"/>
              </a:rPr>
              <a:t>~Rs.20,000- 35,000/- per month </a:t>
            </a:r>
            <a:r>
              <a:rPr b="0" i="0" lang="en-IN" sz="2400" u="none" cap="none" strike="noStrike">
                <a:solidFill>
                  <a:srgbClr val="000000"/>
                </a:solidFill>
                <a:latin typeface="Arial"/>
                <a:ea typeface="Arial"/>
                <a:cs typeface="Arial"/>
                <a:sym typeface="Arial"/>
              </a:rPr>
              <a:t>from multiple livelihoods</a:t>
            </a:r>
            <a:endParaRPr b="0" i="1" sz="2400" u="none" cap="none" strike="noStrike">
              <a:solidFill>
                <a:srgbClr val="000000"/>
              </a:solidFill>
              <a:latin typeface="Arial"/>
              <a:ea typeface="Arial"/>
              <a:cs typeface="Arial"/>
              <a:sym typeface="Arial"/>
            </a:endParaRPr>
          </a:p>
        </p:txBody>
      </p:sp>
      <p:pic>
        <p:nvPicPr>
          <p:cNvPr id="314" name="Google Shape;314;p55"/>
          <p:cNvPicPr preferRelativeResize="0"/>
          <p:nvPr/>
        </p:nvPicPr>
        <p:blipFill rotWithShape="1">
          <a:blip r:embed="rId3">
            <a:alphaModFix/>
          </a:blip>
          <a:srcRect b="0" l="0" r="0" t="0"/>
          <a:stretch/>
        </p:blipFill>
        <p:spPr>
          <a:xfrm>
            <a:off x="6383556" y="2465364"/>
            <a:ext cx="5235935" cy="3412708"/>
          </a:xfrm>
          <a:prstGeom prst="rect">
            <a:avLst/>
          </a:prstGeom>
          <a:noFill/>
          <a:ln>
            <a:noFill/>
          </a:ln>
        </p:spPr>
      </p:pic>
      <p:sp>
        <p:nvSpPr>
          <p:cNvPr id="315" name="Google Shape;315;p55"/>
          <p:cNvSpPr/>
          <p:nvPr/>
        </p:nvSpPr>
        <p:spPr>
          <a:xfrm>
            <a:off x="-1" y="264507"/>
            <a:ext cx="12192001" cy="61341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IN" sz="2800" u="none" cap="none" strike="noStrike">
                <a:solidFill>
                  <a:schemeClr val="lt1"/>
                </a:solidFill>
                <a:latin typeface="Arial"/>
                <a:ea typeface="Arial"/>
                <a:cs typeface="Arial"/>
                <a:sym typeface="Arial"/>
              </a:rPr>
              <a:t>Evidence from field- Multiple Livelihoods making Lakhpati (Tripura)</a:t>
            </a:r>
            <a:endParaRPr b="1" i="0" sz="2800" u="none" cap="none" strike="noStrike">
              <a:solidFill>
                <a:schemeClr val="lt1"/>
              </a:solidFill>
              <a:latin typeface="Arial"/>
              <a:ea typeface="Arial"/>
              <a:cs typeface="Arial"/>
              <a:sym typeface="Arial"/>
            </a:endParaRPr>
          </a:p>
        </p:txBody>
      </p:sp>
      <p:sp>
        <p:nvSpPr>
          <p:cNvPr id="316" name="Google Shape;316;p55"/>
          <p:cNvSpPr/>
          <p:nvPr/>
        </p:nvSpPr>
        <p:spPr>
          <a:xfrm>
            <a:off x="21252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317" name="Google Shape;317;p55"/>
          <p:cNvSpPr/>
          <p:nvPr/>
        </p:nvSpPr>
        <p:spPr>
          <a:xfrm>
            <a:off x="43052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318" name="Google Shape;318;p55"/>
          <p:cNvSpPr/>
          <p:nvPr/>
        </p:nvSpPr>
        <p:spPr>
          <a:xfrm>
            <a:off x="6350042" y="6249575"/>
            <a:ext cx="19407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319" name="Google Shape;319;p55"/>
          <p:cNvSpPr/>
          <p:nvPr/>
        </p:nvSpPr>
        <p:spPr>
          <a:xfrm>
            <a:off x="8249434" y="62495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6"/>
          <p:cNvSpPr txBox="1"/>
          <p:nvPr>
            <p:ph idx="1" type="body"/>
          </p:nvPr>
        </p:nvSpPr>
        <p:spPr>
          <a:xfrm>
            <a:off x="349736" y="1689842"/>
            <a:ext cx="6735692" cy="480943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b="1" i="1" lang="en-IN" sz="2400">
                <a:latin typeface="Arial"/>
                <a:ea typeface="Arial"/>
                <a:cs typeface="Arial"/>
                <a:sym typeface="Arial"/>
              </a:rPr>
              <a:t>Significant Steps which were game changers</a:t>
            </a:r>
            <a:endParaRPr i="1" sz="2400">
              <a:latin typeface="Arial"/>
              <a:ea typeface="Arial"/>
              <a:cs typeface="Arial"/>
              <a:sym typeface="Arial"/>
            </a:endParaRPr>
          </a:p>
          <a:p>
            <a:pPr indent="-342900" lvl="0" marL="342900" rtl="0" algn="l">
              <a:lnSpc>
                <a:spcPct val="150000"/>
              </a:lnSpc>
              <a:spcBef>
                <a:spcPts val="600"/>
              </a:spcBef>
              <a:spcAft>
                <a:spcPts val="0"/>
              </a:spcAft>
              <a:buSzPts val="2000"/>
              <a:buFont typeface="Arial"/>
              <a:buChar char="•"/>
            </a:pPr>
            <a:r>
              <a:rPr i="1" lang="en-IN" sz="2000">
                <a:latin typeface="Arial"/>
                <a:ea typeface="Arial"/>
                <a:cs typeface="Arial"/>
                <a:sym typeface="Arial"/>
              </a:rPr>
              <a:t>Guided by the Mission, she joined the SHGs and started business of selling footwears. </a:t>
            </a:r>
            <a:endParaRPr/>
          </a:p>
          <a:p>
            <a:pPr indent="-342900" lvl="0" marL="342900" rtl="0" algn="l">
              <a:lnSpc>
                <a:spcPct val="150000"/>
              </a:lnSpc>
              <a:spcBef>
                <a:spcPts val="600"/>
              </a:spcBef>
              <a:spcAft>
                <a:spcPts val="0"/>
              </a:spcAft>
              <a:buSzPts val="2000"/>
              <a:buFont typeface="Arial"/>
              <a:buChar char="•"/>
            </a:pPr>
            <a:r>
              <a:rPr i="1" lang="en-IN" sz="2000">
                <a:latin typeface="Arial"/>
                <a:ea typeface="Arial"/>
                <a:cs typeface="Arial"/>
                <a:sym typeface="Arial"/>
              </a:rPr>
              <a:t>Received culinary skills training</a:t>
            </a:r>
            <a:endParaRPr/>
          </a:p>
          <a:p>
            <a:pPr indent="-342900" lvl="0" marL="342900" rtl="0" algn="l">
              <a:lnSpc>
                <a:spcPct val="150000"/>
              </a:lnSpc>
              <a:spcBef>
                <a:spcPts val="600"/>
              </a:spcBef>
              <a:spcAft>
                <a:spcPts val="0"/>
              </a:spcAft>
              <a:buSzPts val="2000"/>
              <a:buFont typeface="Arial"/>
              <a:buChar char="•"/>
            </a:pPr>
            <a:r>
              <a:rPr i="1" lang="en-IN" sz="2000">
                <a:latin typeface="Arial"/>
                <a:ea typeface="Arial"/>
                <a:cs typeface="Arial"/>
                <a:sym typeface="Arial"/>
              </a:rPr>
              <a:t>Financial assistance to start her café- </a:t>
            </a:r>
            <a:r>
              <a:rPr b="1" i="1" lang="en-IN" sz="2000">
                <a:latin typeface="Arial"/>
                <a:ea typeface="Arial"/>
                <a:cs typeface="Arial"/>
                <a:sym typeface="Arial"/>
              </a:rPr>
              <a:t>Aajeevika Swad Sangam</a:t>
            </a:r>
            <a:endParaRPr/>
          </a:p>
          <a:p>
            <a:pPr indent="0" lvl="0" marL="0" rtl="0" algn="l">
              <a:lnSpc>
                <a:spcPct val="150000"/>
              </a:lnSpc>
              <a:spcBef>
                <a:spcPts val="600"/>
              </a:spcBef>
              <a:spcAft>
                <a:spcPts val="0"/>
              </a:spcAft>
              <a:buSzPts val="2000"/>
              <a:buNone/>
            </a:pPr>
            <a:r>
              <a:rPr b="1" i="1" lang="en-IN" sz="2000">
                <a:solidFill>
                  <a:schemeClr val="accent1"/>
                </a:solidFill>
                <a:latin typeface="Arial"/>
                <a:ea typeface="Arial"/>
                <a:cs typeface="Arial"/>
                <a:sym typeface="Arial"/>
              </a:rPr>
              <a:t>Earning Rs 15-20,000/ month</a:t>
            </a:r>
            <a:r>
              <a:rPr i="1" lang="en-IN" sz="2000">
                <a:latin typeface="Arial"/>
                <a:ea typeface="Arial"/>
                <a:cs typeface="Arial"/>
                <a:sym typeface="Arial"/>
              </a:rPr>
              <a:t>. </a:t>
            </a:r>
            <a:endParaRPr/>
          </a:p>
          <a:p>
            <a:pPr indent="0" lvl="1" marL="457200" rtl="0" algn="l">
              <a:lnSpc>
                <a:spcPct val="100000"/>
              </a:lnSpc>
              <a:spcBef>
                <a:spcPts val="600"/>
              </a:spcBef>
              <a:spcAft>
                <a:spcPts val="0"/>
              </a:spcAft>
              <a:buSzPts val="1800"/>
              <a:buNone/>
            </a:pPr>
            <a:r>
              <a:t/>
            </a:r>
            <a:endParaRPr i="1" sz="1800">
              <a:latin typeface="Arial"/>
              <a:ea typeface="Arial"/>
              <a:cs typeface="Arial"/>
              <a:sym typeface="Arial"/>
            </a:endParaRPr>
          </a:p>
          <a:p>
            <a:pPr indent="0" lvl="0" marL="0" rtl="0" algn="just">
              <a:lnSpc>
                <a:spcPct val="115000"/>
              </a:lnSpc>
              <a:spcBef>
                <a:spcPts val="0"/>
              </a:spcBef>
              <a:spcAft>
                <a:spcPts val="0"/>
              </a:spcAft>
              <a:buSzPts val="2400"/>
              <a:buNone/>
            </a:pPr>
            <a:r>
              <a:t/>
            </a:r>
            <a:endParaRPr i="1" sz="2400">
              <a:latin typeface="Arial"/>
              <a:ea typeface="Arial"/>
              <a:cs typeface="Arial"/>
              <a:sym typeface="Arial"/>
            </a:endParaRPr>
          </a:p>
          <a:p>
            <a:pPr indent="0" lvl="0" marL="0" rtl="0" algn="just">
              <a:lnSpc>
                <a:spcPct val="115000"/>
              </a:lnSpc>
              <a:spcBef>
                <a:spcPts val="1000"/>
              </a:spcBef>
              <a:spcAft>
                <a:spcPts val="0"/>
              </a:spcAft>
              <a:buSzPts val="4800"/>
              <a:buNone/>
            </a:pPr>
            <a:r>
              <a:t/>
            </a:r>
            <a:endParaRPr b="1" i="1" sz="4800">
              <a:latin typeface="Arial"/>
              <a:ea typeface="Arial"/>
              <a:cs typeface="Arial"/>
              <a:sym typeface="Arial"/>
            </a:endParaRPr>
          </a:p>
          <a:p>
            <a:pPr indent="0" lvl="0" marL="0" rtl="0" algn="just">
              <a:lnSpc>
                <a:spcPct val="115000"/>
              </a:lnSpc>
              <a:spcBef>
                <a:spcPts val="1000"/>
              </a:spcBef>
              <a:spcAft>
                <a:spcPts val="0"/>
              </a:spcAft>
              <a:buSzPts val="2400"/>
              <a:buNone/>
            </a:pPr>
            <a:r>
              <a:t/>
            </a:r>
            <a:endParaRPr i="1" sz="2400">
              <a:latin typeface="Arial"/>
              <a:ea typeface="Arial"/>
              <a:cs typeface="Arial"/>
              <a:sym typeface="Arial"/>
            </a:endParaRPr>
          </a:p>
          <a:p>
            <a:pPr indent="0" lvl="0" marL="0" rtl="0" algn="l">
              <a:lnSpc>
                <a:spcPct val="90000"/>
              </a:lnSpc>
              <a:spcBef>
                <a:spcPts val="1000"/>
              </a:spcBef>
              <a:spcAft>
                <a:spcPts val="0"/>
              </a:spcAft>
              <a:buSzPts val="1800"/>
              <a:buNone/>
            </a:pPr>
            <a:r>
              <a:t/>
            </a:r>
            <a:endParaRPr i="1" sz="1800">
              <a:latin typeface="Arial"/>
              <a:ea typeface="Arial"/>
              <a:cs typeface="Arial"/>
              <a:sym typeface="Arial"/>
            </a:endParaRPr>
          </a:p>
        </p:txBody>
      </p:sp>
      <p:pic>
        <p:nvPicPr>
          <p:cNvPr id="325" name="Google Shape;325;p56"/>
          <p:cNvPicPr preferRelativeResize="0"/>
          <p:nvPr/>
        </p:nvPicPr>
        <p:blipFill rotWithShape="1">
          <a:blip r:embed="rId3">
            <a:alphaModFix/>
          </a:blip>
          <a:srcRect b="0" l="0" r="0" t="0"/>
          <a:stretch/>
        </p:blipFill>
        <p:spPr>
          <a:xfrm>
            <a:off x="7391627" y="1976782"/>
            <a:ext cx="4450637" cy="2741464"/>
          </a:xfrm>
          <a:prstGeom prst="rect">
            <a:avLst/>
          </a:prstGeom>
          <a:noFill/>
          <a:ln>
            <a:noFill/>
          </a:ln>
        </p:spPr>
      </p:pic>
      <p:sp>
        <p:nvSpPr>
          <p:cNvPr id="326" name="Google Shape;326;p56"/>
          <p:cNvSpPr/>
          <p:nvPr/>
        </p:nvSpPr>
        <p:spPr>
          <a:xfrm>
            <a:off x="-1" y="208237"/>
            <a:ext cx="12192001" cy="61341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IN" sz="2800" u="none" cap="none" strike="noStrike">
                <a:solidFill>
                  <a:schemeClr val="lt1"/>
                </a:solidFill>
                <a:latin typeface="Arial"/>
                <a:ea typeface="Arial"/>
                <a:cs typeface="Arial"/>
                <a:sym typeface="Arial"/>
              </a:rPr>
              <a:t>Evidence from field- Didi Café and Footwear Store (Madhya Pradesh)</a:t>
            </a:r>
            <a:endParaRPr b="1" i="0" sz="2800" u="none" cap="none" strike="noStrike">
              <a:solidFill>
                <a:schemeClr val="lt1"/>
              </a:solidFill>
              <a:latin typeface="Arial"/>
              <a:ea typeface="Arial"/>
              <a:cs typeface="Arial"/>
              <a:sym typeface="Arial"/>
            </a:endParaRPr>
          </a:p>
        </p:txBody>
      </p:sp>
      <p:sp>
        <p:nvSpPr>
          <p:cNvPr id="327" name="Google Shape;327;p56"/>
          <p:cNvSpPr/>
          <p:nvPr/>
        </p:nvSpPr>
        <p:spPr>
          <a:xfrm>
            <a:off x="6966912" y="5170942"/>
            <a:ext cx="509466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1" lang="en-IN" sz="2400" u="none" cap="none" strike="noStrike">
                <a:solidFill>
                  <a:srgbClr val="000000"/>
                </a:solidFill>
                <a:latin typeface="Arial"/>
                <a:ea typeface="Arial"/>
                <a:cs typeface="Arial"/>
                <a:sym typeface="Arial"/>
              </a:rPr>
              <a:t>Manju Meware</a:t>
            </a:r>
            <a:endParaRPr b="1" i="1"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1" lang="en-IN" sz="2400" u="none" cap="none" strike="noStrike">
                <a:solidFill>
                  <a:srgbClr val="000000"/>
                </a:solidFill>
                <a:latin typeface="Arial"/>
                <a:ea typeface="Arial"/>
                <a:cs typeface="Arial"/>
                <a:sym typeface="Arial"/>
              </a:rPr>
              <a:t>Location</a:t>
            </a:r>
            <a:r>
              <a:rPr b="0" i="1" lang="en-IN" sz="2400" u="none" cap="none" strike="noStrike">
                <a:solidFill>
                  <a:srgbClr val="000000"/>
                </a:solidFill>
                <a:latin typeface="Arial"/>
                <a:ea typeface="Arial"/>
                <a:cs typeface="Arial"/>
                <a:sym typeface="Arial"/>
              </a:rPr>
              <a:t> –Fanda, Madhya Pradesh</a:t>
            </a:r>
            <a:endParaRPr b="0" i="0" sz="1400" u="none" cap="none" strike="noStrike">
              <a:solidFill>
                <a:srgbClr val="000000"/>
              </a:solidFill>
              <a:latin typeface="Arial"/>
              <a:ea typeface="Arial"/>
              <a:cs typeface="Arial"/>
              <a:sym typeface="Arial"/>
            </a:endParaRPr>
          </a:p>
        </p:txBody>
      </p:sp>
      <p:sp>
        <p:nvSpPr>
          <p:cNvPr id="328" name="Google Shape;328;p56"/>
          <p:cNvSpPr/>
          <p:nvPr/>
        </p:nvSpPr>
        <p:spPr>
          <a:xfrm>
            <a:off x="21252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329" name="Google Shape;329;p56"/>
          <p:cNvSpPr/>
          <p:nvPr/>
        </p:nvSpPr>
        <p:spPr>
          <a:xfrm>
            <a:off x="43052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330" name="Google Shape;330;p56"/>
          <p:cNvSpPr/>
          <p:nvPr/>
        </p:nvSpPr>
        <p:spPr>
          <a:xfrm>
            <a:off x="6350042" y="6249575"/>
            <a:ext cx="19407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331" name="Google Shape;331;p56"/>
          <p:cNvSpPr/>
          <p:nvPr/>
        </p:nvSpPr>
        <p:spPr>
          <a:xfrm>
            <a:off x="8249434" y="62495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7"/>
          <p:cNvSpPr txBox="1"/>
          <p:nvPr>
            <p:ph idx="1" type="body"/>
          </p:nvPr>
        </p:nvSpPr>
        <p:spPr>
          <a:xfrm>
            <a:off x="836612" y="1536411"/>
            <a:ext cx="5157787" cy="4921972"/>
          </a:xfrm>
          <a:prstGeom prst="rect">
            <a:avLst/>
          </a:prstGeom>
          <a:noFill/>
          <a:ln>
            <a:noFill/>
          </a:ln>
        </p:spPr>
        <p:txBody>
          <a:bodyPr anchorCtr="0" anchor="t" bIns="45700" lIns="91425" spcFirstLastPara="1" rIns="91425" wrap="square" tIns="45700">
            <a:normAutofit/>
          </a:bodyPr>
          <a:lstStyle/>
          <a:p>
            <a:pPr indent="0" lvl="0" marL="0" rtl="0" algn="l">
              <a:lnSpc>
                <a:spcPct val="107000"/>
              </a:lnSpc>
              <a:spcBef>
                <a:spcPts val="0"/>
              </a:spcBef>
              <a:spcAft>
                <a:spcPts val="0"/>
              </a:spcAft>
              <a:buSzPts val="1800"/>
              <a:buNone/>
            </a:pPr>
            <a:r>
              <a:t/>
            </a:r>
            <a:endParaRPr sz="1800">
              <a:latin typeface="Calibri"/>
              <a:ea typeface="Calibri"/>
              <a:cs typeface="Calibri"/>
              <a:sym typeface="Calibri"/>
            </a:endParaRPr>
          </a:p>
          <a:p>
            <a:pPr indent="0" lvl="0" marL="292100" marR="80010" rtl="0" algn="just">
              <a:lnSpc>
                <a:spcPct val="115000"/>
              </a:lnSpc>
              <a:spcBef>
                <a:spcPts val="80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sz="1400"/>
          </a:p>
        </p:txBody>
      </p:sp>
      <p:sp>
        <p:nvSpPr>
          <p:cNvPr id="337" name="Google Shape;337;p57"/>
          <p:cNvSpPr txBox="1"/>
          <p:nvPr/>
        </p:nvSpPr>
        <p:spPr>
          <a:xfrm>
            <a:off x="103909" y="800100"/>
            <a:ext cx="732703" cy="454082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57"/>
          <p:cNvSpPr txBox="1"/>
          <p:nvPr/>
        </p:nvSpPr>
        <p:spPr>
          <a:xfrm>
            <a:off x="470260" y="1780739"/>
            <a:ext cx="7019100" cy="421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Arial"/>
                <a:ea typeface="Arial"/>
                <a:cs typeface="Arial"/>
                <a:sym typeface="Arial"/>
              </a:rPr>
              <a:t>Name – Smt. Nandita Chetia, Tinsukuia Dist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rgbClr val="000000"/>
                </a:solidFill>
                <a:latin typeface="Arial"/>
                <a:ea typeface="Arial"/>
                <a:cs typeface="Arial"/>
                <a:sym typeface="Arial"/>
              </a:rPr>
              <a:t>Steps which were game changer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1" sz="2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IN" sz="2400" u="none" cap="none" strike="noStrike">
                <a:solidFill>
                  <a:srgbClr val="000000"/>
                </a:solidFill>
                <a:latin typeface="Arial"/>
                <a:ea typeface="Arial"/>
                <a:cs typeface="Arial"/>
                <a:sym typeface="Arial"/>
              </a:rPr>
              <a:t>Multiple doses of loan-85K from SHGs and 8 Lakh from Bank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1" i="0" lang="en-IN" sz="2400" u="none" cap="none" strike="noStrike">
                <a:solidFill>
                  <a:srgbClr val="000000"/>
                </a:solidFill>
                <a:latin typeface="Arial"/>
                <a:ea typeface="Arial"/>
                <a:cs typeface="Arial"/>
                <a:sym typeface="Arial"/>
              </a:rPr>
              <a:t>Multiple livelihood </a:t>
            </a:r>
            <a:r>
              <a:rPr b="0" i="0" lang="en-IN" sz="2400" u="none" cap="none" strike="noStrike">
                <a:solidFill>
                  <a:srgbClr val="000000"/>
                </a:solidFill>
                <a:latin typeface="Arial"/>
                <a:ea typeface="Arial"/>
                <a:cs typeface="Arial"/>
                <a:sym typeface="Arial"/>
              </a:rPr>
              <a:t>activities: Fishery, Poultry, Pig, Vegetables, Vermicomposting, Dairy, Mustard oil Processing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IN" sz="2400" u="none" cap="none" strike="noStrike">
                <a:solidFill>
                  <a:srgbClr val="000000"/>
                </a:solidFill>
                <a:latin typeface="Arial"/>
                <a:ea typeface="Arial"/>
                <a:cs typeface="Arial"/>
                <a:sym typeface="Arial"/>
              </a:rPr>
              <a:t>Inducted as Pashu Sakhi in 2022</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AutoNum type="arabicPeriod"/>
            </a:pPr>
            <a:r>
              <a:rPr b="0" i="0" lang="en-IN" sz="2400" u="none" cap="none" strike="noStrike">
                <a:solidFill>
                  <a:srgbClr val="000000"/>
                </a:solidFill>
                <a:latin typeface="Arial"/>
                <a:ea typeface="Arial"/>
                <a:cs typeface="Arial"/>
                <a:sym typeface="Arial"/>
              </a:rPr>
              <a:t>Income has crossed </a:t>
            </a:r>
            <a:r>
              <a:rPr b="1" i="0" lang="en-IN" sz="2400" u="none" cap="none" strike="noStrike">
                <a:solidFill>
                  <a:schemeClr val="accent1"/>
                </a:solidFill>
                <a:latin typeface="Arial"/>
                <a:ea typeface="Arial"/>
                <a:cs typeface="Arial"/>
                <a:sym typeface="Arial"/>
              </a:rPr>
              <a:t>Rs. 10 lakh per annum</a:t>
            </a:r>
            <a:r>
              <a:rPr b="0" i="0" lang="en-IN" sz="2800" u="none" cap="none" strike="noStrike">
                <a:solidFill>
                  <a:srgbClr val="000000"/>
                </a:solidFill>
                <a:latin typeface="Arial"/>
                <a:ea typeface="Arial"/>
                <a:cs typeface="Arial"/>
                <a:sym typeface="Arial"/>
              </a:rPr>
              <a:t>.</a:t>
            </a:r>
            <a:endParaRPr b="0" i="1" sz="2400" u="none" cap="none" strike="noStrike">
              <a:solidFill>
                <a:srgbClr val="000000"/>
              </a:solidFill>
              <a:latin typeface="Arial"/>
              <a:ea typeface="Arial"/>
              <a:cs typeface="Arial"/>
              <a:sym typeface="Arial"/>
            </a:endParaRPr>
          </a:p>
        </p:txBody>
      </p:sp>
      <p:sp>
        <p:nvSpPr>
          <p:cNvPr id="339" name="Google Shape;339;p57"/>
          <p:cNvSpPr/>
          <p:nvPr/>
        </p:nvSpPr>
        <p:spPr>
          <a:xfrm>
            <a:off x="-1" y="264507"/>
            <a:ext cx="12192001" cy="104644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IN" sz="2800" u="none" cap="none" strike="noStrike">
                <a:solidFill>
                  <a:schemeClr val="lt1"/>
                </a:solidFill>
                <a:latin typeface="Arial"/>
                <a:ea typeface="Arial"/>
                <a:cs typeface="Arial"/>
                <a:sym typeface="Arial"/>
              </a:rPr>
              <a:t>Evidence from field- Pashu Sakhi as Role model of Lakhpati didi (Assam)</a:t>
            </a:r>
            <a:endParaRPr b="1" i="0" sz="2800" u="none" cap="none" strike="noStrike">
              <a:solidFill>
                <a:schemeClr val="lt1"/>
              </a:solidFill>
              <a:latin typeface="Arial"/>
              <a:ea typeface="Arial"/>
              <a:cs typeface="Arial"/>
              <a:sym typeface="Arial"/>
            </a:endParaRPr>
          </a:p>
        </p:txBody>
      </p:sp>
      <p:pic>
        <p:nvPicPr>
          <p:cNvPr descr="E:\DFE (L&amp;M) _ Shankar\TinSuKia\Best practices\Final\Submission\IFS_ Guijan 3.jpeg" id="340" name="Google Shape;340;p57"/>
          <p:cNvPicPr preferRelativeResize="0"/>
          <p:nvPr/>
        </p:nvPicPr>
        <p:blipFill rotWithShape="1">
          <a:blip r:embed="rId3">
            <a:alphaModFix/>
          </a:blip>
          <a:srcRect b="0" l="0" r="0" t="0"/>
          <a:stretch/>
        </p:blipFill>
        <p:spPr>
          <a:xfrm>
            <a:off x="8537890" y="1410028"/>
            <a:ext cx="3107102" cy="1799444"/>
          </a:xfrm>
          <a:prstGeom prst="rect">
            <a:avLst/>
          </a:prstGeom>
          <a:noFill/>
          <a:ln>
            <a:noFill/>
          </a:ln>
        </p:spPr>
      </p:pic>
      <p:pic>
        <p:nvPicPr>
          <p:cNvPr descr="E:\DFE (L&amp;M) _ Shankar\TinSuKia\Best practices\Final\Submission\IFS _Guijan 4.jpeg" id="341" name="Google Shape;341;p57"/>
          <p:cNvPicPr preferRelativeResize="0"/>
          <p:nvPr/>
        </p:nvPicPr>
        <p:blipFill rotWithShape="1">
          <a:blip r:embed="rId4">
            <a:alphaModFix/>
          </a:blip>
          <a:srcRect b="0" l="0" r="0" t="0"/>
          <a:stretch/>
        </p:blipFill>
        <p:spPr>
          <a:xfrm>
            <a:off x="8549406" y="3356254"/>
            <a:ext cx="3095585" cy="1605818"/>
          </a:xfrm>
          <a:prstGeom prst="rect">
            <a:avLst/>
          </a:prstGeom>
          <a:noFill/>
          <a:ln>
            <a:noFill/>
          </a:ln>
        </p:spPr>
      </p:pic>
      <p:pic>
        <p:nvPicPr>
          <p:cNvPr descr="E:\DFE (L&amp;M) _ Shankar\TinSuKia\Best practices\Final\Submission\IFS _ Guijan 5.jpeg" id="342" name="Google Shape;342;p57"/>
          <p:cNvPicPr preferRelativeResize="0"/>
          <p:nvPr/>
        </p:nvPicPr>
        <p:blipFill rotWithShape="1">
          <a:blip r:embed="rId5">
            <a:alphaModFix/>
          </a:blip>
          <a:srcRect b="0" l="0" r="0" t="0"/>
          <a:stretch/>
        </p:blipFill>
        <p:spPr>
          <a:xfrm>
            <a:off x="8549406" y="5138055"/>
            <a:ext cx="3095584" cy="1605818"/>
          </a:xfrm>
          <a:prstGeom prst="rect">
            <a:avLst/>
          </a:prstGeom>
          <a:noFill/>
          <a:ln>
            <a:noFill/>
          </a:ln>
        </p:spPr>
      </p:pic>
      <p:sp>
        <p:nvSpPr>
          <p:cNvPr id="343" name="Google Shape;343;p57"/>
          <p:cNvSpPr/>
          <p:nvPr/>
        </p:nvSpPr>
        <p:spPr>
          <a:xfrm>
            <a:off x="3726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344" name="Google Shape;344;p57"/>
          <p:cNvSpPr/>
          <p:nvPr/>
        </p:nvSpPr>
        <p:spPr>
          <a:xfrm>
            <a:off x="25526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345" name="Google Shape;345;p57"/>
          <p:cNvSpPr/>
          <p:nvPr/>
        </p:nvSpPr>
        <p:spPr>
          <a:xfrm>
            <a:off x="4597442" y="6249575"/>
            <a:ext cx="19407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346" name="Google Shape;346;p57"/>
          <p:cNvSpPr/>
          <p:nvPr/>
        </p:nvSpPr>
        <p:spPr>
          <a:xfrm>
            <a:off x="6496834" y="62495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9"/>
          <p:cNvSpPr txBox="1"/>
          <p:nvPr>
            <p:ph idx="1" type="body"/>
          </p:nvPr>
        </p:nvSpPr>
        <p:spPr>
          <a:xfrm>
            <a:off x="279918" y="1519601"/>
            <a:ext cx="5543939" cy="51301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Location – Geedam, Dantewada</a:t>
            </a:r>
            <a:endParaRPr sz="24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Name – Janki Yadav </a:t>
            </a:r>
            <a:endParaRPr/>
          </a:p>
          <a:p>
            <a:pPr indent="0" lvl="0"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Activity - </a:t>
            </a:r>
            <a:r>
              <a:rPr b="1" lang="en-IN" sz="2400">
                <a:solidFill>
                  <a:schemeClr val="dk1"/>
                </a:solidFill>
                <a:latin typeface="Arial"/>
                <a:ea typeface="Arial"/>
                <a:cs typeface="Arial"/>
                <a:sym typeface="Arial"/>
              </a:rPr>
              <a:t>Fish farming and vegetable cultivation</a:t>
            </a:r>
            <a:endParaRPr/>
          </a:p>
          <a:p>
            <a:pPr indent="0" lvl="0"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Significant Steps which were game changer –</a:t>
            </a:r>
            <a:endParaRPr/>
          </a:p>
          <a:p>
            <a:pPr indent="0" lvl="1"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Engaged in vegetable farming and fish farming.</a:t>
            </a:r>
            <a:endParaRPr/>
          </a:p>
          <a:p>
            <a:pPr indent="0" lvl="1"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Financial support through Bank and CIF.</a:t>
            </a:r>
            <a:endParaRPr/>
          </a:p>
          <a:p>
            <a:pPr indent="0" lvl="1" marL="0" rtl="0" algn="l">
              <a:lnSpc>
                <a:spcPct val="100000"/>
              </a:lnSpc>
              <a:spcBef>
                <a:spcPts val="0"/>
              </a:spcBef>
              <a:spcAft>
                <a:spcPts val="0"/>
              </a:spcAft>
              <a:buSzPts val="1400"/>
              <a:buNone/>
            </a:pPr>
            <a:r>
              <a:rPr b="1" lang="en-IN" sz="2400">
                <a:solidFill>
                  <a:schemeClr val="dk1"/>
                </a:solidFill>
                <a:latin typeface="Arial"/>
                <a:ea typeface="Arial"/>
                <a:cs typeface="Arial"/>
                <a:sym typeface="Arial"/>
              </a:rPr>
              <a:t>~ Rs 20,000 Per month</a:t>
            </a:r>
            <a:endParaRPr/>
          </a:p>
        </p:txBody>
      </p:sp>
      <p:pic>
        <p:nvPicPr>
          <p:cNvPr id="352" name="Google Shape;352;p59"/>
          <p:cNvPicPr preferRelativeResize="0"/>
          <p:nvPr>
            <p:ph idx="2" type="body"/>
          </p:nvPr>
        </p:nvPicPr>
        <p:blipFill rotWithShape="1">
          <a:blip r:embed="rId3">
            <a:alphaModFix/>
          </a:blip>
          <a:srcRect b="0" l="0" r="0" t="0"/>
          <a:stretch/>
        </p:blipFill>
        <p:spPr>
          <a:xfrm>
            <a:off x="6368144" y="1691123"/>
            <a:ext cx="4791300" cy="4693366"/>
          </a:xfrm>
          <a:prstGeom prst="rect">
            <a:avLst/>
          </a:prstGeom>
          <a:noFill/>
          <a:ln>
            <a:noFill/>
          </a:ln>
        </p:spPr>
      </p:pic>
      <p:sp>
        <p:nvSpPr>
          <p:cNvPr id="353" name="Google Shape;353;p59"/>
          <p:cNvSpPr/>
          <p:nvPr/>
        </p:nvSpPr>
        <p:spPr>
          <a:xfrm>
            <a:off x="-1" y="208237"/>
            <a:ext cx="12192001" cy="61341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IN" sz="2800" u="none" cap="none" strike="noStrike">
                <a:solidFill>
                  <a:schemeClr val="lt1"/>
                </a:solidFill>
                <a:latin typeface="Arial"/>
                <a:ea typeface="Arial"/>
                <a:cs typeface="Arial"/>
                <a:sym typeface="Arial"/>
              </a:rPr>
              <a:t>Evidence from field- Integrated Farming Cluster (Chhattisgarh)</a:t>
            </a:r>
            <a:endParaRPr b="1" i="0" sz="2800" u="none" cap="none" strike="noStrike">
              <a:solidFill>
                <a:schemeClr val="lt1"/>
              </a:solidFill>
              <a:latin typeface="Arial"/>
              <a:ea typeface="Arial"/>
              <a:cs typeface="Arial"/>
              <a:sym typeface="Arial"/>
            </a:endParaRPr>
          </a:p>
        </p:txBody>
      </p:sp>
      <p:sp>
        <p:nvSpPr>
          <p:cNvPr id="354" name="Google Shape;354;p59"/>
          <p:cNvSpPr/>
          <p:nvPr/>
        </p:nvSpPr>
        <p:spPr>
          <a:xfrm>
            <a:off x="14394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355" name="Google Shape;355;p59"/>
          <p:cNvSpPr/>
          <p:nvPr/>
        </p:nvSpPr>
        <p:spPr>
          <a:xfrm>
            <a:off x="36194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356" name="Google Shape;356;p59"/>
          <p:cNvSpPr/>
          <p:nvPr/>
        </p:nvSpPr>
        <p:spPr>
          <a:xfrm>
            <a:off x="5664242" y="6249575"/>
            <a:ext cx="19407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357" name="Google Shape;357;p59"/>
          <p:cNvSpPr/>
          <p:nvPr/>
        </p:nvSpPr>
        <p:spPr>
          <a:xfrm>
            <a:off x="7563634" y="62495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1"/>
          <p:cNvSpPr txBox="1"/>
          <p:nvPr>
            <p:ph idx="1" type="body"/>
          </p:nvPr>
        </p:nvSpPr>
        <p:spPr>
          <a:xfrm>
            <a:off x="836612" y="1536411"/>
            <a:ext cx="5157787" cy="4921972"/>
          </a:xfrm>
          <a:prstGeom prst="rect">
            <a:avLst/>
          </a:prstGeom>
          <a:noFill/>
          <a:ln>
            <a:noFill/>
          </a:ln>
        </p:spPr>
        <p:txBody>
          <a:bodyPr anchorCtr="0" anchor="t" bIns="45700" lIns="91425" spcFirstLastPara="1" rIns="91425" wrap="square" tIns="45700">
            <a:normAutofit/>
          </a:bodyPr>
          <a:lstStyle/>
          <a:p>
            <a:pPr indent="0" lvl="0" marL="0" rtl="0" algn="l">
              <a:lnSpc>
                <a:spcPct val="107000"/>
              </a:lnSpc>
              <a:spcBef>
                <a:spcPts val="0"/>
              </a:spcBef>
              <a:spcAft>
                <a:spcPts val="0"/>
              </a:spcAft>
              <a:buSzPts val="1800"/>
              <a:buNone/>
            </a:pPr>
            <a:r>
              <a:t/>
            </a:r>
            <a:endParaRPr sz="1800">
              <a:latin typeface="Calibri"/>
              <a:ea typeface="Calibri"/>
              <a:cs typeface="Calibri"/>
              <a:sym typeface="Calibri"/>
            </a:endParaRPr>
          </a:p>
          <a:p>
            <a:pPr indent="0" lvl="0" marL="292100" marR="80010" rtl="0" algn="just">
              <a:lnSpc>
                <a:spcPct val="115000"/>
              </a:lnSpc>
              <a:spcBef>
                <a:spcPts val="80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solidFill>
                <a:srgbClr val="000000"/>
              </a:solidFill>
              <a:latin typeface="Cambria"/>
              <a:ea typeface="Cambria"/>
              <a:cs typeface="Cambria"/>
              <a:sym typeface="Cambria"/>
            </a:endParaRPr>
          </a:p>
          <a:p>
            <a:pPr indent="0" lvl="0" marL="292100" marR="80010" rtl="0" algn="just">
              <a:lnSpc>
                <a:spcPct val="115000"/>
              </a:lnSpc>
              <a:spcBef>
                <a:spcPts val="0"/>
              </a:spcBef>
              <a:spcAft>
                <a:spcPts val="0"/>
              </a:spcAft>
              <a:buSzPts val="1800"/>
              <a:buNone/>
            </a:pPr>
            <a:r>
              <a:t/>
            </a:r>
            <a:endParaRPr sz="1800">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sz="1400"/>
          </a:p>
        </p:txBody>
      </p:sp>
      <p:sp>
        <p:nvSpPr>
          <p:cNvPr id="363" name="Google Shape;363;p61"/>
          <p:cNvSpPr txBox="1"/>
          <p:nvPr/>
        </p:nvSpPr>
        <p:spPr>
          <a:xfrm>
            <a:off x="103909" y="800100"/>
            <a:ext cx="732703" cy="454082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61"/>
          <p:cNvSpPr txBox="1"/>
          <p:nvPr/>
        </p:nvSpPr>
        <p:spPr>
          <a:xfrm>
            <a:off x="836612" y="1536411"/>
            <a:ext cx="5010294" cy="4093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rgbClr val="000000"/>
                </a:solidFill>
                <a:latin typeface="Arial"/>
                <a:ea typeface="Arial"/>
                <a:cs typeface="Arial"/>
                <a:sym typeface="Arial"/>
              </a:rPr>
              <a:t>Name – Smt. Bindu Debnath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000000"/>
                </a:solidFill>
                <a:latin typeface="Arial"/>
                <a:ea typeface="Arial"/>
                <a:cs typeface="Arial"/>
                <a:sym typeface="Arial"/>
              </a:rPr>
              <a:t>Activity </a:t>
            </a:r>
            <a:r>
              <a:rPr b="0" i="0" lang="en-IN" sz="2000" u="none" cap="none" strike="noStrike">
                <a:solidFill>
                  <a:srgbClr val="000000"/>
                </a:solidFill>
                <a:latin typeface="Arial"/>
                <a:ea typeface="Arial"/>
                <a:cs typeface="Arial"/>
                <a:sym typeface="Arial"/>
              </a:rPr>
              <a:t>- </a:t>
            </a:r>
            <a:r>
              <a:rPr b="1" i="0" lang="en-IN" sz="2000" u="none" cap="none" strike="noStrike">
                <a:solidFill>
                  <a:srgbClr val="000000"/>
                </a:solidFill>
                <a:latin typeface="Arial"/>
                <a:ea typeface="Arial"/>
                <a:cs typeface="Arial"/>
                <a:sym typeface="Arial"/>
              </a:rPr>
              <a:t>Goatery, Winter Products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rgbClr val="000000"/>
                </a:solidFill>
                <a:latin typeface="Arial"/>
                <a:ea typeface="Arial"/>
                <a:cs typeface="Arial"/>
                <a:sym typeface="Arial"/>
              </a:rPr>
              <a:t>Significant Steps which were game changer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IN" sz="2000" u="none" cap="none" strike="noStrike">
                <a:solidFill>
                  <a:srgbClr val="000000"/>
                </a:solidFill>
                <a:latin typeface="Arial"/>
                <a:ea typeface="Arial"/>
                <a:cs typeface="Arial"/>
                <a:sym typeface="Arial"/>
              </a:rPr>
              <a:t>Inclusion into Self Help Group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IN" sz="2000" u="none" cap="none" strike="noStrike">
                <a:solidFill>
                  <a:srgbClr val="000000"/>
                </a:solidFill>
                <a:latin typeface="Arial"/>
                <a:ea typeface="Arial"/>
                <a:cs typeface="Arial"/>
                <a:sym typeface="Arial"/>
              </a:rPr>
              <a:t>Finances for livelihood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IN" sz="2000" u="none" cap="none" strike="noStrike">
                <a:solidFill>
                  <a:srgbClr val="000000"/>
                </a:solidFill>
                <a:latin typeface="Arial"/>
                <a:ea typeface="Arial"/>
                <a:cs typeface="Arial"/>
                <a:sym typeface="Arial"/>
              </a:rPr>
              <a:t>Financed through Self Help Group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IN" sz="2000" u="none" cap="none" strike="noStrike">
                <a:solidFill>
                  <a:srgbClr val="000000"/>
                </a:solidFill>
                <a:latin typeface="Arial"/>
                <a:ea typeface="Arial"/>
                <a:cs typeface="Arial"/>
                <a:sym typeface="Arial"/>
              </a:rPr>
              <a:t>Engagement in </a:t>
            </a:r>
            <a:r>
              <a:rPr b="1" i="0" lang="en-IN" sz="2000" u="none" cap="none" strike="noStrike">
                <a:solidFill>
                  <a:srgbClr val="000000"/>
                </a:solidFill>
                <a:latin typeface="Arial"/>
                <a:ea typeface="Arial"/>
                <a:cs typeface="Arial"/>
                <a:sym typeface="Arial"/>
              </a:rPr>
              <a:t>multiple livelihoods</a:t>
            </a:r>
            <a:r>
              <a:rPr b="0" i="0" lang="en-IN" sz="2000" u="none" cap="none" strike="noStrike">
                <a:solidFill>
                  <a:srgbClr val="000000"/>
                </a:solidFill>
                <a:latin typeface="Arial"/>
                <a:ea typeface="Arial"/>
                <a:cs typeface="Arial"/>
                <a:sym typeface="Arial"/>
              </a:rPr>
              <a:t> to minimize the risk factors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IN" sz="2000" u="none" cap="none" strike="noStrike">
                <a:solidFill>
                  <a:srgbClr val="000000"/>
                </a:solidFill>
                <a:latin typeface="Arial"/>
                <a:ea typeface="Arial"/>
                <a:cs typeface="Arial"/>
                <a:sym typeface="Arial"/>
              </a:rPr>
              <a:t>Sustainable livelihoods and average monthly income of </a:t>
            </a:r>
            <a:r>
              <a:rPr b="1" i="0" lang="en-IN" sz="2000" u="none" cap="none" strike="noStrike">
                <a:solidFill>
                  <a:schemeClr val="accent1"/>
                </a:solidFill>
                <a:latin typeface="Arial"/>
                <a:ea typeface="Arial"/>
                <a:cs typeface="Arial"/>
                <a:sym typeface="Arial"/>
              </a:rPr>
              <a:t>Rs.25,000 - 30,000/- per month</a:t>
            </a:r>
            <a:endParaRPr b="1" i="1" sz="2000" u="none" cap="none" strike="noStrike">
              <a:solidFill>
                <a:schemeClr val="accent1"/>
              </a:solidFill>
              <a:latin typeface="Arial"/>
              <a:ea typeface="Arial"/>
              <a:cs typeface="Arial"/>
              <a:sym typeface="Arial"/>
            </a:endParaRPr>
          </a:p>
        </p:txBody>
      </p:sp>
      <p:pic>
        <p:nvPicPr>
          <p:cNvPr id="365" name="Google Shape;365;p61"/>
          <p:cNvPicPr preferRelativeResize="0"/>
          <p:nvPr/>
        </p:nvPicPr>
        <p:blipFill rotWithShape="1">
          <a:blip r:embed="rId3">
            <a:alphaModFix/>
          </a:blip>
          <a:srcRect b="0" l="0" r="0" t="0"/>
          <a:stretch/>
        </p:blipFill>
        <p:spPr>
          <a:xfrm>
            <a:off x="6579609" y="1710546"/>
            <a:ext cx="4999037" cy="3499326"/>
          </a:xfrm>
          <a:prstGeom prst="rect">
            <a:avLst/>
          </a:prstGeom>
          <a:noFill/>
          <a:ln>
            <a:noFill/>
          </a:ln>
        </p:spPr>
      </p:pic>
      <p:sp>
        <p:nvSpPr>
          <p:cNvPr id="366" name="Google Shape;366;p61"/>
          <p:cNvSpPr/>
          <p:nvPr/>
        </p:nvSpPr>
        <p:spPr>
          <a:xfrm>
            <a:off x="-1" y="236372"/>
            <a:ext cx="12192001" cy="61341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IN" sz="2800" u="none" cap="none" strike="noStrike">
                <a:solidFill>
                  <a:schemeClr val="lt1"/>
                </a:solidFill>
                <a:latin typeface="Arial"/>
                <a:ea typeface="Arial"/>
                <a:cs typeface="Arial"/>
                <a:sym typeface="Arial"/>
              </a:rPr>
              <a:t>Evidence from field- Multiple Activities making Lakhpati (Tripura)</a:t>
            </a:r>
            <a:endParaRPr b="1" i="0" sz="2800" u="none" cap="none" strike="noStrike">
              <a:solidFill>
                <a:schemeClr val="lt1"/>
              </a:solidFill>
              <a:latin typeface="Arial"/>
              <a:ea typeface="Arial"/>
              <a:cs typeface="Arial"/>
              <a:sym typeface="Arial"/>
            </a:endParaRPr>
          </a:p>
        </p:txBody>
      </p:sp>
      <p:sp>
        <p:nvSpPr>
          <p:cNvPr id="367" name="Google Shape;367;p61"/>
          <p:cNvSpPr/>
          <p:nvPr/>
        </p:nvSpPr>
        <p:spPr>
          <a:xfrm>
            <a:off x="2125200" y="62495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368" name="Google Shape;368;p61"/>
          <p:cNvSpPr/>
          <p:nvPr/>
        </p:nvSpPr>
        <p:spPr>
          <a:xfrm>
            <a:off x="4305216" y="62495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369" name="Google Shape;369;p61"/>
          <p:cNvSpPr/>
          <p:nvPr/>
        </p:nvSpPr>
        <p:spPr>
          <a:xfrm>
            <a:off x="6350042" y="6249575"/>
            <a:ext cx="19407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370" name="Google Shape;370;p61"/>
          <p:cNvSpPr/>
          <p:nvPr/>
        </p:nvSpPr>
        <p:spPr>
          <a:xfrm>
            <a:off x="8249434" y="62495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4"/>
          <p:cNvSpPr txBox="1"/>
          <p:nvPr>
            <p:ph idx="1" type="body"/>
          </p:nvPr>
        </p:nvSpPr>
        <p:spPr>
          <a:xfrm>
            <a:off x="797585" y="1576628"/>
            <a:ext cx="5157787" cy="46279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Location –Bastar, Chhattisgarh</a:t>
            </a:r>
            <a:endParaRPr/>
          </a:p>
          <a:p>
            <a:pPr indent="0" lvl="0"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Name – Naina</a:t>
            </a:r>
            <a:endParaRPr sz="2400">
              <a:solidFill>
                <a:schemeClr val="dk1"/>
              </a:solidFill>
              <a:latin typeface="Arial"/>
              <a:ea typeface="Arial"/>
              <a:cs typeface="Arial"/>
              <a:sym typeface="Arial"/>
            </a:endParaRPr>
          </a:p>
          <a:p>
            <a:pPr indent="0" lvl="0" marL="0" rtl="0" algn="l">
              <a:lnSpc>
                <a:spcPct val="170000"/>
              </a:lnSpc>
              <a:spcBef>
                <a:spcPts val="0"/>
              </a:spcBef>
              <a:spcAft>
                <a:spcPts val="0"/>
              </a:spcAft>
              <a:buSzPts val="1400"/>
              <a:buNone/>
            </a:pPr>
            <a:r>
              <a:rPr lang="en-IN" sz="2400">
                <a:solidFill>
                  <a:schemeClr val="dk1"/>
                </a:solidFill>
                <a:latin typeface="Arial"/>
                <a:ea typeface="Arial"/>
                <a:cs typeface="Arial"/>
                <a:sym typeface="Arial"/>
              </a:rPr>
              <a:t>Activity – </a:t>
            </a:r>
            <a:r>
              <a:rPr b="1" lang="en-IN" sz="2400">
                <a:solidFill>
                  <a:schemeClr val="dk1"/>
                </a:solidFill>
                <a:latin typeface="Arial"/>
                <a:ea typeface="Arial"/>
                <a:cs typeface="Arial"/>
                <a:sym typeface="Arial"/>
              </a:rPr>
              <a:t>Agriculture + Fisheries + Livestock</a:t>
            </a:r>
            <a:endParaRPr sz="24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Steps which were game changer</a:t>
            </a:r>
            <a:endParaRPr/>
          </a:p>
          <a:p>
            <a:pPr indent="0" lvl="1"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Linking with SHGs</a:t>
            </a:r>
            <a:endParaRPr/>
          </a:p>
          <a:p>
            <a:pPr indent="0" lvl="1"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Training and Capacity Building</a:t>
            </a:r>
            <a:endParaRPr/>
          </a:p>
          <a:p>
            <a:pPr indent="0" lvl="1"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Financial support from SHG</a:t>
            </a:r>
            <a:endParaRPr/>
          </a:p>
          <a:p>
            <a:pPr indent="0" lvl="1"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Training on diversified Livelihoods</a:t>
            </a:r>
            <a:endParaRPr/>
          </a:p>
          <a:p>
            <a:pPr indent="0" lvl="1" marL="0" rtl="0" algn="l">
              <a:lnSpc>
                <a:spcPct val="100000"/>
              </a:lnSpc>
              <a:spcBef>
                <a:spcPts val="0"/>
              </a:spcBef>
              <a:spcAft>
                <a:spcPts val="0"/>
              </a:spcAft>
              <a:buSzPts val="1400"/>
              <a:buNone/>
            </a:pPr>
            <a:r>
              <a:rPr lang="en-IN" sz="2400">
                <a:solidFill>
                  <a:schemeClr val="dk1"/>
                </a:solidFill>
                <a:latin typeface="Arial"/>
                <a:ea typeface="Arial"/>
                <a:cs typeface="Arial"/>
                <a:sym typeface="Arial"/>
              </a:rPr>
              <a:t>Enhanced income </a:t>
            </a:r>
            <a:r>
              <a:rPr b="1" lang="en-IN" sz="2400">
                <a:solidFill>
                  <a:srgbClr val="0070C0"/>
                </a:solidFill>
                <a:latin typeface="Arial"/>
                <a:ea typeface="Arial"/>
                <a:cs typeface="Arial"/>
                <a:sym typeface="Arial"/>
              </a:rPr>
              <a:t>(₹1.4Lakh per year)</a:t>
            </a:r>
            <a:endParaRPr/>
          </a:p>
          <a:p>
            <a:pPr indent="0" lvl="0" marL="0" rtl="0" algn="l">
              <a:lnSpc>
                <a:spcPct val="100000"/>
              </a:lnSpc>
              <a:spcBef>
                <a:spcPts val="0"/>
              </a:spcBef>
              <a:spcAft>
                <a:spcPts val="0"/>
              </a:spcAft>
              <a:buSzPts val="1400"/>
              <a:buNone/>
            </a:pPr>
            <a:r>
              <a:t/>
            </a:r>
            <a:endParaRPr>
              <a:solidFill>
                <a:schemeClr val="dk1"/>
              </a:solidFill>
              <a:latin typeface="Arial"/>
              <a:ea typeface="Arial"/>
              <a:cs typeface="Arial"/>
              <a:sym typeface="Arial"/>
            </a:endParaRPr>
          </a:p>
        </p:txBody>
      </p:sp>
      <p:pic>
        <p:nvPicPr>
          <p:cNvPr id="376" name="Google Shape;376;p64"/>
          <p:cNvPicPr preferRelativeResize="0"/>
          <p:nvPr>
            <p:ph idx="2" type="body"/>
          </p:nvPr>
        </p:nvPicPr>
        <p:blipFill rotWithShape="1">
          <a:blip r:embed="rId3">
            <a:alphaModFix/>
          </a:blip>
          <a:srcRect b="0" l="0" r="0" t="0"/>
          <a:stretch/>
        </p:blipFill>
        <p:spPr>
          <a:xfrm>
            <a:off x="6455230" y="1798530"/>
            <a:ext cx="4617128" cy="4478552"/>
          </a:xfrm>
          <a:prstGeom prst="rect">
            <a:avLst/>
          </a:prstGeom>
          <a:noFill/>
          <a:ln>
            <a:noFill/>
          </a:ln>
        </p:spPr>
      </p:pic>
      <p:sp>
        <p:nvSpPr>
          <p:cNvPr id="377" name="Google Shape;377;p64"/>
          <p:cNvSpPr/>
          <p:nvPr/>
        </p:nvSpPr>
        <p:spPr>
          <a:xfrm>
            <a:off x="-1" y="208237"/>
            <a:ext cx="12192001" cy="61341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IN" sz="2800" u="none" cap="none" strike="noStrike">
                <a:solidFill>
                  <a:schemeClr val="lt1"/>
                </a:solidFill>
                <a:latin typeface="Arial"/>
                <a:ea typeface="Arial"/>
                <a:cs typeface="Arial"/>
                <a:sym typeface="Arial"/>
              </a:rPr>
              <a:t>Evidence from field- Diversification of Activities (Chhattisgarh)</a:t>
            </a:r>
            <a:endParaRPr b="1" i="0" sz="2800" u="none" cap="none" strike="noStrike">
              <a:solidFill>
                <a:schemeClr val="lt1"/>
              </a:solidFill>
              <a:latin typeface="Arial"/>
              <a:ea typeface="Arial"/>
              <a:cs typeface="Arial"/>
              <a:sym typeface="Arial"/>
            </a:endParaRPr>
          </a:p>
        </p:txBody>
      </p:sp>
      <p:sp>
        <p:nvSpPr>
          <p:cNvPr id="378" name="Google Shape;378;p64"/>
          <p:cNvSpPr/>
          <p:nvPr/>
        </p:nvSpPr>
        <p:spPr>
          <a:xfrm>
            <a:off x="1896600" y="6325775"/>
            <a:ext cx="21801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Lakhpati planning</a:t>
            </a:r>
            <a:endParaRPr b="1" i="0" sz="1600" u="none" cap="none" strike="noStrike">
              <a:solidFill>
                <a:srgbClr val="000000"/>
              </a:solidFill>
              <a:latin typeface="Georgia"/>
              <a:ea typeface="Georgia"/>
              <a:cs typeface="Georgia"/>
              <a:sym typeface="Georgia"/>
            </a:endParaRPr>
          </a:p>
        </p:txBody>
      </p:sp>
      <p:sp>
        <p:nvSpPr>
          <p:cNvPr id="379" name="Google Shape;379;p64"/>
          <p:cNvSpPr/>
          <p:nvPr/>
        </p:nvSpPr>
        <p:spPr>
          <a:xfrm>
            <a:off x="4076616" y="6325775"/>
            <a:ext cx="20625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900"/>
              <a:buFont typeface="Arial"/>
              <a:buNone/>
            </a:pPr>
            <a:r>
              <a:rPr b="1" i="0" lang="en-IN" sz="1600" u="none" cap="none" strike="noStrike">
                <a:solidFill>
                  <a:schemeClr val="dk1"/>
                </a:solidFill>
                <a:latin typeface="Georgia"/>
                <a:ea typeface="Georgia"/>
                <a:cs typeface="Georgia"/>
                <a:sym typeface="Georgia"/>
              </a:rPr>
              <a:t>Elements of support</a:t>
            </a:r>
            <a:endParaRPr b="1" i="0" sz="1600" u="none" cap="none" strike="noStrike">
              <a:solidFill>
                <a:srgbClr val="000000"/>
              </a:solidFill>
              <a:latin typeface="Georgia"/>
              <a:ea typeface="Georgia"/>
              <a:cs typeface="Georgia"/>
              <a:sym typeface="Georgia"/>
            </a:endParaRPr>
          </a:p>
        </p:txBody>
      </p:sp>
      <p:sp>
        <p:nvSpPr>
          <p:cNvPr id="380" name="Google Shape;380;p64"/>
          <p:cNvSpPr/>
          <p:nvPr/>
        </p:nvSpPr>
        <p:spPr>
          <a:xfrm>
            <a:off x="6121442" y="6325775"/>
            <a:ext cx="1940700" cy="507600"/>
          </a:xfrm>
          <a:prstGeom prst="round2SameRect">
            <a:avLst>
              <a:gd fmla="val 16667" name="adj1"/>
              <a:gd fmla="val 0" name="adj2"/>
            </a:avLst>
          </a:prstGeom>
          <a:solidFill>
            <a:srgbClr val="D8D8D8"/>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Planning approach</a:t>
            </a:r>
            <a:endParaRPr b="1" i="0" sz="1600" u="none" cap="none" strike="noStrike">
              <a:solidFill>
                <a:srgbClr val="000000"/>
              </a:solidFill>
              <a:latin typeface="Georgia"/>
              <a:ea typeface="Georgia"/>
              <a:cs typeface="Georgia"/>
              <a:sym typeface="Georgia"/>
            </a:endParaRPr>
          </a:p>
        </p:txBody>
      </p:sp>
      <p:sp>
        <p:nvSpPr>
          <p:cNvPr id="381" name="Google Shape;381;p64"/>
          <p:cNvSpPr/>
          <p:nvPr/>
        </p:nvSpPr>
        <p:spPr>
          <a:xfrm>
            <a:off x="8020834" y="6325775"/>
            <a:ext cx="1940700" cy="507600"/>
          </a:xfrm>
          <a:prstGeom prst="round2SameRect">
            <a:avLst>
              <a:gd fmla="val 16667" name="adj1"/>
              <a:gd fmla="val 0" name="adj2"/>
            </a:avLst>
          </a:prstGeom>
          <a:solidFill>
            <a:schemeClr val="accent1"/>
          </a:solidFill>
          <a:ln cap="flat" cmpd="sng" w="9525">
            <a:solidFill>
              <a:srgbClr val="5E5E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IN" sz="1600" u="none" cap="none" strike="noStrike">
                <a:solidFill>
                  <a:srgbClr val="000000"/>
                </a:solidFill>
                <a:latin typeface="Georgia"/>
                <a:ea typeface="Georgia"/>
                <a:cs typeface="Georgia"/>
                <a:sym typeface="Georgia"/>
              </a:rPr>
              <a:t>Field evidences</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Hand drawn stickman confused with speech bubble question mark. Simple  outline curious doodle icon clipart. For question support clipart Stock  Vector Image &amp; Art - Alamy" id="387" name="Google Shape;387;p66"/>
          <p:cNvPicPr preferRelativeResize="0"/>
          <p:nvPr/>
        </p:nvPicPr>
        <p:blipFill rotWithShape="1">
          <a:blip r:embed="rId3">
            <a:alphaModFix/>
          </a:blip>
          <a:srcRect b="0" l="0" r="0" t="0"/>
          <a:stretch/>
        </p:blipFill>
        <p:spPr>
          <a:xfrm>
            <a:off x="2351584" y="511898"/>
            <a:ext cx="3744416" cy="3683592"/>
          </a:xfrm>
          <a:prstGeom prst="rect">
            <a:avLst/>
          </a:prstGeom>
          <a:noFill/>
          <a:ln>
            <a:noFill/>
          </a:ln>
        </p:spPr>
      </p:pic>
      <p:sp>
        <p:nvSpPr>
          <p:cNvPr id="388" name="Google Shape;388;p66"/>
          <p:cNvSpPr txBox="1"/>
          <p:nvPr/>
        </p:nvSpPr>
        <p:spPr>
          <a:xfrm>
            <a:off x="5728996" y="1050279"/>
            <a:ext cx="6030768" cy="335377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Arial"/>
                <a:ea typeface="Arial"/>
                <a:cs typeface="Arial"/>
                <a:sym typeface="Arial"/>
              </a:rPr>
              <a:t>Identify the Different requirements for Livelihood Planning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1" i="0" sz="40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Arial"/>
                <a:ea typeface="Arial"/>
                <a:cs typeface="Arial"/>
                <a:sym typeface="Arial"/>
              </a:rPr>
              <a:t>(Group Assignment)</a:t>
            </a:r>
            <a:endParaRPr b="0" i="0" sz="1100" u="none" cap="none" strike="noStrike">
              <a:solidFill>
                <a:srgbClr val="000000"/>
              </a:solidFill>
              <a:latin typeface="Arial"/>
              <a:ea typeface="Arial"/>
              <a:cs typeface="Arial"/>
              <a:sym typeface="Arial"/>
            </a:endParaRPr>
          </a:p>
        </p:txBody>
      </p:sp>
      <p:sp>
        <p:nvSpPr>
          <p:cNvPr id="389" name="Google Shape;389;p66"/>
          <p:cNvSpPr/>
          <p:nvPr/>
        </p:nvSpPr>
        <p:spPr>
          <a:xfrm>
            <a:off x="4212332" y="4783792"/>
            <a:ext cx="7547529" cy="1200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IN" sz="3600" u="none" cap="none" strike="noStrike">
                <a:solidFill>
                  <a:schemeClr val="accent3"/>
                </a:solidFill>
                <a:latin typeface="Arial"/>
                <a:ea typeface="Arial"/>
                <a:cs typeface="Arial"/>
                <a:sym typeface="Arial"/>
              </a:rPr>
              <a:t>Group Discussion -3 Groups </a:t>
            </a:r>
            <a:endParaRPr b="0" i="0" sz="105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IN" sz="3600" u="none" cap="none" strike="noStrike">
                <a:solidFill>
                  <a:schemeClr val="accent3"/>
                </a:solidFill>
                <a:latin typeface="Arial"/>
                <a:ea typeface="Arial"/>
                <a:cs typeface="Arial"/>
                <a:sym typeface="Arial"/>
              </a:rPr>
              <a:t>10 Mins</a:t>
            </a:r>
            <a:endParaRPr b="1" i="0" sz="3600" u="none" cap="none" strike="noStrike">
              <a:solidFill>
                <a:schemeClr val="accent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aphicFrame>
        <p:nvGraphicFramePr>
          <p:cNvPr id="394" name="Google Shape;394;p67"/>
          <p:cNvGraphicFramePr/>
          <p:nvPr/>
        </p:nvGraphicFramePr>
        <p:xfrm>
          <a:off x="2444620" y="373224"/>
          <a:ext cx="3000000" cy="3000000"/>
        </p:xfrm>
        <a:graphic>
          <a:graphicData uri="http://schemas.openxmlformats.org/drawingml/2006/table">
            <a:tbl>
              <a:tblPr bandRow="1">
                <a:noFill/>
                <a:tableStyleId>{4F2DF9DA-3228-4AEA-978D-7552B1BEB1B3}</a:tableStyleId>
              </a:tblPr>
              <a:tblGrid>
                <a:gridCol w="1166325"/>
                <a:gridCol w="2649900"/>
                <a:gridCol w="5225150"/>
              </a:tblGrid>
              <a:tr h="784050">
                <a:tc gridSpan="2">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solidFill>
                            <a:schemeClr val="lt1"/>
                          </a:solidFill>
                        </a:rPr>
                        <a:t>Name</a:t>
                      </a:r>
                      <a:r>
                        <a:rPr b="1" lang="en-IN" sz="1800" u="none" cap="none" strike="noStrike"/>
                        <a:t> </a:t>
                      </a:r>
                      <a:r>
                        <a:rPr b="1" lang="en-IN" sz="1800" u="none" cap="none" strike="noStrike">
                          <a:solidFill>
                            <a:schemeClr val="lt1"/>
                          </a:solidFill>
                        </a:rPr>
                        <a:t>of the Livelihood Activity</a:t>
                      </a:r>
                      <a:endParaRPr b="1" sz="1800" u="none" cap="none" strike="noStrike">
                        <a:solidFill>
                          <a:schemeClr val="lt1"/>
                        </a:solidFill>
                        <a:latin typeface="Calibri"/>
                        <a:ea typeface="Calibri"/>
                        <a:cs typeface="Calibri"/>
                        <a:sym typeface="Calibri"/>
                      </a:endParaRPr>
                    </a:p>
                  </a:txBody>
                  <a:tcPr marT="0" marB="0" marR="68575" marL="68575">
                    <a:solidFill>
                      <a:schemeClr val="accent5"/>
                    </a:solidFill>
                  </a:tcPr>
                </a:tc>
                <a:tc hMerge="1"/>
                <a:tc>
                  <a:txBody>
                    <a:bodyPr/>
                    <a:lstStyle/>
                    <a:p>
                      <a:pPr indent="0" lvl="0" marL="0" marR="0" rtl="0" algn="just">
                        <a:lnSpc>
                          <a:spcPct val="115000"/>
                        </a:lnSpc>
                        <a:spcBef>
                          <a:spcPts val="0"/>
                        </a:spcBef>
                        <a:spcAft>
                          <a:spcPts val="0"/>
                        </a:spcAft>
                        <a:buClr>
                          <a:srgbClr val="000000"/>
                        </a:buClr>
                        <a:buSzPts val="1100"/>
                        <a:buFont typeface="Arial"/>
                        <a:buNone/>
                      </a:pPr>
                      <a:r>
                        <a:rPr lang="en-IN" sz="1100" u="none" cap="none" strike="noStrike"/>
                        <a:t> </a:t>
                      </a:r>
                      <a:endParaRPr sz="1100" u="none" cap="none" strike="noStrike">
                        <a:latin typeface="Calibri"/>
                        <a:ea typeface="Calibri"/>
                        <a:cs typeface="Calibri"/>
                        <a:sym typeface="Calibri"/>
                      </a:endParaRPr>
                    </a:p>
                  </a:txBody>
                  <a:tcPr marT="0" marB="0" marR="68575" marL="68575"/>
                </a:tc>
              </a:tr>
              <a:tr h="1186625">
                <a:tc rowSpan="3">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solidFill>
                            <a:schemeClr val="lt1"/>
                          </a:solidFill>
                        </a:rPr>
                        <a:t>ASSET</a:t>
                      </a:r>
                      <a:endParaRPr b="1" sz="1800" u="none" cap="none" strike="noStrike">
                        <a:solidFill>
                          <a:schemeClr val="lt1"/>
                        </a:solidFill>
                        <a:latin typeface="Calibri"/>
                        <a:ea typeface="Calibri"/>
                        <a:cs typeface="Calibri"/>
                        <a:sym typeface="Calibri"/>
                      </a:endParaRPr>
                    </a:p>
                  </a:txBody>
                  <a:tcPr marT="0" marB="0" marR="68575" marL="68575">
                    <a:lnR cap="flat" cmpd="sng" w="9525">
                      <a:solidFill>
                        <a:srgbClr val="9E9E9E"/>
                      </a:solidFill>
                      <a:prstDash val="solid"/>
                      <a:round/>
                      <a:headEnd len="sm" w="sm" type="none"/>
                      <a:tailEnd len="sm" w="sm" type="none"/>
                    </a:lnR>
                    <a:solidFill>
                      <a:schemeClr val="accent5"/>
                    </a:solidFill>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t>Equipment</a:t>
                      </a:r>
                      <a:endParaRPr b="1" sz="1800" u="none" cap="none" strike="noStrike">
                        <a:solidFill>
                          <a:srgbClr val="FF0000"/>
                        </a:solidFill>
                        <a:latin typeface="Calibri"/>
                        <a:ea typeface="Calibri"/>
                        <a:cs typeface="Calibri"/>
                        <a:sym typeface="Calibri"/>
                      </a:endParaRPr>
                    </a:p>
                  </a:txBody>
                  <a:tcPr marT="0" marB="0"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rgbClr val="000000"/>
                        </a:buClr>
                        <a:buSzPts val="1100"/>
                        <a:buFont typeface="Arial"/>
                        <a:buNone/>
                      </a:pPr>
                      <a:r>
                        <a:rPr lang="en-IN" sz="1100" u="none" cap="none" strike="noStrike"/>
                        <a:t> </a:t>
                      </a:r>
                      <a:endParaRPr sz="1100" u="none" cap="none" strike="noStrike">
                        <a:latin typeface="Calibri"/>
                        <a:ea typeface="Calibri"/>
                        <a:cs typeface="Calibri"/>
                        <a:sym typeface="Calibri"/>
                      </a:endParaRPr>
                    </a:p>
                  </a:txBody>
                  <a:tcPr marT="0" marB="0" marR="68575" marL="68575">
                    <a:lnL cap="flat" cmpd="sng" w="9525">
                      <a:solidFill>
                        <a:srgbClr val="9E9E9E"/>
                      </a:solidFill>
                      <a:prstDash val="solid"/>
                      <a:round/>
                      <a:headEnd len="sm" w="sm" type="none"/>
                      <a:tailEnd len="sm" w="sm" type="none"/>
                    </a:lnL>
                  </a:tcPr>
                </a:tc>
              </a:tr>
              <a:tr h="784050">
                <a:tc vMerge="1"/>
                <a:tc rowSpan="2">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t>Infrastructure</a:t>
                      </a:r>
                      <a:endParaRPr b="1" sz="1800" u="none" cap="none" strike="noStrike">
                        <a:latin typeface="Calibri"/>
                        <a:ea typeface="Calibri"/>
                        <a:cs typeface="Calibri"/>
                        <a:sym typeface="Calibri"/>
                      </a:endParaRPr>
                    </a:p>
                  </a:txBody>
                  <a:tcPr marT="0" marB="0"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rowSpan="2">
                  <a:txBody>
                    <a:bodyPr/>
                    <a:lstStyle/>
                    <a:p>
                      <a:pPr indent="0" lvl="0" marL="0" marR="0" rtl="0" algn="just">
                        <a:lnSpc>
                          <a:spcPct val="115000"/>
                        </a:lnSpc>
                        <a:spcBef>
                          <a:spcPts val="0"/>
                        </a:spcBef>
                        <a:spcAft>
                          <a:spcPts val="0"/>
                        </a:spcAft>
                        <a:buClr>
                          <a:srgbClr val="000000"/>
                        </a:buClr>
                        <a:buSzPts val="1100"/>
                        <a:buFont typeface="Arial"/>
                        <a:buNone/>
                      </a:pPr>
                      <a:r>
                        <a:rPr lang="en-IN" sz="1100" u="none" cap="none" strike="noStrike"/>
                        <a:t> </a:t>
                      </a:r>
                      <a:endParaRPr sz="1100" u="none" cap="none" strike="noStrike">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1100"/>
                        <a:buFont typeface="Arial"/>
                        <a:buNone/>
                      </a:pPr>
                      <a:r>
                        <a:rPr lang="en-IN" sz="1100" u="none" cap="none" strike="noStrike"/>
                        <a:t> </a:t>
                      </a:r>
                      <a:endParaRPr sz="1100" u="none" cap="none" strike="noStrike">
                        <a:latin typeface="Calibri"/>
                        <a:ea typeface="Calibri"/>
                        <a:cs typeface="Calibri"/>
                        <a:sym typeface="Calibri"/>
                      </a:endParaRPr>
                    </a:p>
                  </a:txBody>
                  <a:tcPr marT="0" marB="0" marR="68575" marL="68575">
                    <a:lnL cap="flat" cmpd="sng" w="9525">
                      <a:solidFill>
                        <a:srgbClr val="9E9E9E"/>
                      </a:solidFill>
                      <a:prstDash val="solid"/>
                      <a:round/>
                      <a:headEnd len="sm" w="sm" type="none"/>
                      <a:tailEnd len="sm" w="sm" type="none"/>
                    </a:lnL>
                  </a:tcPr>
                </a:tc>
              </a:tr>
              <a:tr h="784050">
                <a:tc vMerge="1"/>
                <a:tc vMerge="1"/>
                <a:tc vMerge="1"/>
              </a:tr>
              <a:tr h="608475">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solidFill>
                            <a:schemeClr val="lt1"/>
                          </a:solidFill>
                        </a:rPr>
                        <a:t>SKILLS</a:t>
                      </a:r>
                      <a:endParaRPr b="1" sz="1800" u="none" cap="none" strike="noStrike">
                        <a:solidFill>
                          <a:schemeClr val="lt1"/>
                        </a:solidFill>
                        <a:latin typeface="Calibri"/>
                        <a:ea typeface="Calibri"/>
                        <a:cs typeface="Calibri"/>
                        <a:sym typeface="Calibri"/>
                      </a:endParaRPr>
                    </a:p>
                  </a:txBody>
                  <a:tcPr marT="0" marB="0" marR="68575" marL="68575">
                    <a:solidFill>
                      <a:schemeClr val="accent5"/>
                    </a:solidFill>
                  </a:tcPr>
                </a:tc>
                <a:tc>
                  <a:txBody>
                    <a:bodyPr/>
                    <a:lstStyle/>
                    <a:p>
                      <a:pPr indent="0" lvl="0" marL="0" marR="0" rtl="0" algn="l">
                        <a:lnSpc>
                          <a:spcPct val="115000"/>
                        </a:lnSpc>
                        <a:spcBef>
                          <a:spcPts val="0"/>
                        </a:spcBef>
                        <a:spcAft>
                          <a:spcPts val="0"/>
                        </a:spcAft>
                        <a:buClr>
                          <a:srgbClr val="000000"/>
                        </a:buClr>
                        <a:buSzPts val="1800"/>
                        <a:buFont typeface="Arial"/>
                        <a:buNone/>
                      </a:pPr>
                      <a:r>
                        <a:rPr b="1" lang="en-IN" sz="1800" u="none" cap="none" strike="noStrike"/>
                        <a:t>Skill Training/ Exposure Visit</a:t>
                      </a:r>
                      <a:endParaRPr b="1"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IN" sz="1100" u="none" cap="none" strike="noStrike"/>
                        <a:t> </a:t>
                      </a:r>
                      <a:endParaRPr sz="1100" u="none" cap="none" strike="noStrike">
                        <a:latin typeface="Calibri"/>
                        <a:ea typeface="Calibri"/>
                        <a:cs typeface="Calibri"/>
                        <a:sym typeface="Calibri"/>
                      </a:endParaRPr>
                    </a:p>
                  </a:txBody>
                  <a:tcPr marT="0" marB="0" marR="68575" marL="68575"/>
                </a:tc>
              </a:tr>
              <a:tr h="784050">
                <a:tc rowSpan="2">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solidFill>
                            <a:schemeClr val="lt1"/>
                          </a:solidFill>
                        </a:rPr>
                        <a:t>ACCESS</a:t>
                      </a:r>
                      <a:endParaRPr b="1" sz="1800" u="none" cap="none" strike="noStrike">
                        <a:solidFill>
                          <a:schemeClr val="lt1"/>
                        </a:solidFill>
                        <a:latin typeface="Calibri"/>
                        <a:ea typeface="Calibri"/>
                        <a:cs typeface="Calibri"/>
                        <a:sym typeface="Calibri"/>
                      </a:endParaRPr>
                    </a:p>
                  </a:txBody>
                  <a:tcPr marT="0" marB="0" marR="68575" marL="68575">
                    <a:solidFill>
                      <a:schemeClr val="accent5"/>
                    </a:solidFill>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t>Access to Finance</a:t>
                      </a:r>
                      <a:endParaRPr b="1"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IN" sz="1100" u="none" cap="none" strike="noStrike"/>
                        <a:t> </a:t>
                      </a:r>
                      <a:endParaRPr sz="1100" u="none" cap="none" strike="noStrike">
                        <a:latin typeface="Calibri"/>
                        <a:ea typeface="Calibri"/>
                        <a:cs typeface="Calibri"/>
                        <a:sym typeface="Calibri"/>
                      </a:endParaRPr>
                    </a:p>
                  </a:txBody>
                  <a:tcPr marT="0" marB="0" marR="68575" marL="68575"/>
                </a:tc>
              </a:tr>
              <a:tr h="784050">
                <a:tc vMerge="1"/>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t>Access to Market</a:t>
                      </a:r>
                      <a:endParaRPr b="1" sz="1800" u="none" cap="none" strike="noStrike">
                        <a:latin typeface="Calibri"/>
                        <a:ea typeface="Calibri"/>
                        <a:cs typeface="Calibri"/>
                        <a:sym typeface="Calibri"/>
                      </a:endParaRPr>
                    </a:p>
                  </a:txBody>
                  <a:tcPr marT="0" marB="0"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IN" sz="1100" u="none" cap="none" strike="noStrike"/>
                        <a:t> </a:t>
                      </a:r>
                      <a:endParaRPr sz="1100" u="none" cap="none" strike="noStrike">
                        <a:latin typeface="Calibri"/>
                        <a:ea typeface="Calibri"/>
                        <a:cs typeface="Calibri"/>
                        <a:sym typeface="Calibri"/>
                      </a:endParaRPr>
                    </a:p>
                  </a:txBody>
                  <a:tcPr marT="0" marB="0" marR="68575" marL="68575"/>
                </a:tc>
              </a:tr>
              <a:tr h="589700">
                <a:tc>
                  <a:txBody>
                    <a:bodyPr/>
                    <a:lstStyle/>
                    <a:p>
                      <a:pPr indent="0" lvl="0" marL="0" marR="0" rtl="0" algn="just">
                        <a:lnSpc>
                          <a:spcPct val="115000"/>
                        </a:lnSpc>
                        <a:spcBef>
                          <a:spcPts val="0"/>
                        </a:spcBef>
                        <a:spcAft>
                          <a:spcPts val="0"/>
                        </a:spcAft>
                        <a:buClr>
                          <a:srgbClr val="000000"/>
                        </a:buClr>
                        <a:buSzPts val="1800"/>
                        <a:buFont typeface="Arial"/>
                        <a:buNone/>
                      </a:pPr>
                      <a:r>
                        <a:t/>
                      </a:r>
                      <a:endParaRPr b="1" sz="1800" u="none" cap="none" strike="noStrike">
                        <a:solidFill>
                          <a:schemeClr val="lt1"/>
                        </a:solidFill>
                      </a:endParaRPr>
                    </a:p>
                  </a:txBody>
                  <a:tcPr marT="0" marB="0" marR="68575" marL="68575">
                    <a:solidFill>
                      <a:schemeClr val="accent5"/>
                    </a:solidFill>
                  </a:tcPr>
                </a:tc>
                <a:tc>
                  <a:txBody>
                    <a:bodyPr/>
                    <a:lstStyle/>
                    <a:p>
                      <a:pPr indent="0" lvl="0" marL="0" marR="0" rtl="0" algn="just">
                        <a:lnSpc>
                          <a:spcPct val="115000"/>
                        </a:lnSpc>
                        <a:spcBef>
                          <a:spcPts val="0"/>
                        </a:spcBef>
                        <a:spcAft>
                          <a:spcPts val="0"/>
                        </a:spcAft>
                        <a:buClr>
                          <a:srgbClr val="000000"/>
                        </a:buClr>
                        <a:buSzPts val="1800"/>
                        <a:buFont typeface="Arial"/>
                        <a:buNone/>
                      </a:pPr>
                      <a:r>
                        <a:rPr b="1" lang="en-IN" sz="1800" u="none" cap="none" strike="noStrike"/>
                        <a:t>Inputs</a:t>
                      </a:r>
                      <a:endParaRPr b="1" sz="1800" u="none" cap="none" strike="noStrike"/>
                    </a:p>
                  </a:txBody>
                  <a:tcPr marT="0" marB="0"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t/>
                      </a:r>
                      <a:endParaRPr sz="1100" u="none" cap="none" strike="noStrike"/>
                    </a:p>
                  </a:txBody>
                  <a:tcPr marT="0" marB="0" marR="68575" marL="6857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26075d0b429_0_0"/>
          <p:cNvSpPr txBox="1"/>
          <p:nvPr>
            <p:ph idx="1" type="body"/>
          </p:nvPr>
        </p:nvSpPr>
        <p:spPr>
          <a:xfrm>
            <a:off x="-86075" y="3177538"/>
            <a:ext cx="12192000" cy="768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960"/>
              </a:spcBef>
              <a:spcAft>
                <a:spcPts val="0"/>
              </a:spcAft>
              <a:buSzPts val="4800"/>
              <a:buNone/>
            </a:pPr>
            <a:r>
              <a:rPr lang="en-IN"/>
              <a:t>Queries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2"/>
          <p:cNvSpPr txBox="1"/>
          <p:nvPr>
            <p:ph type="title"/>
          </p:nvPr>
        </p:nvSpPr>
        <p:spPr>
          <a:xfrm>
            <a:off x="901600" y="2846356"/>
            <a:ext cx="10388800" cy="7952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Clr>
                <a:srgbClr val="F3F3F3"/>
              </a:buClr>
              <a:buSzPts val="8000"/>
              <a:buFont typeface="Bookman Old Style"/>
              <a:buNone/>
            </a:pPr>
            <a:r>
              <a:rPr b="0" i="0" lang="en-IN" sz="8000" u="none" cap="none" strike="noStrike">
                <a:solidFill>
                  <a:srgbClr val="F3F3F3"/>
                </a:solidFill>
                <a:latin typeface="Bookman Old Style"/>
                <a:ea typeface="Bookman Old Style"/>
                <a:cs typeface="Bookman Old Style"/>
                <a:sym typeface="Bookman Old Style"/>
              </a:rPr>
              <a:t>Thank you</a:t>
            </a:r>
            <a:endParaRPr b="0" i="0" sz="8000" u="none" cap="none" strike="noStrike">
              <a:solidFill>
                <a:srgbClr val="F3F3F3"/>
              </a:solidFill>
              <a:latin typeface="Bookman Old Style"/>
              <a:ea typeface="Bookman Old Style"/>
              <a:cs typeface="Bookman Old Style"/>
              <a:sym typeface="Bookman Old Style"/>
            </a:endParaRPr>
          </a:p>
        </p:txBody>
      </p:sp>
      <p:sp>
        <p:nvSpPr>
          <p:cNvPr id="406" name="Google Shape;406;p22"/>
          <p:cNvSpPr txBox="1"/>
          <p:nvPr>
            <p:ph idx="12" type="sldNum"/>
          </p:nvPr>
        </p:nvSpPr>
        <p:spPr>
          <a:xfrm>
            <a:off x="11460400" y="6453000"/>
            <a:ext cx="731600" cy="404800"/>
          </a:xfrm>
          <a:prstGeom prst="rect">
            <a:avLst/>
          </a:prstGeom>
          <a:noFill/>
          <a:ln>
            <a:noFill/>
          </a:ln>
          <a:effectLst>
            <a:outerShdw blurRad="28575" rotWithShape="0" algn="bl" dir="5400000" dist="19050">
              <a:srgbClr val="000000">
                <a:alpha val="22352"/>
              </a:srgbClr>
            </a:outerShdw>
          </a:effectLst>
        </p:spPr>
        <p:txBody>
          <a:bodyPr anchorCtr="0" anchor="t" bIns="121900" lIns="121900" spcFirstLastPara="1" rIns="121900" wrap="square" tIns="121900">
            <a:noAutofit/>
          </a:bodyPr>
          <a:lstStyle/>
          <a:p>
            <a:pPr indent="0" lvl="0" marL="0" rtl="0" algn="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ontents Slide Master">
  <a:themeElements>
    <a:clrScheme name="ALLPPT-COLOR-A19">
      <a:dk1>
        <a:srgbClr val="000000"/>
      </a:dk1>
      <a:lt1>
        <a:srgbClr val="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2022-07-01T06:37:46Z</dcterms:created>
  <dc:creator>Sonal</dc:creator>
</cp:coreProperties>
</file>