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jH5IoBXQc8dZ5Gs5vxvXd09VJK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296327-2A04-4F73-ADC8-0AD44FC697A2}">
  <a:tblStyle styleId="{1D296327-2A04-4F73-ADC8-0AD44FC697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64a37e54f3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g264a37e54f3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64a37e54f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64a37e54f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64a37e54f3_1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64a37e54f3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64a37e54f3_1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64a37e54f3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64a37e54f3_1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64a37e54f3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64a37e54f3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64a37e54f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nrlm.gov.in/shgOuterReports.do?methodName=showShgrepor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hyperlink" Target="https://forms.gle/qAJAS1tYsoh6Jkfk6" TargetMode="External"/><Relationship Id="rId10" Type="http://schemas.openxmlformats.org/officeDocument/2006/relationships/hyperlink" Target="https://forms.gle/vC4ZCziynL5uoXah9" TargetMode="External"/><Relationship Id="rId13" Type="http://schemas.openxmlformats.org/officeDocument/2006/relationships/hyperlink" Target="https://forms.gle/hYkyNEtXPY2r5MTY6" TargetMode="External"/><Relationship Id="rId12" Type="http://schemas.openxmlformats.org/officeDocument/2006/relationships/hyperlink" Target="https://forms.gle/moH3XvYsdpbHqQ4M8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forms.gle/WF7dEr6M3FuLrzta7" TargetMode="External"/><Relationship Id="rId4" Type="http://schemas.openxmlformats.org/officeDocument/2006/relationships/hyperlink" Target="https://forms.gle/nzkdoMXiAZhGWyRV9" TargetMode="External"/><Relationship Id="rId9" Type="http://schemas.openxmlformats.org/officeDocument/2006/relationships/hyperlink" Target="https://forms.gle/SwdRcBD9fTZDNE6s6" TargetMode="External"/><Relationship Id="rId14" Type="http://schemas.openxmlformats.org/officeDocument/2006/relationships/hyperlink" Target="https://forms.gle/maTCP2h3zjy9tNoX8" TargetMode="External"/><Relationship Id="rId5" Type="http://schemas.openxmlformats.org/officeDocument/2006/relationships/hyperlink" Target="https://forms.gle/nM9X2WGStTjw7RFN6" TargetMode="External"/><Relationship Id="rId6" Type="http://schemas.openxmlformats.org/officeDocument/2006/relationships/hyperlink" Target="https://forms.gle/1XY62WH7g2aJzzwJ6" TargetMode="External"/><Relationship Id="rId7" Type="http://schemas.openxmlformats.org/officeDocument/2006/relationships/hyperlink" Target="https://forms.gle/S7DQDqPL7MHmTKBs9" TargetMode="External"/><Relationship Id="rId8" Type="http://schemas.openxmlformats.org/officeDocument/2006/relationships/hyperlink" Target="https://forms.gle/DFNAxq4rV4BH8p8r5" TargetMode="External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hyperlink" Target="https://forms.gle/uMf4R2aajdbTpSEA6" TargetMode="External"/><Relationship Id="rId10" Type="http://schemas.openxmlformats.org/officeDocument/2006/relationships/hyperlink" Target="https://forms.gle/wvr1RKJtMaCF81Zi6" TargetMode="External"/><Relationship Id="rId13" Type="http://schemas.openxmlformats.org/officeDocument/2006/relationships/hyperlink" Target="https://forms.gle/1yg7ZFB91qRkG4u68" TargetMode="External"/><Relationship Id="rId12" Type="http://schemas.openxmlformats.org/officeDocument/2006/relationships/hyperlink" Target="https://forms.gle/8iXL64dxj5ZMSazE6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forms.gle/NJQzsTyJPBk9bMZe8" TargetMode="External"/><Relationship Id="rId4" Type="http://schemas.openxmlformats.org/officeDocument/2006/relationships/hyperlink" Target="https://forms.gle/GWxF7D1yoVePdXaGA" TargetMode="External"/><Relationship Id="rId9" Type="http://schemas.openxmlformats.org/officeDocument/2006/relationships/hyperlink" Target="https://forms.gle/UsXFEJNbjQ3Aikfn7" TargetMode="External"/><Relationship Id="rId14" Type="http://schemas.openxmlformats.org/officeDocument/2006/relationships/hyperlink" Target="https://forms.gle/x6LusAyuXpWkiJbk6" TargetMode="External"/><Relationship Id="rId5" Type="http://schemas.openxmlformats.org/officeDocument/2006/relationships/hyperlink" Target="https://forms.gle/LM3aDUCLp3XQjUq47" TargetMode="External"/><Relationship Id="rId6" Type="http://schemas.openxmlformats.org/officeDocument/2006/relationships/hyperlink" Target="https://forms.gle/Y8LdctaU47Pn3aAd6" TargetMode="External"/><Relationship Id="rId7" Type="http://schemas.openxmlformats.org/officeDocument/2006/relationships/hyperlink" Target="https://forms.gle/VsdqMJ1zyDcDGmNr6" TargetMode="External"/><Relationship Id="rId8" Type="http://schemas.openxmlformats.org/officeDocument/2006/relationships/hyperlink" Target="https://forms.gle/auXzaLkXTiSgkEJT6" TargetMode="Externa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hyperlink" Target="https://forms.gle/QjDcsF6RAfuwo2Xw8" TargetMode="External"/><Relationship Id="rId10" Type="http://schemas.openxmlformats.org/officeDocument/2006/relationships/hyperlink" Target="https://forms.gle/jU8azVyKFDkCdwqF6" TargetMode="External"/><Relationship Id="rId13" Type="http://schemas.openxmlformats.org/officeDocument/2006/relationships/hyperlink" Target="https://forms.gle/vqaW1gDG8uDfTcj3A" TargetMode="External"/><Relationship Id="rId12" Type="http://schemas.openxmlformats.org/officeDocument/2006/relationships/hyperlink" Target="https://forms.gle/LKzcPuXrk28AyZrr7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forms.gle/vqaW1gDG8uDfTcj3A" TargetMode="External"/><Relationship Id="rId4" Type="http://schemas.openxmlformats.org/officeDocument/2006/relationships/hyperlink" Target="https://forms.gle/DqwLwK3UnU3znfeN6" TargetMode="External"/><Relationship Id="rId9" Type="http://schemas.openxmlformats.org/officeDocument/2006/relationships/hyperlink" Target="https://forms.gle/sqw1qFVYPV2kW9ZXA" TargetMode="External"/><Relationship Id="rId14" Type="http://schemas.openxmlformats.org/officeDocument/2006/relationships/hyperlink" Target="https://forms.gle/DqwLwK3UnU3znfeN6" TargetMode="External"/><Relationship Id="rId5" Type="http://schemas.openxmlformats.org/officeDocument/2006/relationships/hyperlink" Target="https://forms.gle/1eCUQX2ytoGj3LZF7" TargetMode="External"/><Relationship Id="rId6" Type="http://schemas.openxmlformats.org/officeDocument/2006/relationships/hyperlink" Target="https://forms.gle/4oqR772xRqDMBxXPA" TargetMode="External"/><Relationship Id="rId7" Type="http://schemas.openxmlformats.org/officeDocument/2006/relationships/hyperlink" Target="https://forms.gle/CBggd1UeLmku6LG2A" TargetMode="External"/><Relationship Id="rId8" Type="http://schemas.openxmlformats.org/officeDocument/2006/relationships/hyperlink" Target="https://forms.gle/xVEU6aaANe7PjR7u6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19065" y="2721911"/>
            <a:ext cx="10693500" cy="4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80"/>
              <a:buFont typeface="Arial"/>
              <a:buNone/>
            </a:pPr>
            <a:r>
              <a:rPr b="1" i="0" lang="en-US" sz="8280" u="none" cap="none" strike="noStrike">
                <a:solidFill>
                  <a:srgbClr val="F47C00"/>
                </a:solidFill>
                <a:latin typeface="Cambria"/>
                <a:ea typeface="Cambria"/>
                <a:cs typeface="Cambria"/>
                <a:sym typeface="Cambria"/>
              </a:rPr>
              <a:t>Session 1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80"/>
              <a:buFont typeface="Arial"/>
              <a:buNone/>
            </a:pPr>
            <a:r>
              <a:rPr b="1" lang="en-US" sz="8280">
                <a:solidFill>
                  <a:srgbClr val="F47C00"/>
                </a:solidFill>
                <a:latin typeface="Cambria"/>
                <a:ea typeface="Cambria"/>
                <a:cs typeface="Cambria"/>
                <a:sym typeface="Cambria"/>
              </a:rPr>
              <a:t>Training registration</a:t>
            </a:r>
            <a:endParaRPr b="1" sz="8280">
              <a:solidFill>
                <a:srgbClr val="F47C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80"/>
              <a:buFont typeface="Arial"/>
              <a:buNone/>
            </a:pPr>
            <a:r>
              <a:rPr b="1" lang="en-US" sz="8280">
                <a:solidFill>
                  <a:srgbClr val="F47C00"/>
                </a:solidFill>
                <a:latin typeface="Cambria"/>
                <a:ea typeface="Cambria"/>
                <a:cs typeface="Cambria"/>
                <a:sym typeface="Cambria"/>
              </a:rPr>
              <a:t>CRPs</a:t>
            </a:r>
            <a:endParaRPr b="1" sz="8280">
              <a:solidFill>
                <a:srgbClr val="F47C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3485712" y="7535052"/>
            <a:ext cx="4648902" cy="2763005"/>
          </a:xfrm>
          <a:custGeom>
            <a:rect b="b" l="l" r="r" t="t"/>
            <a:pathLst>
              <a:path extrusionOk="0" h="7258769" w="10760978">
                <a:moveTo>
                  <a:pt x="0" y="0"/>
                </a:moveTo>
                <a:lnTo>
                  <a:pt x="10760978" y="0"/>
                </a:lnTo>
                <a:lnTo>
                  <a:pt x="10760978" y="7258769"/>
                </a:lnTo>
                <a:lnTo>
                  <a:pt x="0" y="725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 rot="2078457">
            <a:off x="66202" y="-63450"/>
            <a:ext cx="3188920" cy="2325075"/>
          </a:xfrm>
          <a:custGeom>
            <a:rect b="b" l="l" r="r" t="t"/>
            <a:pathLst>
              <a:path extrusionOk="0" h="6435461" w="9540441">
                <a:moveTo>
                  <a:pt x="0" y="0"/>
                </a:moveTo>
                <a:lnTo>
                  <a:pt x="9540440" y="0"/>
                </a:lnTo>
                <a:lnTo>
                  <a:pt x="9540440" y="6435461"/>
                </a:lnTo>
                <a:lnTo>
                  <a:pt x="0" y="64354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0987978" y="1866900"/>
            <a:ext cx="6854382" cy="7429237"/>
          </a:xfrm>
          <a:custGeom>
            <a:rect b="b" l="l" r="r" t="t"/>
            <a:pathLst>
              <a:path extrusionOk="0" h="7429237" w="6854382">
                <a:moveTo>
                  <a:pt x="0" y="0"/>
                </a:moveTo>
                <a:lnTo>
                  <a:pt x="6854382" y="0"/>
                </a:lnTo>
                <a:lnTo>
                  <a:pt x="6854382" y="7429237"/>
                </a:lnTo>
                <a:lnTo>
                  <a:pt x="0" y="7429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6153" l="0" r="0" t="-6154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12753712" y="226384"/>
            <a:ext cx="4505588" cy="2146363"/>
          </a:xfrm>
          <a:custGeom>
            <a:rect b="b" l="l" r="r" t="t"/>
            <a:pathLst>
              <a:path extrusionOk="0" h="2146363" w="4505588">
                <a:moveTo>
                  <a:pt x="0" y="0"/>
                </a:moveTo>
                <a:lnTo>
                  <a:pt x="4505588" y="0"/>
                </a:lnTo>
                <a:lnTo>
                  <a:pt x="4505588" y="2146362"/>
                </a:lnTo>
                <a:lnTo>
                  <a:pt x="0" y="21463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841826" y="8232262"/>
            <a:ext cx="1314491" cy="1304932"/>
          </a:xfrm>
          <a:custGeom>
            <a:rect b="b" l="l" r="r" t="t"/>
            <a:pathLst>
              <a:path extrusionOk="0" h="1304932" w="1314491">
                <a:moveTo>
                  <a:pt x="0" y="0"/>
                </a:moveTo>
                <a:lnTo>
                  <a:pt x="1314491" y="0"/>
                </a:lnTo>
                <a:lnTo>
                  <a:pt x="1314491" y="1304931"/>
                </a:lnTo>
                <a:lnTo>
                  <a:pt x="0" y="1304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4972791" y="8038344"/>
            <a:ext cx="4799423" cy="1521317"/>
          </a:xfrm>
          <a:custGeom>
            <a:rect b="b" l="l" r="r" t="t"/>
            <a:pathLst>
              <a:path extrusionOk="0" h="1521317" w="4799423">
                <a:moveTo>
                  <a:pt x="0" y="0"/>
                </a:moveTo>
                <a:lnTo>
                  <a:pt x="4799423" y="0"/>
                </a:lnTo>
                <a:lnTo>
                  <a:pt x="4799423" y="1521317"/>
                </a:lnTo>
                <a:lnTo>
                  <a:pt x="0" y="1521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 txBox="1"/>
          <p:nvPr/>
        </p:nvSpPr>
        <p:spPr>
          <a:xfrm>
            <a:off x="12150369" y="2440541"/>
            <a:ext cx="25800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Ministry of Rural Development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4911256" y="2468482"/>
            <a:ext cx="258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DAY-NRLM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01550" y="2923250"/>
            <a:ext cx="803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00">
                <a:solidFill>
                  <a:srgbClr val="F6B26B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6300">
              <a:solidFill>
                <a:srgbClr val="F6B26B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B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/>
          <p:nvPr/>
        </p:nvSpPr>
        <p:spPr>
          <a:xfrm>
            <a:off x="530760" y="2449906"/>
            <a:ext cx="2515574" cy="2172542"/>
          </a:xfrm>
          <a:custGeom>
            <a:rect b="b" l="l" r="r" t="t"/>
            <a:pathLst>
              <a:path extrusionOk="0" h="2172542" w="2515574">
                <a:moveTo>
                  <a:pt x="0" y="0"/>
                </a:moveTo>
                <a:lnTo>
                  <a:pt x="2515574" y="0"/>
                </a:lnTo>
                <a:lnTo>
                  <a:pt x="2515574" y="2172541"/>
                </a:lnTo>
                <a:lnTo>
                  <a:pt x="0" y="2172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8"/>
          <p:cNvSpPr/>
          <p:nvPr/>
        </p:nvSpPr>
        <p:spPr>
          <a:xfrm>
            <a:off x="530760" y="5075231"/>
            <a:ext cx="2515574" cy="2172542"/>
          </a:xfrm>
          <a:custGeom>
            <a:rect b="b" l="l" r="r" t="t"/>
            <a:pathLst>
              <a:path extrusionOk="0" h="2172542" w="2515574">
                <a:moveTo>
                  <a:pt x="0" y="0"/>
                </a:moveTo>
                <a:lnTo>
                  <a:pt x="2515574" y="0"/>
                </a:lnTo>
                <a:lnTo>
                  <a:pt x="2515574" y="2172541"/>
                </a:lnTo>
                <a:lnTo>
                  <a:pt x="0" y="2172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8"/>
          <p:cNvSpPr/>
          <p:nvPr/>
        </p:nvSpPr>
        <p:spPr>
          <a:xfrm>
            <a:off x="1288500" y="2740352"/>
            <a:ext cx="1272443" cy="1454976"/>
          </a:xfrm>
          <a:custGeom>
            <a:rect b="b" l="l" r="r" t="t"/>
            <a:pathLst>
              <a:path extrusionOk="0" h="1454976" w="1272443">
                <a:moveTo>
                  <a:pt x="0" y="0"/>
                </a:moveTo>
                <a:lnTo>
                  <a:pt x="1272443" y="0"/>
                </a:lnTo>
                <a:lnTo>
                  <a:pt x="1272443" y="1454976"/>
                </a:lnTo>
                <a:lnTo>
                  <a:pt x="0" y="14549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8"/>
          <p:cNvSpPr/>
          <p:nvPr/>
        </p:nvSpPr>
        <p:spPr>
          <a:xfrm>
            <a:off x="1105967" y="5434013"/>
            <a:ext cx="1454976" cy="1454976"/>
          </a:xfrm>
          <a:custGeom>
            <a:rect b="b" l="l" r="r" t="t"/>
            <a:pathLst>
              <a:path extrusionOk="0" h="1454976" w="1454976">
                <a:moveTo>
                  <a:pt x="0" y="0"/>
                </a:moveTo>
                <a:lnTo>
                  <a:pt x="1454976" y="0"/>
                </a:lnTo>
                <a:lnTo>
                  <a:pt x="1454976" y="1454976"/>
                </a:lnTo>
                <a:lnTo>
                  <a:pt x="0" y="14549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8"/>
          <p:cNvSpPr/>
          <p:nvPr/>
        </p:nvSpPr>
        <p:spPr>
          <a:xfrm>
            <a:off x="15694880" y="382508"/>
            <a:ext cx="2420747" cy="964006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8"/>
          <p:cNvSpPr/>
          <p:nvPr/>
        </p:nvSpPr>
        <p:spPr>
          <a:xfrm>
            <a:off x="12360396" y="2635577"/>
            <a:ext cx="4544858" cy="6188575"/>
          </a:xfrm>
          <a:custGeom>
            <a:rect b="b" l="l" r="r" t="t"/>
            <a:pathLst>
              <a:path extrusionOk="0" h="6188575" w="4544858">
                <a:moveTo>
                  <a:pt x="0" y="0"/>
                </a:moveTo>
                <a:lnTo>
                  <a:pt x="4544858" y="0"/>
                </a:lnTo>
                <a:lnTo>
                  <a:pt x="4544858" y="6188575"/>
                </a:lnTo>
                <a:lnTo>
                  <a:pt x="0" y="61885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49493" l="-5779" r="0" t="-23131"/>
            </a:stretch>
          </a:blipFill>
          <a:ln>
            <a:noFill/>
          </a:ln>
        </p:spPr>
      </p:sp>
      <p:sp>
        <p:nvSpPr>
          <p:cNvPr id="104" name="Google Shape;104;p8"/>
          <p:cNvSpPr txBox="1"/>
          <p:nvPr/>
        </p:nvSpPr>
        <p:spPr>
          <a:xfrm>
            <a:off x="3513411" y="2654627"/>
            <a:ext cx="115947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5"/>
              <a:buFont typeface="Arial"/>
              <a:buNone/>
            </a:pPr>
            <a:r>
              <a:rPr b="1" i="0" lang="en-US" sz="3965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Fill the enrollment forms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5"/>
              <a:buFont typeface="Arial"/>
              <a:buNone/>
            </a:pPr>
            <a:r>
              <a:rPr b="1" i="0" lang="en-US" sz="3065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It will help us in communicating with you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p8"/>
          <p:cNvSpPr txBox="1"/>
          <p:nvPr/>
        </p:nvSpPr>
        <p:spPr>
          <a:xfrm>
            <a:off x="3274934" y="5290059"/>
            <a:ext cx="9505500" cy="17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0"/>
              <a:buFont typeface="Arial"/>
              <a:buNone/>
            </a:pPr>
            <a:r>
              <a:rPr b="1" i="0" lang="en-US" sz="305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Form a whatsapp group of participants and share the link to fill registration form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0"/>
              <a:buFont typeface="Arial"/>
              <a:buNone/>
            </a:pPr>
            <a:r>
              <a:rPr b="1" i="0" lang="en-US" sz="305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Link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6" name="Google Shape;106;p8"/>
          <p:cNvSpPr txBox="1"/>
          <p:nvPr/>
        </p:nvSpPr>
        <p:spPr>
          <a:xfrm>
            <a:off x="4279340" y="584006"/>
            <a:ext cx="7890000" cy="7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40"/>
              <a:buFont typeface="Arial"/>
              <a:buNone/>
            </a:pPr>
            <a:r>
              <a:rPr b="1" i="0" lang="en-US" sz="4840" u="none" cap="none" strike="noStrike">
                <a:solidFill>
                  <a:srgbClr val="F37221"/>
                </a:solidFill>
                <a:latin typeface="Cambria"/>
                <a:ea typeface="Cambria"/>
                <a:cs typeface="Cambria"/>
                <a:sym typeface="Cambria"/>
              </a:rPr>
              <a:t>TRAINING ENROLLMENT</a:t>
            </a:r>
            <a:endParaRPr b="0" i="0" sz="17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7" name="Google Shape;107;p8"/>
          <p:cNvSpPr txBox="1"/>
          <p:nvPr/>
        </p:nvSpPr>
        <p:spPr>
          <a:xfrm>
            <a:off x="3274934" y="7619564"/>
            <a:ext cx="756840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0"/>
              <a:buFont typeface="Arial"/>
              <a:buNone/>
            </a:pPr>
            <a:r>
              <a:rPr b="1" i="0" lang="en-US" sz="305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Alternative : Use the physical copy of  registration form given to you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B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64a37e54f3_1_3"/>
          <p:cNvSpPr txBox="1"/>
          <p:nvPr/>
        </p:nvSpPr>
        <p:spPr>
          <a:xfrm>
            <a:off x="2823450" y="584000"/>
            <a:ext cx="115947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40"/>
              <a:buFont typeface="Arial"/>
              <a:buNone/>
            </a:pPr>
            <a:r>
              <a:rPr b="1" lang="en-US" sz="5440">
                <a:solidFill>
                  <a:srgbClr val="F37221"/>
                </a:solidFill>
                <a:latin typeface="Cambria"/>
                <a:ea typeface="Cambria"/>
                <a:cs typeface="Cambria"/>
                <a:sym typeface="Cambria"/>
              </a:rPr>
              <a:t>Steps for Online Registration</a:t>
            </a:r>
            <a:endParaRPr b="0" i="0" sz="23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3" name="Google Shape;113;g264a37e54f3_1_3"/>
          <p:cNvSpPr txBox="1"/>
          <p:nvPr/>
        </p:nvSpPr>
        <p:spPr>
          <a:xfrm>
            <a:off x="881550" y="1696250"/>
            <a:ext cx="16524900" cy="6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Step-1:</a:t>
            </a: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Note down your SHG ID and Member ID from NRLM Database: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https://nrlm.gov.in/shgOuterReports.do?methodName=showShgreport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on the Link. 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the State&gt;  District&gt;  Block&gt;  Gram Panchayat&gt; Village&gt;  SHG Group Name. 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down the 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SHG ID: </a:t>
            </a:r>
            <a:r>
              <a:rPr b="1" lang="en-US" sz="3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Example. BH1409677 for the SHG Named AASMI</a:t>
            </a:r>
            <a:endParaRPr b="1" sz="3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 ID: </a:t>
            </a:r>
            <a:r>
              <a:rPr b="1" lang="en-US" sz="3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BH15913608 for the Member KHUDEJA</a:t>
            </a:r>
            <a:endParaRPr b="1" sz="3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Notedown your Member Id and SHG Id following above steps</a:t>
            </a:r>
            <a:endParaRPr b="1" sz="4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264a37e54f3_1_0"/>
          <p:cNvPicPr preferRelativeResize="0"/>
          <p:nvPr/>
        </p:nvPicPr>
        <p:blipFill rotWithShape="1">
          <a:blip r:embed="rId3">
            <a:alphaModFix/>
          </a:blip>
          <a:srcRect b="6548" l="2479" r="2895" t="10449"/>
          <a:stretch/>
        </p:blipFill>
        <p:spPr>
          <a:xfrm>
            <a:off x="574550" y="902850"/>
            <a:ext cx="17307500" cy="8536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264a37e54f3_1_0"/>
          <p:cNvSpPr/>
          <p:nvPr/>
        </p:nvSpPr>
        <p:spPr>
          <a:xfrm>
            <a:off x="8919050" y="1614175"/>
            <a:ext cx="5307600" cy="930300"/>
          </a:xfrm>
          <a:prstGeom prst="rect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264a37e54f3_1_0"/>
          <p:cNvSpPr/>
          <p:nvPr/>
        </p:nvSpPr>
        <p:spPr>
          <a:xfrm>
            <a:off x="1751000" y="8262425"/>
            <a:ext cx="2161200" cy="726900"/>
          </a:xfrm>
          <a:prstGeom prst="rect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64a37e54f3_1_22"/>
          <p:cNvSpPr txBox="1"/>
          <p:nvPr/>
        </p:nvSpPr>
        <p:spPr>
          <a:xfrm>
            <a:off x="1012275" y="492475"/>
            <a:ext cx="16415400" cy="1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State Wise Links</a:t>
            </a:r>
            <a:endParaRPr b="1" sz="5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 Link mentioned against your State with the CRPs</a:t>
            </a:r>
            <a:endParaRPr b="1"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6" name="Google Shape;126;g264a37e54f3_1_22"/>
          <p:cNvGraphicFramePr/>
          <p:nvPr/>
        </p:nvGraphicFramePr>
        <p:xfrm>
          <a:off x="316550" y="261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{1D296327-2A04-4F73-ADC8-0AD44FC697A2}</a:tableStyleId>
              </a:tblPr>
              <a:tblGrid>
                <a:gridCol w="701875"/>
                <a:gridCol w="6530525"/>
                <a:gridCol w="100093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Sl.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State Name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CRP Enrollment Google form link</a:t>
                      </a:r>
                      <a:endParaRPr sz="2700"/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ANDAMAN AND NICOBAR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sng">
                          <a:solidFill>
                            <a:srgbClr val="1155CC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https://forms.gle/WF7dEr6M3FuLrzta7</a:t>
                      </a:r>
                      <a:endParaRPr sz="27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2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ANDHRA PRADESH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sng">
                          <a:solidFill>
                            <a:srgbClr val="1155CC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https://forms.gle/nzkdoMXiAZhGWyRV9</a:t>
                      </a:r>
                      <a:endParaRPr sz="27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3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ARUNACHAL PRADESH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sng">
                          <a:solidFill>
                            <a:srgbClr val="1155CC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https://forms.gle/nM9X2WGStTjw7RFN6</a:t>
                      </a:r>
                      <a:endParaRPr sz="27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4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ASSAM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sng">
                          <a:solidFill>
                            <a:srgbClr val="1155CC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https://forms.gle/1XY62WH7g2aJzzwJ6</a:t>
                      </a:r>
                      <a:endParaRPr sz="27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5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BIHAR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sng">
                          <a:solidFill>
                            <a:srgbClr val="1155CC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https://forms.gle/S7DQDqPL7MHmTKBs9</a:t>
                      </a:r>
                      <a:endParaRPr sz="27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6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CHHATTISGARH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sng">
                          <a:solidFill>
                            <a:srgbClr val="1155CC"/>
                          </a:solid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https://forms.gle/DFNAxq4rV4BH8p8r5</a:t>
                      </a:r>
                      <a:endParaRPr sz="27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7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GOA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sng">
                          <a:solidFill>
                            <a:srgbClr val="1155CC"/>
                          </a:solidFill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https://forms.gle/SwdRcBD9fTZDNE6s6</a:t>
                      </a:r>
                      <a:endParaRPr sz="27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8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GUJARAT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sng">
                          <a:solidFill>
                            <a:srgbClr val="1155CC"/>
                          </a:solidFill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https://forms.gle/vC4ZCziynL5uoXah9</a:t>
                      </a:r>
                      <a:endParaRPr sz="27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9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HARYANA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sng">
                          <a:solidFill>
                            <a:srgbClr val="1155CC"/>
                          </a:solidFill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https://forms.gle/qAJAS1tYsoh6Jkfk6</a:t>
                      </a:r>
                      <a:endParaRPr sz="27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10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HIMACHAL PRADESH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sng">
                          <a:solidFill>
                            <a:srgbClr val="1155CC"/>
                          </a:solidFill>
                          <a:hlinkClick r:id="rId1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https://forms.gle/moH3XvYsdpbHqQ4M8</a:t>
                      </a:r>
                      <a:endParaRPr sz="27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11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JAMMU AND KASHMIR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sng">
                          <a:solidFill>
                            <a:srgbClr val="1155CC"/>
                          </a:solidFill>
                          <a:hlinkClick r:id="rId1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https://forms.gle/hYkyNEtXPY2r5MTY6</a:t>
                      </a:r>
                      <a:endParaRPr sz="27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12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/>
                        <a:t>JHARKHAND</a:t>
                      </a:r>
                      <a:endParaRPr sz="27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sng">
                          <a:solidFill>
                            <a:srgbClr val="1155CC"/>
                          </a:solidFill>
                          <a:hlinkClick r:id="rId1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https://forms.gle/maTCP2h3zjy9tNoX8</a:t>
                      </a:r>
                      <a:endParaRPr sz="27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4a37e54f3_1_28"/>
          <p:cNvSpPr txBox="1"/>
          <p:nvPr/>
        </p:nvSpPr>
        <p:spPr>
          <a:xfrm>
            <a:off x="1012275" y="492475"/>
            <a:ext cx="16415400" cy="1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State Wise Links</a:t>
            </a:r>
            <a:endParaRPr b="1" sz="5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hare Link mentioned against your State with the CRPs</a:t>
            </a:r>
            <a:endParaRPr b="1"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2" name="Google Shape;132;g264a37e54f3_1_28"/>
          <p:cNvGraphicFramePr/>
          <p:nvPr/>
        </p:nvGraphicFramePr>
        <p:xfrm>
          <a:off x="316550" y="261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{1D296327-2A04-4F73-ADC8-0AD44FC697A2}</a:tableStyleId>
              </a:tblPr>
              <a:tblGrid>
                <a:gridCol w="701875"/>
                <a:gridCol w="6530525"/>
                <a:gridCol w="100093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Sl.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State Name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CRP Enrollment Google form link</a:t>
                      </a:r>
                      <a:endParaRPr sz="2600"/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13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KARNATAKA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sng">
                          <a:solidFill>
                            <a:srgbClr val="1155CC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https://forms.gle/NJQzsTyJPBk9bMZe8</a:t>
                      </a:r>
                      <a:endParaRPr sz="26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14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KERALA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sng">
                          <a:solidFill>
                            <a:srgbClr val="1155CC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https://forms.gle/GWxF7D1yoVePdXaGA</a:t>
                      </a:r>
                      <a:endParaRPr sz="26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15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LADAKH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sng">
                          <a:solidFill>
                            <a:srgbClr val="1155CC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https://forms.gle/LM3aDUCLp3XQjUq47</a:t>
                      </a:r>
                      <a:endParaRPr sz="26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16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LAKSHADWEEP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sng">
                          <a:solidFill>
                            <a:srgbClr val="1155CC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https://forms.gle/Y8LdctaU47Pn3aAd6</a:t>
                      </a:r>
                      <a:endParaRPr sz="26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17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MADHYA PRADESH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sng">
                          <a:solidFill>
                            <a:srgbClr val="1155CC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https://forms.gle/VsdqMJ1zyDcDGmNr6</a:t>
                      </a:r>
                      <a:endParaRPr sz="26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18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MAHARASHTRA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sng">
                          <a:solidFill>
                            <a:srgbClr val="1155CC"/>
                          </a:solid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https://forms.gle/auXzaLkXTiSgkEJT6</a:t>
                      </a:r>
                      <a:endParaRPr sz="26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19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MANIPUR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sng">
                          <a:solidFill>
                            <a:srgbClr val="1155CC"/>
                          </a:solidFill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https://forms.gle/UsXFEJNbjQ3Aikfn7</a:t>
                      </a:r>
                      <a:endParaRPr sz="26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20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MEGHALAYA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sng">
                          <a:solidFill>
                            <a:srgbClr val="1155CC"/>
                          </a:solidFill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https://forms.gle/wvr1RKJtMaCF81Zi6</a:t>
                      </a:r>
                      <a:endParaRPr sz="26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21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MIZORAM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sng">
                          <a:solidFill>
                            <a:srgbClr val="1155CC"/>
                          </a:solidFill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https://forms.gle/uMf4R2aajdbTpSEA6</a:t>
                      </a:r>
                      <a:endParaRPr sz="26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22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NAGALAND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sng">
                          <a:solidFill>
                            <a:srgbClr val="1155CC"/>
                          </a:solidFill>
                          <a:hlinkClick r:id="rId1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https://forms.gle/8iXL64dxj5ZMSazE6</a:t>
                      </a:r>
                      <a:endParaRPr sz="26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23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ODISHA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sng">
                          <a:solidFill>
                            <a:srgbClr val="1155CC"/>
                          </a:solidFill>
                          <a:hlinkClick r:id="rId1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https://forms.gle/1yg7ZFB91qRkG4u68</a:t>
                      </a:r>
                      <a:endParaRPr sz="26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24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PUDUCHERRY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u="sng">
                          <a:solidFill>
                            <a:srgbClr val="1155CC"/>
                          </a:solidFill>
                          <a:hlinkClick r:id="rId1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https://forms.gle/x6LusAyuXpWkiJbk6</a:t>
                      </a:r>
                      <a:endParaRPr sz="26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4a37e54f3_1_33"/>
          <p:cNvSpPr txBox="1"/>
          <p:nvPr/>
        </p:nvSpPr>
        <p:spPr>
          <a:xfrm>
            <a:off x="1012275" y="492475"/>
            <a:ext cx="16415400" cy="1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State Wise Links</a:t>
            </a:r>
            <a:endParaRPr b="1" sz="5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hare Link mentioned against your State with the CRPs</a:t>
            </a:r>
            <a:endParaRPr b="1"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8" name="Google Shape;138;g264a37e54f3_1_33"/>
          <p:cNvGraphicFramePr/>
          <p:nvPr/>
        </p:nvGraphicFramePr>
        <p:xfrm>
          <a:off x="316550" y="261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{1D296327-2A04-4F73-ADC8-0AD44FC697A2}</a:tableStyleId>
              </a:tblPr>
              <a:tblGrid>
                <a:gridCol w="701875"/>
                <a:gridCol w="6530525"/>
                <a:gridCol w="100093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Sl.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State Name</a:t>
                      </a:r>
                      <a:endParaRPr sz="26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/>
                        <a:t>CRP Enrollment Google form link</a:t>
                      </a:r>
                      <a:endParaRPr sz="2600"/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25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PUNJAB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sng">
                          <a:solidFill>
                            <a:srgbClr val="1155CC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https://forms.gle/vqaW1gDG8uDfTcj3A</a:t>
                      </a:r>
                      <a:endParaRPr sz="25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26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RAJASTHAN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sng">
                          <a:solidFill>
                            <a:srgbClr val="1155CC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https://forms.gle/DqwLwK3UnU3znfeN6</a:t>
                      </a:r>
                      <a:endParaRPr sz="25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27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SIKKIM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sng">
                          <a:solidFill>
                            <a:srgbClr val="1155CC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https://forms.gle/1eCUQX2ytoGj3LZF7</a:t>
                      </a:r>
                      <a:endParaRPr sz="25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28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TAMIL NADU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sng">
                          <a:solidFill>
                            <a:srgbClr val="1155CC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https://forms.gle/4oqR772xRqDMBxXPA</a:t>
                      </a:r>
                      <a:endParaRPr sz="25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29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TELANGANA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sng">
                          <a:solidFill>
                            <a:srgbClr val="1155CC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https://forms.gle/CBggd1UeLmku6LG2A</a:t>
                      </a:r>
                      <a:endParaRPr sz="25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30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THE DADRA AND NAGAR HAVELI AND DAMAN AND DIU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sng">
                          <a:solidFill>
                            <a:srgbClr val="1155CC"/>
                          </a:solid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https://forms.gle/xVEU6aaANe7PjR7u6</a:t>
                      </a:r>
                      <a:endParaRPr sz="25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31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TRIPURA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sng">
                          <a:solidFill>
                            <a:srgbClr val="1155CC"/>
                          </a:solidFill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https://forms.gle/sqw1qFVYPV2kW9ZXA</a:t>
                      </a:r>
                      <a:endParaRPr sz="25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32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UTTARAKHAND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sng">
                          <a:solidFill>
                            <a:srgbClr val="1155CC"/>
                          </a:solidFill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https://forms.gle/jU8azVyKFDkCdwqF6</a:t>
                      </a:r>
                      <a:endParaRPr sz="25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33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UTTAR PRADESH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sng">
                          <a:solidFill>
                            <a:srgbClr val="1155CC"/>
                          </a:solidFill>
                          <a:hlinkClick r:id="rId11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https://forms.gle/QjDcsF6RAfuwo2Xw8</a:t>
                      </a:r>
                      <a:endParaRPr sz="25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34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WEST BENGAL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sng">
                          <a:solidFill>
                            <a:srgbClr val="1155CC"/>
                          </a:solidFill>
                          <a:hlinkClick r:id="rId12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https://forms.gle/LKzcPuXrk28AyZrr7</a:t>
                      </a:r>
                      <a:endParaRPr sz="25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25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PUNJAB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sng">
                          <a:solidFill>
                            <a:srgbClr val="1155CC"/>
                          </a:solidFill>
                          <a:hlinkClick r:id="rId1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https://forms.gle/vqaW1gDG8uDfTcj3A</a:t>
                      </a:r>
                      <a:endParaRPr sz="25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26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RAJASTHAN</a:t>
                      </a:r>
                      <a:endParaRPr sz="2500"/>
                    </a:p>
                  </a:txBody>
                  <a:tcPr marT="25400" marB="25400" marR="25400" marL="2540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sng">
                          <a:solidFill>
                            <a:srgbClr val="1155CC"/>
                          </a:solidFill>
                          <a:hlinkClick r:id="rId1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https://forms.gle/DqwLwK3UnU3znfeN6</a:t>
                      </a:r>
                      <a:endParaRPr sz="2500" u="sng">
                        <a:solidFill>
                          <a:srgbClr val="1155CC"/>
                        </a:solidFill>
                      </a:endParaRPr>
                    </a:p>
                  </a:txBody>
                  <a:tcPr marT="25400" marB="25400" marR="0" marL="0" anchor="b">
                    <a:lnL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64a37e54f3_3_0"/>
          <p:cNvSpPr txBox="1"/>
          <p:nvPr/>
        </p:nvSpPr>
        <p:spPr>
          <a:xfrm>
            <a:off x="1121725" y="1285875"/>
            <a:ext cx="15704100" cy="77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Guide participants in filling up the following informations: 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20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Calibri"/>
              <a:buAutoNum type="alphaLcParenR"/>
            </a:pPr>
            <a:r>
              <a:rPr lang="en-US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Start date and End Date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20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Calibri"/>
              <a:buAutoNum type="alphaLcParenR"/>
            </a:pPr>
            <a:r>
              <a:rPr lang="en-US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of the Trainers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20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Calibri"/>
              <a:buAutoNum type="alphaLcParenR"/>
            </a:pPr>
            <a:r>
              <a:rPr lang="en-US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of state, district,Block,Gram Panchayat, Village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20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Calibri"/>
              <a:buAutoNum type="alphaLcParenR"/>
            </a:pPr>
            <a:r>
              <a:rPr lang="en-US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 ID and Group ID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20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Calibri"/>
              <a:buAutoNum type="alphaLcParenR"/>
            </a:pPr>
            <a:r>
              <a:rPr lang="en-US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of CRP Cadre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20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Calibri"/>
              <a:buAutoNum type="alphaLcParenR"/>
            </a:pPr>
            <a:r>
              <a:rPr lang="en-US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No and 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20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Calibri"/>
              <a:buAutoNum type="alphaLcParenR"/>
            </a:pPr>
            <a:r>
              <a:rPr lang="en-US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id(optional)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B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/>
          <p:nvPr/>
        </p:nvSpPr>
        <p:spPr>
          <a:xfrm rot="-8013643">
            <a:off x="12662041" y="212144"/>
            <a:ext cx="5304769" cy="4621487"/>
          </a:xfrm>
          <a:custGeom>
            <a:rect b="b" l="l" r="r" t="t"/>
            <a:pathLst>
              <a:path extrusionOk="0" h="10168633" w="15074792">
                <a:moveTo>
                  <a:pt x="0" y="0"/>
                </a:moveTo>
                <a:lnTo>
                  <a:pt x="15074792" y="0"/>
                </a:lnTo>
                <a:lnTo>
                  <a:pt x="15074792" y="10168632"/>
                </a:lnTo>
                <a:lnTo>
                  <a:pt x="0" y="10168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14961979" y="1641825"/>
            <a:ext cx="1314491" cy="1304932"/>
          </a:xfrm>
          <a:custGeom>
            <a:rect b="b" l="l" r="r" t="t"/>
            <a:pathLst>
              <a:path extrusionOk="0" h="1304932" w="1314491">
                <a:moveTo>
                  <a:pt x="0" y="0"/>
                </a:moveTo>
                <a:lnTo>
                  <a:pt x="1314491" y="0"/>
                </a:lnTo>
                <a:lnTo>
                  <a:pt x="1314491" y="1304932"/>
                </a:lnTo>
                <a:lnTo>
                  <a:pt x="0" y="1304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9"/>
          <p:cNvSpPr/>
          <p:nvPr/>
        </p:nvSpPr>
        <p:spPr>
          <a:xfrm rot="-8008104">
            <a:off x="213710" y="6757979"/>
            <a:ext cx="4510888" cy="3490169"/>
          </a:xfrm>
          <a:custGeom>
            <a:rect b="b" l="l" r="r" t="t"/>
            <a:pathLst>
              <a:path extrusionOk="0" h="4600674" w="6820406">
                <a:moveTo>
                  <a:pt x="0" y="0"/>
                </a:moveTo>
                <a:lnTo>
                  <a:pt x="6820406" y="0"/>
                </a:lnTo>
                <a:lnTo>
                  <a:pt x="6820406" y="4600674"/>
                </a:lnTo>
                <a:lnTo>
                  <a:pt x="0" y="4600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9"/>
          <p:cNvSpPr txBox="1"/>
          <p:nvPr/>
        </p:nvSpPr>
        <p:spPr>
          <a:xfrm>
            <a:off x="1461975" y="4073150"/>
            <a:ext cx="12342300" cy="13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55"/>
              <a:buFont typeface="Arial"/>
              <a:buNone/>
            </a:pPr>
            <a:r>
              <a:rPr b="1" i="0" lang="en-US" sz="8755" u="none" cap="none" strike="noStrike">
                <a:solidFill>
                  <a:srgbClr val="F47C00"/>
                </a:solidFill>
                <a:latin typeface="Cambria"/>
                <a:ea typeface="Cambria"/>
                <a:cs typeface="Cambria"/>
                <a:sym typeface="Cambria"/>
              </a:rPr>
              <a:t>Any questions? 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