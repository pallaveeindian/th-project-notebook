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6858000" cx="12192000"/>
  <p:notesSz cx="6858000" cy="9144000"/>
  <p:embeddedFontLst>
    <p:embeddedFont>
      <p:font typeface="Sniglet"/>
      <p:regular r:id="rId25"/>
    </p:embeddedFont>
    <p:embeddedFont>
      <p:font typeface="Roboto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0" roundtripDataSignature="AMtx7migkgEk3H1FC2+V4MHdvM3fqRjeF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27C8FA6-FBBE-4FE6-815E-F0971685AE47}">
  <a:tblStyle styleId="{E27C8FA6-FBBE-4FE6-815E-F0971685AE47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boto-regular.fntdata"/><Relationship Id="rId25" Type="http://schemas.openxmlformats.org/officeDocument/2006/relationships/font" Target="fonts/Sniglet-regular.fntdata"/><Relationship Id="rId28" Type="http://schemas.openxmlformats.org/officeDocument/2006/relationships/font" Target="fonts/Roboto-italic.fntdata"/><Relationship Id="rId27" Type="http://schemas.openxmlformats.org/officeDocument/2006/relationships/font" Target="fonts/Robot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oboto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customschemas.google.com/relationships/presentationmetadata" Target="meta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p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/>
              <a:t>This section will focus on understanding the concepts and elements of sustainable livelihoods.</a:t>
            </a:r>
            <a:endParaRPr/>
          </a:p>
        </p:txBody>
      </p:sp>
      <p:sp>
        <p:nvSpPr>
          <p:cNvPr id="111" name="Google Shape;111;p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23" name="Google Shape;12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/>
              <a:t>The Facilitator will pose a query against the participant, that how a household decides on the livelihood activity</a:t>
            </a:r>
            <a:endParaRPr/>
          </a:p>
        </p:txBody>
      </p:sp>
      <p:sp>
        <p:nvSpPr>
          <p:cNvPr id="132" name="Google Shape;132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39" name="Google Shape;139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44" name="Google Shape;144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59" name="Google Shape;159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p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/>
              <a:t>The facilitator will link the previous responses with this slide and categorized the responses of the participants on the previous slide.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74" name="Google Shape;174;p1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92" name="Google Shape;192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06" name="Google Shape;206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24" name="Google Shape;224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40" name="Google Shape;24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29b37d4ebdb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5" name="Google Shape;245;g29b37d4ebdb_1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7" name="Google Shape;257;p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/>
              <a:t>The facilitator will link the previous responses with this slide and categorized the responses of the participants on the previous slide.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58" name="Google Shape;258;p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2614b00f53e_2_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70" name="Google Shape;270;g2614b00f53e_2_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2614b00f53e_2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5" name="Google Shape;275;g2614b00f53e_2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6" name="Google Shape;276;g2614b00f53e_2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2614b00f53e_2_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7" name="Google Shape;287;g2614b00f53e_2_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8" name="Google Shape;288;g2614b00f53e_2_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2614b00f53e_2_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9" name="Google Shape;299;g2614b00f53e_2_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0" name="Google Shape;300;g2614b00f53e_2_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1" name="Google Shape;311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312" name="Google Shape;312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2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8" name="Google Shape;318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1 Image Full">
  <p:cSld name="Quote 1 Image Full">
    <p:bg>
      <p:bgPr>
        <a:solidFill>
          <a:srgbClr val="DEDEDE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6"/>
          <p:cNvSpPr/>
          <p:nvPr>
            <p:ph idx="2" type="pic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7" name="Google Shape;17;p26"/>
          <p:cNvSpPr txBox="1"/>
          <p:nvPr>
            <p:ph idx="1" type="body"/>
          </p:nvPr>
        </p:nvSpPr>
        <p:spPr>
          <a:xfrm>
            <a:off x="0" y="1143000"/>
            <a:ext cx="4572000" cy="4572000"/>
          </a:xfrm>
          <a:prstGeom prst="rect">
            <a:avLst/>
          </a:prstGeom>
          <a:solidFill>
            <a:srgbClr val="E0301E"/>
          </a:solidFill>
          <a:ln>
            <a:noFill/>
          </a:ln>
        </p:spPr>
        <p:txBody>
          <a:bodyPr anchorCtr="0" anchor="t" bIns="180000" lIns="438900" spcFirstLastPara="1" rIns="252000" wrap="square" tIns="14400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Arial"/>
              <a:buNone/>
              <a:defRPr b="0" sz="26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-228600" lvl="1" marL="914400" algn="l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1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>
                <a:solidFill>
                  <a:schemeClr val="lt1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>
                <a:solidFill>
                  <a:schemeClr val="lt1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>
                <a:solidFill>
                  <a:schemeClr val="lt1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26"/>
          <p:cNvSpPr/>
          <p:nvPr/>
        </p:nvSpPr>
        <p:spPr>
          <a:xfrm>
            <a:off x="442913" y="1623703"/>
            <a:ext cx="871539" cy="679451"/>
          </a:xfrm>
          <a:custGeom>
            <a:rect b="b" l="l" r="r" t="t"/>
            <a:pathLst>
              <a:path extrusionOk="0" h="1424" w="1811">
                <a:moveTo>
                  <a:pt x="1757" y="1424"/>
                </a:moveTo>
                <a:lnTo>
                  <a:pt x="1757" y="1424"/>
                </a:lnTo>
                <a:lnTo>
                  <a:pt x="1099" y="1424"/>
                </a:lnTo>
                <a:lnTo>
                  <a:pt x="1099" y="953"/>
                </a:lnTo>
                <a:cubicBezTo>
                  <a:pt x="1099" y="761"/>
                  <a:pt x="1115" y="610"/>
                  <a:pt x="1149" y="501"/>
                </a:cubicBezTo>
                <a:cubicBezTo>
                  <a:pt x="1183" y="392"/>
                  <a:pt x="1245" y="293"/>
                  <a:pt x="1337" y="206"/>
                </a:cubicBezTo>
                <a:cubicBezTo>
                  <a:pt x="1428" y="118"/>
                  <a:pt x="1543" y="50"/>
                  <a:pt x="1682" y="0"/>
                </a:cubicBezTo>
                <a:lnTo>
                  <a:pt x="1811" y="271"/>
                </a:lnTo>
                <a:cubicBezTo>
                  <a:pt x="1680" y="315"/>
                  <a:pt x="1586" y="376"/>
                  <a:pt x="1529" y="454"/>
                </a:cubicBezTo>
                <a:cubicBezTo>
                  <a:pt x="1472" y="532"/>
                  <a:pt x="1442" y="636"/>
                  <a:pt x="1439" y="766"/>
                </a:cubicBezTo>
                <a:lnTo>
                  <a:pt x="1757" y="766"/>
                </a:lnTo>
                <a:lnTo>
                  <a:pt x="1757" y="1424"/>
                </a:lnTo>
                <a:close/>
                <a:moveTo>
                  <a:pt x="658" y="1424"/>
                </a:moveTo>
                <a:lnTo>
                  <a:pt x="658" y="1424"/>
                </a:lnTo>
                <a:lnTo>
                  <a:pt x="0" y="1424"/>
                </a:lnTo>
                <a:lnTo>
                  <a:pt x="0" y="953"/>
                </a:lnTo>
                <a:cubicBezTo>
                  <a:pt x="0" y="763"/>
                  <a:pt x="16" y="612"/>
                  <a:pt x="50" y="502"/>
                </a:cubicBezTo>
                <a:cubicBezTo>
                  <a:pt x="83" y="392"/>
                  <a:pt x="146" y="293"/>
                  <a:pt x="236" y="206"/>
                </a:cubicBezTo>
                <a:cubicBezTo>
                  <a:pt x="327" y="118"/>
                  <a:pt x="442" y="50"/>
                  <a:pt x="583" y="0"/>
                </a:cubicBezTo>
                <a:lnTo>
                  <a:pt x="712" y="271"/>
                </a:lnTo>
                <a:cubicBezTo>
                  <a:pt x="581" y="315"/>
                  <a:pt x="487" y="376"/>
                  <a:pt x="430" y="454"/>
                </a:cubicBezTo>
                <a:cubicBezTo>
                  <a:pt x="373" y="532"/>
                  <a:pt x="342" y="636"/>
                  <a:pt x="339" y="766"/>
                </a:cubicBezTo>
                <a:lnTo>
                  <a:pt x="658" y="766"/>
                </a:lnTo>
                <a:lnTo>
                  <a:pt x="658" y="142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26"/>
          <p:cNvSpPr txBox="1"/>
          <p:nvPr>
            <p:ph idx="10" type="dt"/>
          </p:nvPr>
        </p:nvSpPr>
        <p:spPr>
          <a:xfrm>
            <a:off x="9984296" y="6355080"/>
            <a:ext cx="1764792" cy="13716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/>
        </p:txBody>
      </p:sp>
      <p:sp>
        <p:nvSpPr>
          <p:cNvPr id="20" name="Google Shape;20;p26"/>
          <p:cNvSpPr txBox="1"/>
          <p:nvPr>
            <p:ph idx="11" type="ftr"/>
          </p:nvPr>
        </p:nvSpPr>
        <p:spPr>
          <a:xfrm>
            <a:off x="442912" y="6355080"/>
            <a:ext cx="5473701" cy="13716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/>
        </p:txBody>
      </p:sp>
      <p:sp>
        <p:nvSpPr>
          <p:cNvPr id="21" name="Google Shape;21;p26"/>
          <p:cNvSpPr txBox="1"/>
          <p:nvPr>
            <p:ph idx="12" type="sldNum"/>
          </p:nvPr>
        </p:nvSpPr>
        <p:spPr>
          <a:xfrm>
            <a:off x="9984296" y="6492240"/>
            <a:ext cx="1764792" cy="13716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1"/>
              <a:buFont typeface="Arial"/>
              <a:buNone/>
              <a:defRPr b="0" i="0" sz="751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1"/>
              <a:buFont typeface="Arial"/>
              <a:buNone/>
              <a:defRPr b="0" i="0" sz="751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1"/>
              <a:buFont typeface="Arial"/>
              <a:buNone/>
              <a:defRPr b="0" i="0" sz="751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1"/>
              <a:buFont typeface="Arial"/>
              <a:buNone/>
              <a:defRPr b="0" i="0" sz="751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1"/>
              <a:buFont typeface="Arial"/>
              <a:buNone/>
              <a:defRPr b="0" i="0" sz="751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1"/>
              <a:buFont typeface="Arial"/>
              <a:buNone/>
              <a:defRPr b="0" i="0" sz="751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1"/>
              <a:buFont typeface="Arial"/>
              <a:buNone/>
              <a:defRPr b="0" i="0" sz="751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1"/>
              <a:buFont typeface="Arial"/>
              <a:buNone/>
              <a:defRPr b="0" i="0" sz="751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1"/>
              <a:buFont typeface="Arial"/>
              <a:buNone/>
              <a:defRPr b="0" i="0" sz="751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sic Layout">
  <p:cSld name="Basic Layou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8"/>
          <p:cNvSpPr txBox="1"/>
          <p:nvPr>
            <p:ph idx="1" type="body"/>
          </p:nvPr>
        </p:nvSpPr>
        <p:spPr>
          <a:xfrm>
            <a:off x="0" y="164638"/>
            <a:ext cx="12192000" cy="768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algn="ctr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Arial"/>
              <a:buNone/>
              <a:defRPr b="0" i="0" sz="48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65645" lvl="1" marL="914400" marR="0" algn="l">
              <a:lnSpc>
                <a:spcPct val="100000"/>
              </a:lnSpc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Font typeface="Arial"/>
              <a:buChar char="–"/>
              <a:defRPr b="0" i="0" sz="3733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431800" lvl="2" marL="1371600" marR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97954" lvl="3" marL="1828800" marR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–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97954" lvl="4" marL="2286000" marR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»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97954" lvl="5" marL="2743200" marR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97954" lvl="6" marL="3200400" marR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97954" lvl="7" marL="3657600" marR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97954" lvl="8" marL="4114800" marR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4" name="Google Shape;24;p28"/>
          <p:cNvSpPr txBox="1"/>
          <p:nvPr>
            <p:ph idx="2" type="body"/>
          </p:nvPr>
        </p:nvSpPr>
        <p:spPr>
          <a:xfrm>
            <a:off x="0" y="932723"/>
            <a:ext cx="12192000" cy="38404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algn="ctr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rgbClr val="3F3F3F"/>
              </a:buClr>
              <a:buSzPts val="1867"/>
              <a:buFont typeface="Arial"/>
              <a:buNone/>
              <a:defRPr b="0" i="0" sz="1867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65645" lvl="1" marL="914400" marR="0" algn="l">
              <a:lnSpc>
                <a:spcPct val="100000"/>
              </a:lnSpc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Font typeface="Arial"/>
              <a:buChar char="–"/>
              <a:defRPr b="0" i="0" sz="3733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431800" lvl="2" marL="1371600" marR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97954" lvl="3" marL="1828800" marR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–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97954" lvl="4" marL="2286000" marR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»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97954" lvl="5" marL="2743200" marR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97954" lvl="6" marL="3200400" marR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97954" lvl="7" marL="3657600" marR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97954" lvl="8" marL="4114800" marR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5" name="Google Shape;25;p28"/>
          <p:cNvSpPr/>
          <p:nvPr/>
        </p:nvSpPr>
        <p:spPr>
          <a:xfrm>
            <a:off x="0" y="6618000"/>
            <a:ext cx="12192000" cy="24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28"/>
          <p:cNvSpPr/>
          <p:nvPr/>
        </p:nvSpPr>
        <p:spPr>
          <a:xfrm>
            <a:off x="0" y="0"/>
            <a:ext cx="12192000" cy="9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Agenda Layout">
  <p:cSld name="1_Agenda Layou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9"/>
          <p:cNvSpPr/>
          <p:nvPr/>
        </p:nvSpPr>
        <p:spPr>
          <a:xfrm>
            <a:off x="-3472" y="0"/>
            <a:ext cx="211223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E:\002-KIMS BUSINESS\007-02-Fullslidesppt-Contents\20161228\02-edu\bulb-item2.png" id="29" name="Google Shape;29;p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22314" y="3909054"/>
            <a:ext cx="1260665" cy="2797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omparison">
  <p:cSld name="1_Comparison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30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2" name="Google Shape;32;p30"/>
          <p:cNvSpPr txBox="1"/>
          <p:nvPr>
            <p:ph idx="1" type="body"/>
          </p:nvPr>
        </p:nvSpPr>
        <p:spPr>
          <a:xfrm>
            <a:off x="839788" y="1885361"/>
            <a:ext cx="5157787" cy="43043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3" name="Google Shape;33;p30"/>
          <p:cNvSpPr txBox="1"/>
          <p:nvPr>
            <p:ph idx="2" type="body"/>
          </p:nvPr>
        </p:nvSpPr>
        <p:spPr>
          <a:xfrm>
            <a:off x="6172200" y="1885361"/>
            <a:ext cx="5183188" cy="43043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4" name="Google Shape;34;p30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5" name="Google Shape;35;p30"/>
          <p:cNvSpPr txBox="1"/>
          <p:nvPr/>
        </p:nvSpPr>
        <p:spPr>
          <a:xfrm>
            <a:off x="200025" y="666750"/>
            <a:ext cx="495300" cy="467677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3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3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9" name="Google Shape;39;p3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3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3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Image">
  <p:cSld name="Big Image">
    <p:bg>
      <p:bgPr>
        <a:solidFill>
          <a:srgbClr val="2A95B7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cene_trans.png" id="43" name="Google Shape;43;p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32"/>
          <p:cNvSpPr txBox="1"/>
          <p:nvPr>
            <p:ph idx="12" type="sldNum"/>
          </p:nvPr>
        </p:nvSpPr>
        <p:spPr>
          <a:xfrm>
            <a:off x="11460400" y="6453000"/>
            <a:ext cx="731600" cy="404800"/>
          </a:xfrm>
          <a:prstGeom prst="rect">
            <a:avLst/>
          </a:prstGeom>
          <a:noFill/>
          <a:ln>
            <a:noFill/>
          </a:ln>
          <a:effectLst>
            <a:outerShdw blurRad="28575" rotWithShape="0" algn="bl" dir="5400000" dist="19050">
              <a:srgbClr val="000000">
                <a:alpha val="2196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67" u="none" cap="none" strike="noStrike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67" u="none" cap="none" strike="noStrike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67" u="none" cap="none" strike="noStrike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67" u="none" cap="none" strike="noStrike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67" u="none" cap="none" strike="noStrike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67" u="none" cap="none" strike="noStrike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67" u="none" cap="none" strike="noStrike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67" u="none" cap="none" strike="noStrike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67" u="none" cap="none" strike="noStrike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7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7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48" name="Google Shape;48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3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3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54" name="Google Shape;54;p3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3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3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4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0" name="Google Shape;60;p34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1" name="Google Shape;61;p3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3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5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5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7" name="Google Shape;67;p35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8" name="Google Shape;68;p35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9" name="Google Shape;69;p35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0" name="Google Shape;70;p3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3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3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3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3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3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38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85" name="Google Shape;85;p38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6" name="Google Shape;86;p3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3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3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3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39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92" name="Google Shape;92;p39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93" name="Google Shape;93;p3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3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3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4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40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9" name="Google Shape;99;p4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4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4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1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41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5" name="Google Shape;105;p4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4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4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theme" Target="../theme/theme1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2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jpg"/><Relationship Id="rId4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"/>
          <p:cNvSpPr txBox="1"/>
          <p:nvPr>
            <p:ph idx="1" type="body"/>
          </p:nvPr>
        </p:nvSpPr>
        <p:spPr>
          <a:xfrm>
            <a:off x="0" y="1143000"/>
            <a:ext cx="6096000" cy="5032800"/>
          </a:xfrm>
          <a:prstGeom prst="rect">
            <a:avLst/>
          </a:prstGeom>
          <a:solidFill>
            <a:srgbClr val="E0301E"/>
          </a:solidFill>
          <a:ln>
            <a:noFill/>
          </a:ln>
        </p:spPr>
        <p:txBody>
          <a:bodyPr anchorCtr="0" anchor="t" bIns="180000" lIns="438900" spcFirstLastPara="1" rIns="252000" wrap="square" tIns="14400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</a:pPr>
            <a:r>
              <a:rPr b="1" lang="en-US" sz="5400">
                <a:latin typeface="Arial"/>
                <a:ea typeface="Arial"/>
                <a:cs typeface="Arial"/>
                <a:sym typeface="Arial"/>
              </a:rPr>
              <a:t>Session-6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</a:pPr>
            <a:r>
              <a:rPr lang="en-US" sz="3200">
                <a:latin typeface="Arial"/>
                <a:ea typeface="Arial"/>
                <a:cs typeface="Arial"/>
                <a:sym typeface="Arial"/>
              </a:rPr>
              <a:t>Handholding of Potential Lakhpati Didis &amp;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SzPts val="5400"/>
              <a:buNone/>
            </a:pPr>
            <a:r>
              <a:rPr lang="en-US" sz="3200">
                <a:latin typeface="Arial"/>
                <a:ea typeface="Arial"/>
                <a:cs typeface="Arial"/>
                <a:sym typeface="Arial"/>
              </a:rPr>
              <a:t>Roles of Stakeholders</a:t>
            </a:r>
            <a:endParaRPr/>
          </a:p>
        </p:txBody>
      </p:sp>
      <p:sp>
        <p:nvSpPr>
          <p:cNvPr id="114" name="Google Shape;114;p1"/>
          <p:cNvSpPr txBox="1"/>
          <p:nvPr>
            <p:ph idx="10" type="dt"/>
          </p:nvPr>
        </p:nvSpPr>
        <p:spPr>
          <a:xfrm>
            <a:off x="9984296" y="6355080"/>
            <a:ext cx="17649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1"/>
              <a:buFont typeface="Arial"/>
              <a:buNone/>
            </a:pPr>
            <a:r>
              <a:rPr b="0" i="0" lang="en-US" sz="751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  <a:endParaRPr b="0" i="0" sz="751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1"/>
          <p:cNvSpPr txBox="1"/>
          <p:nvPr>
            <p:ph idx="11" type="ftr"/>
          </p:nvPr>
        </p:nvSpPr>
        <p:spPr>
          <a:xfrm>
            <a:off x="442912" y="6355080"/>
            <a:ext cx="54738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1"/>
              <a:buFont typeface="Arial"/>
              <a:buNone/>
            </a:pPr>
            <a:r>
              <a:rPr b="0" i="0" lang="en-US" sz="751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Presentation Title</a:t>
            </a:r>
            <a:endParaRPr b="0" i="0" sz="751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1"/>
          <p:cNvSpPr txBox="1"/>
          <p:nvPr>
            <p:ph idx="12" type="sldNum"/>
          </p:nvPr>
        </p:nvSpPr>
        <p:spPr>
          <a:xfrm>
            <a:off x="9984296" y="6492240"/>
            <a:ext cx="17649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1"/>
              <a:buFont typeface="Arial"/>
              <a:buNone/>
            </a:pPr>
            <a:fld id="{00000000-1234-1234-1234-123412341234}" type="slidenum">
              <a:rPr b="0" i="0" lang="en-US" sz="751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751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oodscapes and Agroecology | Anthra livestock development &amp; ethnoveterinary  group" id="117" name="Google Shape;117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56237" y="2443397"/>
            <a:ext cx="2977800" cy="230307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One Health | Anthra livestock development &amp; ethnoveterinary group" id="118" name="Google Shape;118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07844" y="2691374"/>
            <a:ext cx="2511303" cy="1942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-1265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0" y="-1265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"/>
          <p:cNvSpPr txBox="1"/>
          <p:nvPr>
            <p:ph idx="1" type="body"/>
          </p:nvPr>
        </p:nvSpPr>
        <p:spPr>
          <a:xfrm>
            <a:off x="51115" y="1143000"/>
            <a:ext cx="4572000" cy="457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180000" lIns="438900" spcFirstLastPara="1" rIns="252000" wrap="square" tIns="1440000">
            <a:noAutofit/>
          </a:bodyPr>
          <a:lstStyle/>
          <a:p>
            <a:pPr indent="-228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Arial"/>
              <a:buNone/>
            </a:pPr>
            <a:r>
              <a:rPr b="1" lang="en-US" sz="5400"/>
              <a:t>Overview </a:t>
            </a:r>
            <a:endParaRPr/>
          </a:p>
        </p:txBody>
      </p:sp>
      <p:sp>
        <p:nvSpPr>
          <p:cNvPr id="126" name="Google Shape;126;p3"/>
          <p:cNvSpPr txBox="1"/>
          <p:nvPr>
            <p:ph idx="12" type="sldNum"/>
          </p:nvPr>
        </p:nvSpPr>
        <p:spPr>
          <a:xfrm>
            <a:off x="9984296" y="6492240"/>
            <a:ext cx="1764792" cy="13716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51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7" name="Google Shape;127;p3"/>
          <p:cNvSpPr txBox="1"/>
          <p:nvPr/>
        </p:nvSpPr>
        <p:spPr>
          <a:xfrm>
            <a:off x="4674230" y="1059609"/>
            <a:ext cx="7380921" cy="466472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28" name="Google Shape;128;p3"/>
          <p:cNvSpPr txBox="1"/>
          <p:nvPr/>
        </p:nvSpPr>
        <p:spPr>
          <a:xfrm>
            <a:off x="4989250" y="1828801"/>
            <a:ext cx="6445190" cy="2255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31800" lvl="0" marL="4572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1" i="0" lang="en-US" sz="2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Introduction to Handholding</a:t>
            </a:r>
            <a:endParaRPr b="1" i="0" sz="24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431800" lvl="0" marL="4572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1" i="0" lang="en-US" sz="2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Strategies for Effective Hand holding</a:t>
            </a:r>
            <a:endParaRPr b="1" i="0" sz="24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431800" lvl="0" marL="4572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1" i="0" lang="en-US" sz="2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CRP level Activities &amp; Expected Outcomes</a:t>
            </a:r>
            <a:endParaRPr b="1" i="0" sz="24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228600" lvl="0" marL="2286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1" i="0" lang="en-US" sz="2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Roles of CLFs and VO</a:t>
            </a:r>
            <a:endParaRPr b="1" i="0" sz="24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177800" lvl="0" marL="2286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Char char="•"/>
            </a:pPr>
            <a:r>
              <a:rPr b="1" i="0" lang="en-US" sz="2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Roles of SRLM</a:t>
            </a:r>
            <a:endParaRPr b="1" i="0" sz="24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4572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4"/>
          <p:cNvSpPr txBox="1"/>
          <p:nvPr>
            <p:ph idx="2" type="body"/>
          </p:nvPr>
        </p:nvSpPr>
        <p:spPr>
          <a:xfrm>
            <a:off x="4078650" y="2535698"/>
            <a:ext cx="7776000" cy="350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1" i="0" lang="en-US" sz="3400">
                <a:solidFill>
                  <a:srgbClr val="C00000"/>
                </a:solidFill>
                <a:latin typeface="Georgia"/>
                <a:ea typeface="Georgia"/>
                <a:cs typeface="Georgia"/>
                <a:sym typeface="Georgia"/>
              </a:rPr>
              <a:t>Purpose: </a:t>
            </a:r>
            <a:endParaRPr b="1" sz="2067">
              <a:solidFill>
                <a:srgbClr val="C0000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241300" lvl="1" marL="68580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3000"/>
              <a:buFont typeface="Georgia"/>
              <a:buChar char="•"/>
            </a:pPr>
            <a:r>
              <a:rPr lang="en-US" sz="3000">
                <a:latin typeface="Georgia"/>
                <a:ea typeface="Georgia"/>
                <a:cs typeface="Georgia"/>
                <a:sym typeface="Georgia"/>
              </a:rPr>
              <a:t>To prepare </a:t>
            </a:r>
            <a:r>
              <a:rPr lang="en-US" sz="3000">
                <a:latin typeface="Georgia"/>
                <a:ea typeface="Georgia"/>
                <a:cs typeface="Georgia"/>
                <a:sym typeface="Georgia"/>
              </a:rPr>
              <a:t>Lakhpati </a:t>
            </a:r>
            <a:r>
              <a:rPr lang="en-US" sz="3000">
                <a:latin typeface="Georgia"/>
                <a:ea typeface="Georgia"/>
                <a:cs typeface="Georgia"/>
                <a:sym typeface="Georgia"/>
              </a:rPr>
              <a:t>CRPs to handhold Potential Lakhpati Didis in the journey towards becoming Lakhpati</a:t>
            </a:r>
            <a:endParaRPr sz="3000">
              <a:latin typeface="Georgia"/>
              <a:ea typeface="Georgia"/>
              <a:cs typeface="Georgia"/>
              <a:sym typeface="Georgia"/>
            </a:endParaRPr>
          </a:p>
          <a:p>
            <a:pPr indent="-241300" lvl="1" marL="68580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3000"/>
              <a:buFont typeface="Georgia"/>
              <a:buChar char="•"/>
            </a:pPr>
            <a:r>
              <a:rPr lang="en-US" sz="3000">
                <a:latin typeface="Georgia"/>
                <a:ea typeface="Georgia"/>
                <a:cs typeface="Georgia"/>
                <a:sym typeface="Georgia"/>
              </a:rPr>
              <a:t>Make them aware of the role and responsibilities of Stakeholders for facilitating them to be as mentor</a:t>
            </a:r>
            <a:endParaRPr sz="3000">
              <a:solidFill>
                <a:srgbClr val="C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descr="Hand drawn stickman confused with speech bubble question mark. Simple  outline curious doodle icon clipart. For question support clipart Stock  Vector Image &amp; Art - Alamy" id="135" name="Google Shape;135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189" y="654033"/>
            <a:ext cx="3744416" cy="3683592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4"/>
          <p:cNvSpPr txBox="1"/>
          <p:nvPr/>
        </p:nvSpPr>
        <p:spPr>
          <a:xfrm>
            <a:off x="4078656" y="974784"/>
            <a:ext cx="7480740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C00000"/>
                </a:solidFill>
                <a:latin typeface="Georgia"/>
                <a:ea typeface="Georgia"/>
                <a:cs typeface="Georgia"/>
                <a:sym typeface="Georgia"/>
              </a:rPr>
              <a:t>IMPORTANCE OF THE SESSION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9"/>
          <p:cNvSpPr/>
          <p:nvPr/>
        </p:nvSpPr>
        <p:spPr>
          <a:xfrm>
            <a:off x="2687226" y="2062077"/>
            <a:ext cx="8730900" cy="3071100"/>
          </a:xfrm>
          <a:prstGeom prst="rect">
            <a:avLst/>
          </a:prstGeom>
          <a:solidFill>
            <a:schemeClr val="accent4"/>
          </a:solidFill>
          <a:ln cap="flat" cmpd="sng" w="25400">
            <a:solidFill>
              <a:srgbClr val="247E8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b="1" i="0" lang="en-US" sz="44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Handholding of Lakhpati Didis</a:t>
            </a:r>
            <a:endParaRPr b="1" i="0" sz="44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Need of handholding and Roles and Responsibilities of Lakhpati CRPs</a:t>
            </a:r>
            <a:endParaRPr b="1" i="0" sz="24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0"/>
          <p:cNvSpPr txBox="1"/>
          <p:nvPr>
            <p:ph idx="1" type="body"/>
          </p:nvPr>
        </p:nvSpPr>
        <p:spPr>
          <a:xfrm>
            <a:off x="1216174" y="1455066"/>
            <a:ext cx="5157787" cy="49219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292100" marR="80010" rtl="0" algn="just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800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292100" marR="8001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800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292100" marR="8001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800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292100" marR="8001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800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292100" marR="8001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400"/>
          </a:p>
        </p:txBody>
      </p:sp>
      <p:sp>
        <p:nvSpPr>
          <p:cNvPr id="147" name="Google Shape;147;p10"/>
          <p:cNvSpPr txBox="1"/>
          <p:nvPr/>
        </p:nvSpPr>
        <p:spPr>
          <a:xfrm>
            <a:off x="67940" y="918972"/>
            <a:ext cx="732703" cy="454082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10"/>
          <p:cNvSpPr txBox="1"/>
          <p:nvPr/>
        </p:nvSpPr>
        <p:spPr>
          <a:xfrm>
            <a:off x="572450" y="880025"/>
            <a:ext cx="6426000" cy="452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Why??</a:t>
            </a:r>
            <a:endParaRPr b="1" sz="2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4318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1" i="0" lang="en-US" sz="28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Potential Lakhpati to Actual Lakhpati</a:t>
            </a:r>
            <a:r>
              <a:rPr b="0" i="0" lang="en-US" sz="28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: Support throughout the journey.</a:t>
            </a:r>
            <a:endParaRPr b="0" i="0" sz="28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How??</a:t>
            </a:r>
            <a:endParaRPr b="1" sz="2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4318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1" i="0" lang="en-US" sz="28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Personal Touch</a:t>
            </a:r>
            <a:r>
              <a:rPr b="0" i="0" lang="en-US" sz="28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: Personalized guidance and its impact.</a:t>
            </a:r>
            <a:endParaRPr b="0" i="0" sz="40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1" i="0" lang="en-US" sz="28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Beyond </a:t>
            </a:r>
            <a:r>
              <a:rPr b="1" i="0" lang="en-US" sz="28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Financial Assistance </a:t>
            </a:r>
            <a:r>
              <a:rPr b="1" i="0" lang="en-US" sz="28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and Linkages</a:t>
            </a:r>
            <a:r>
              <a:rPr b="0" i="0" lang="en-US" sz="28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: Understanding that support is multi-dimensional.</a:t>
            </a:r>
            <a:endParaRPr b="0" i="0" sz="40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49" name="Google Shape;149;p10"/>
          <p:cNvSpPr/>
          <p:nvPr/>
        </p:nvSpPr>
        <p:spPr>
          <a:xfrm>
            <a:off x="1078992" y="264507"/>
            <a:ext cx="9829800" cy="615523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HANDHOLDING </a:t>
            </a:r>
            <a:endParaRPr b="1" i="0" sz="2800" u="none" cap="none" strike="noStrike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descr="Women's Collectives: Leading the Transformation | Sampark.Net – The Rural  Connect" id="150" name="Google Shape;150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55397" y="1347537"/>
            <a:ext cx="4017929" cy="22500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55397" y="3735689"/>
            <a:ext cx="4017929" cy="238125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0"/>
          <p:cNvSpPr/>
          <p:nvPr/>
        </p:nvSpPr>
        <p:spPr>
          <a:xfrm>
            <a:off x="976425" y="6172200"/>
            <a:ext cx="2014200" cy="6855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2A95B7"/>
          </a:solidFill>
          <a:ln cap="flat" cmpd="sng" w="9525">
            <a:solidFill>
              <a:srgbClr val="5E5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  <a:extLst>
                  <a:ext uri="http://customooxmlschemas.google.com/">
                    <go:slidesCustomData xmlns:go="http://customooxmlschemas.google.com/" textRoundtripDataId="0"/>
                  </a:ext>
                </a:extLst>
              </a:rPr>
              <a:t>Handholding</a:t>
            </a:r>
            <a:endParaRPr b="1" i="0" sz="19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53" name="Google Shape;153;p10"/>
          <p:cNvSpPr/>
          <p:nvPr/>
        </p:nvSpPr>
        <p:spPr>
          <a:xfrm>
            <a:off x="2990625" y="6172200"/>
            <a:ext cx="2014200" cy="685500"/>
          </a:xfrm>
          <a:prstGeom prst="round2SameRect">
            <a:avLst>
              <a:gd fmla="val 16667" name="adj1"/>
              <a:gd fmla="val 0" name="adj2"/>
            </a:avLst>
          </a:prstGeom>
          <a:solidFill>
            <a:schemeClr val="lt2"/>
          </a:solidFill>
          <a:ln cap="flat" cmpd="sng" w="9525">
            <a:solidFill>
              <a:srgbClr val="5E5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Strategies </a:t>
            </a:r>
            <a:endParaRPr b="1" i="0" sz="19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54" name="Google Shape;154;p10"/>
          <p:cNvSpPr/>
          <p:nvPr/>
        </p:nvSpPr>
        <p:spPr>
          <a:xfrm>
            <a:off x="5004816" y="6172200"/>
            <a:ext cx="1993500" cy="6855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DEDEDE"/>
          </a:solidFill>
          <a:ln cap="flat" cmpd="sng" w="9525">
            <a:solidFill>
              <a:srgbClr val="5E5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CRP level activities</a:t>
            </a:r>
            <a:endParaRPr b="1" i="0" sz="19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55" name="Google Shape;155;p10"/>
          <p:cNvSpPr/>
          <p:nvPr/>
        </p:nvSpPr>
        <p:spPr>
          <a:xfrm>
            <a:off x="6998333" y="6172200"/>
            <a:ext cx="1993500" cy="6855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DEDEDE"/>
          </a:solidFill>
          <a:ln cap="flat" cmpd="sng" w="9525">
            <a:solidFill>
              <a:srgbClr val="5E5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Roles of CLF,VO</a:t>
            </a:r>
            <a:endParaRPr b="1" i="0" sz="19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56" name="Google Shape;156;p10"/>
          <p:cNvSpPr/>
          <p:nvPr/>
        </p:nvSpPr>
        <p:spPr>
          <a:xfrm>
            <a:off x="8892558" y="6172200"/>
            <a:ext cx="1993500" cy="6855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DEDEDE"/>
          </a:solidFill>
          <a:ln cap="flat" cmpd="sng" w="9525">
            <a:solidFill>
              <a:srgbClr val="5E5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Role of SRLM</a:t>
            </a:r>
            <a:endParaRPr b="1" i="0" sz="19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1"/>
          <p:cNvSpPr txBox="1"/>
          <p:nvPr>
            <p:ph idx="1" type="body"/>
          </p:nvPr>
        </p:nvSpPr>
        <p:spPr>
          <a:xfrm>
            <a:off x="836612" y="1536411"/>
            <a:ext cx="5157787" cy="49219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292100" marR="80010" rtl="0" algn="just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800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292100" marR="8001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800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292100" marR="8001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800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292100" marR="8001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800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292100" marR="8001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400"/>
          </a:p>
        </p:txBody>
      </p:sp>
      <p:sp>
        <p:nvSpPr>
          <p:cNvPr id="162" name="Google Shape;162;p11"/>
          <p:cNvSpPr txBox="1"/>
          <p:nvPr/>
        </p:nvSpPr>
        <p:spPr>
          <a:xfrm>
            <a:off x="67940" y="918972"/>
            <a:ext cx="732703" cy="454082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11"/>
          <p:cNvSpPr txBox="1"/>
          <p:nvPr/>
        </p:nvSpPr>
        <p:spPr>
          <a:xfrm>
            <a:off x="168575" y="1478025"/>
            <a:ext cx="6392700" cy="40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28600" lvl="0" marL="2286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1" i="0" lang="en-US" sz="28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Understanding Ground Realities</a:t>
            </a:r>
            <a:r>
              <a:rPr b="0" i="0" lang="en-US" sz="28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: Every Didi has a unique story.</a:t>
            </a:r>
            <a:endParaRPr b="0" i="0" sz="40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228600" lvl="0" marL="22860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1" i="0" lang="en-US" sz="28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Bridging Gaps</a:t>
            </a:r>
            <a:r>
              <a:rPr b="0" i="0" lang="en-US" sz="28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: Addressing unmet needs, even might be unexpressed earlier</a:t>
            </a:r>
            <a:endParaRPr b="0" i="0" sz="40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228600" lvl="0" marL="22860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1" i="0" lang="en-US" sz="28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Ensuring Sustainability</a:t>
            </a:r>
            <a:r>
              <a:rPr b="0" i="0" lang="en-US" sz="28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: Building a foundation for continued success.</a:t>
            </a:r>
            <a:endParaRPr b="0" i="0" sz="40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254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1"/>
          <p:cNvSpPr/>
          <p:nvPr/>
        </p:nvSpPr>
        <p:spPr>
          <a:xfrm>
            <a:off x="1078992" y="264507"/>
            <a:ext cx="9829800" cy="615523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WHY HANDHOLD MATTERS</a:t>
            </a:r>
            <a:endParaRPr b="1" i="0" sz="2800" u="none" cap="none" strike="noStrike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165" name="Google Shape;165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44154" y="2170754"/>
            <a:ext cx="5182177" cy="2516492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1"/>
          <p:cNvSpPr/>
          <p:nvPr/>
        </p:nvSpPr>
        <p:spPr>
          <a:xfrm>
            <a:off x="1205025" y="6172200"/>
            <a:ext cx="2014200" cy="6855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2A95B7"/>
          </a:solidFill>
          <a:ln cap="flat" cmpd="sng" w="9525">
            <a:solidFill>
              <a:srgbClr val="5E5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Handholding</a:t>
            </a:r>
            <a:endParaRPr b="1" i="0" sz="19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67" name="Google Shape;167;p11"/>
          <p:cNvSpPr/>
          <p:nvPr/>
        </p:nvSpPr>
        <p:spPr>
          <a:xfrm>
            <a:off x="3219225" y="6172200"/>
            <a:ext cx="2014200" cy="685500"/>
          </a:xfrm>
          <a:prstGeom prst="round2SameRect">
            <a:avLst>
              <a:gd fmla="val 16667" name="adj1"/>
              <a:gd fmla="val 0" name="adj2"/>
            </a:avLst>
          </a:prstGeom>
          <a:solidFill>
            <a:schemeClr val="lt2"/>
          </a:solidFill>
          <a:ln cap="flat" cmpd="sng" w="9525">
            <a:solidFill>
              <a:srgbClr val="5E5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Strategies </a:t>
            </a:r>
            <a:endParaRPr b="1" i="0" sz="19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68" name="Google Shape;168;p11"/>
          <p:cNvSpPr/>
          <p:nvPr/>
        </p:nvSpPr>
        <p:spPr>
          <a:xfrm>
            <a:off x="5233416" y="6172200"/>
            <a:ext cx="1993500" cy="6855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DEDEDE"/>
          </a:solidFill>
          <a:ln cap="flat" cmpd="sng" w="9525">
            <a:solidFill>
              <a:srgbClr val="5E5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CRP level activities</a:t>
            </a:r>
            <a:endParaRPr b="1" i="0" sz="19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69" name="Google Shape;169;p11"/>
          <p:cNvSpPr/>
          <p:nvPr/>
        </p:nvSpPr>
        <p:spPr>
          <a:xfrm>
            <a:off x="7226933" y="6172200"/>
            <a:ext cx="1993500" cy="6855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DEDEDE"/>
          </a:solidFill>
          <a:ln cap="flat" cmpd="sng" w="9525">
            <a:solidFill>
              <a:srgbClr val="5E5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Roles of CLF,VO</a:t>
            </a:r>
            <a:endParaRPr b="1" i="0" sz="19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70" name="Google Shape;170;p11"/>
          <p:cNvSpPr/>
          <p:nvPr/>
        </p:nvSpPr>
        <p:spPr>
          <a:xfrm>
            <a:off x="9121158" y="6172200"/>
            <a:ext cx="1993500" cy="6855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DEDEDE"/>
          </a:solidFill>
          <a:ln cap="flat" cmpd="sng" w="9525">
            <a:solidFill>
              <a:srgbClr val="5E5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Role of SRLM</a:t>
            </a:r>
            <a:endParaRPr b="1" i="0" sz="19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" name="Google Shape;17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11184564" y="1"/>
            <a:ext cx="1007435" cy="1042631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3"/>
          <p:cNvSpPr txBox="1"/>
          <p:nvPr/>
        </p:nvSpPr>
        <p:spPr>
          <a:xfrm>
            <a:off x="2625335" y="268379"/>
            <a:ext cx="80649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Strategies for Effective Handholding</a:t>
            </a:r>
            <a:endParaRPr b="0" i="0" sz="12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grpSp>
        <p:nvGrpSpPr>
          <p:cNvPr id="178" name="Google Shape;178;p13"/>
          <p:cNvGrpSpPr/>
          <p:nvPr/>
        </p:nvGrpSpPr>
        <p:grpSpPr>
          <a:xfrm>
            <a:off x="4388677" y="733463"/>
            <a:ext cx="5905084" cy="5307166"/>
            <a:chOff x="1158616" y="2752873"/>
            <a:chExt cx="4222139" cy="3619674"/>
          </a:xfrm>
        </p:grpSpPr>
        <p:sp>
          <p:nvSpPr>
            <p:cNvPr id="179" name="Google Shape;179;p13"/>
            <p:cNvSpPr/>
            <p:nvPr/>
          </p:nvSpPr>
          <p:spPr>
            <a:xfrm>
              <a:off x="1158616" y="2752873"/>
              <a:ext cx="2435100" cy="2292300"/>
            </a:xfrm>
            <a:prstGeom prst="ellipse">
              <a:avLst/>
            </a:prstGeom>
            <a:solidFill>
              <a:schemeClr val="accent1">
                <a:alpha val="31764"/>
              </a:schemeClr>
            </a:solidFill>
            <a:ln cap="flat" cmpd="sng" w="25400">
              <a:solidFill>
                <a:srgbClr val="247E8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rPr b="0" i="0" lang="en-US" sz="2600" u="none" cap="none" strike="noStrik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rPr>
                <a:t>Individualized planning</a:t>
              </a:r>
              <a:endParaRPr b="0" i="0" sz="26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t/>
              </a:r>
              <a:endParaRPr b="0" i="0" sz="26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180" name="Google Shape;180;p13"/>
            <p:cNvSpPr/>
            <p:nvPr/>
          </p:nvSpPr>
          <p:spPr>
            <a:xfrm>
              <a:off x="2945655" y="2779617"/>
              <a:ext cx="2435100" cy="2292300"/>
            </a:xfrm>
            <a:prstGeom prst="ellipse">
              <a:avLst/>
            </a:prstGeom>
            <a:solidFill>
              <a:schemeClr val="accent1">
                <a:alpha val="31764"/>
              </a:schemeClr>
            </a:solidFill>
            <a:ln cap="flat" cmpd="sng" w="25400">
              <a:solidFill>
                <a:srgbClr val="247E8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rPr b="0" i="0" lang="en-US" sz="2700" u="none" cap="none" strike="noStrik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rPr>
                <a:t>Regular Check-ins</a:t>
              </a:r>
              <a:endParaRPr b="0" i="0" sz="27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181" name="Google Shape;181;p13"/>
            <p:cNvSpPr/>
            <p:nvPr/>
          </p:nvSpPr>
          <p:spPr>
            <a:xfrm>
              <a:off x="1951063" y="4080247"/>
              <a:ext cx="2435100" cy="2292300"/>
            </a:xfrm>
            <a:prstGeom prst="ellipse">
              <a:avLst/>
            </a:prstGeom>
            <a:solidFill>
              <a:schemeClr val="accent1">
                <a:alpha val="31764"/>
              </a:schemeClr>
            </a:solidFill>
            <a:ln cap="flat" cmpd="sng" w="25400">
              <a:solidFill>
                <a:srgbClr val="247E8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rPr b="0" i="0" lang="en-US" sz="2800" u="none" cap="none" strike="noStrik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rPr>
                <a:t>Empathy</a:t>
              </a:r>
              <a:endParaRPr b="0" i="0" sz="28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</p:grpSp>
      <p:sp>
        <p:nvSpPr>
          <p:cNvPr id="182" name="Google Shape;182;p13"/>
          <p:cNvSpPr/>
          <p:nvPr/>
        </p:nvSpPr>
        <p:spPr>
          <a:xfrm>
            <a:off x="1727738" y="1593671"/>
            <a:ext cx="2540100" cy="14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Individualized Planning: </a:t>
            </a:r>
            <a:r>
              <a:rPr b="0" i="0" lang="en-US" sz="20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Recognizing and respecting unique needs</a:t>
            </a:r>
            <a:endParaRPr b="0" i="0" sz="20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83" name="Google Shape;183;p13"/>
          <p:cNvSpPr/>
          <p:nvPr/>
        </p:nvSpPr>
        <p:spPr>
          <a:xfrm>
            <a:off x="9408312" y="4451143"/>
            <a:ext cx="2874187" cy="17418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21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Regular Check-ins:</a:t>
            </a:r>
            <a:r>
              <a:rPr b="0" i="0" lang="en-US" sz="21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Monitoring progress, track connect with Didis, offering timely feedback</a:t>
            </a:r>
            <a:endParaRPr b="0" i="0" sz="21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84" name="Google Shape;184;p13"/>
          <p:cNvSpPr/>
          <p:nvPr/>
        </p:nvSpPr>
        <p:spPr>
          <a:xfrm>
            <a:off x="2353426" y="4736500"/>
            <a:ext cx="3401700" cy="252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21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Empathy:</a:t>
            </a:r>
            <a:r>
              <a:rPr b="0" i="0" lang="en-US" sz="21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Understanding Didi’s aspirations and fears</a:t>
            </a:r>
            <a:endParaRPr b="0" i="0" sz="21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85" name="Google Shape;185;p13"/>
          <p:cNvSpPr/>
          <p:nvPr/>
        </p:nvSpPr>
        <p:spPr>
          <a:xfrm>
            <a:off x="2119425" y="6172200"/>
            <a:ext cx="2014200" cy="6855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DEDEDE"/>
          </a:solidFill>
          <a:ln cap="flat" cmpd="sng" w="9525">
            <a:solidFill>
              <a:srgbClr val="5E5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Handholding</a:t>
            </a:r>
            <a:endParaRPr b="1" i="0" sz="19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86" name="Google Shape;186;p13"/>
          <p:cNvSpPr/>
          <p:nvPr/>
        </p:nvSpPr>
        <p:spPr>
          <a:xfrm>
            <a:off x="4133625" y="6172200"/>
            <a:ext cx="2014200" cy="6855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2A95B7"/>
          </a:solidFill>
          <a:ln cap="flat" cmpd="sng" w="9525">
            <a:solidFill>
              <a:srgbClr val="5E5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Strategies </a:t>
            </a:r>
            <a:endParaRPr b="1" i="0" sz="19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87" name="Google Shape;187;p13"/>
          <p:cNvSpPr/>
          <p:nvPr/>
        </p:nvSpPr>
        <p:spPr>
          <a:xfrm>
            <a:off x="6147816" y="6172200"/>
            <a:ext cx="1993500" cy="6855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DEDEDE"/>
          </a:solidFill>
          <a:ln cap="flat" cmpd="sng" w="9525">
            <a:solidFill>
              <a:srgbClr val="5E5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CRP level activities</a:t>
            </a:r>
            <a:endParaRPr b="1" i="0" sz="19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88" name="Google Shape;188;p13"/>
          <p:cNvSpPr/>
          <p:nvPr/>
        </p:nvSpPr>
        <p:spPr>
          <a:xfrm>
            <a:off x="8141333" y="6172200"/>
            <a:ext cx="1993500" cy="6855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DEDEDE"/>
          </a:solidFill>
          <a:ln cap="flat" cmpd="sng" w="9525">
            <a:solidFill>
              <a:srgbClr val="5E5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Roles of CLF,VO</a:t>
            </a:r>
            <a:endParaRPr b="1" i="0" sz="19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89" name="Google Shape;189;p13"/>
          <p:cNvSpPr/>
          <p:nvPr/>
        </p:nvSpPr>
        <p:spPr>
          <a:xfrm>
            <a:off x="10035558" y="6172200"/>
            <a:ext cx="1993500" cy="6855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DEDEDE"/>
          </a:solidFill>
          <a:ln cap="flat" cmpd="sng" w="9525">
            <a:solidFill>
              <a:srgbClr val="5E5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Role of SRLM</a:t>
            </a:r>
            <a:endParaRPr b="1" i="0" sz="19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2"/>
          <p:cNvSpPr txBox="1"/>
          <p:nvPr>
            <p:ph idx="1" type="body"/>
          </p:nvPr>
        </p:nvSpPr>
        <p:spPr>
          <a:xfrm>
            <a:off x="836612" y="1536411"/>
            <a:ext cx="5157787" cy="49219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292100" marR="80010" rtl="0" algn="just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800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292100" marR="8001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800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292100" marR="8001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800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292100" marR="8001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800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292100" marR="8001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400"/>
          </a:p>
        </p:txBody>
      </p:sp>
      <p:sp>
        <p:nvSpPr>
          <p:cNvPr id="195" name="Google Shape;195;p12"/>
          <p:cNvSpPr txBox="1"/>
          <p:nvPr/>
        </p:nvSpPr>
        <p:spPr>
          <a:xfrm>
            <a:off x="67940" y="918972"/>
            <a:ext cx="732703" cy="454082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12"/>
          <p:cNvSpPr txBox="1"/>
          <p:nvPr/>
        </p:nvSpPr>
        <p:spPr>
          <a:xfrm>
            <a:off x="1208937" y="1417646"/>
            <a:ext cx="4887000" cy="43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1" i="0" lang="en-US" sz="2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Facilitator</a:t>
            </a:r>
            <a:r>
              <a:rPr b="0" i="0" lang="en-US" sz="2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: Personalized guidance, tailored to each SHG member. Connect with schemes, progs, institutions</a:t>
            </a:r>
            <a:endParaRPr b="0" i="0" sz="24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285750" lvl="0" marL="2857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eorgia"/>
              <a:buChar char="•"/>
            </a:pPr>
            <a:r>
              <a:rPr b="1" i="0" lang="en-US" sz="2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Troubleshooters</a:t>
            </a:r>
            <a:r>
              <a:rPr b="0" i="0" lang="en-US" sz="2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: Navigating through challenges.</a:t>
            </a:r>
            <a:endParaRPr b="0" i="0" sz="24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1" i="0" lang="en-US" sz="2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Capacity Builder</a:t>
            </a:r>
            <a:r>
              <a:rPr b="0" i="0" lang="en-US" sz="2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: Enhancing skills and knowledge of Members</a:t>
            </a:r>
            <a:endParaRPr b="0" i="0" sz="24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eorgia"/>
              <a:buChar char="•"/>
            </a:pPr>
            <a:r>
              <a:rPr b="1" i="0" lang="en-US" sz="2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Monitoring </a:t>
            </a:r>
            <a:r>
              <a:rPr b="0" i="0" lang="en-US" sz="2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: Continual oversight, course correction.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4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97" name="Google Shape;197;p12"/>
          <p:cNvSpPr/>
          <p:nvPr/>
        </p:nvSpPr>
        <p:spPr>
          <a:xfrm>
            <a:off x="1018600" y="477150"/>
            <a:ext cx="10364100" cy="6156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i="0" lang="en-US" sz="28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Reiterating CRPs Roles: Pillars of Continuous Support</a:t>
            </a:r>
            <a:endParaRPr b="1" i="0" sz="1600" u="none" cap="none" strike="noStrike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1" i="0" sz="3000" u="none" cap="none" strike="noStrike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198" name="Google Shape;198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87365" y="1622698"/>
            <a:ext cx="4161032" cy="3457328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12"/>
          <p:cNvSpPr/>
          <p:nvPr/>
        </p:nvSpPr>
        <p:spPr>
          <a:xfrm>
            <a:off x="976425" y="6172200"/>
            <a:ext cx="2014200" cy="685500"/>
          </a:xfrm>
          <a:prstGeom prst="round2SameRect">
            <a:avLst>
              <a:gd fmla="val 16667" name="adj1"/>
              <a:gd fmla="val 0" name="adj2"/>
            </a:avLst>
          </a:prstGeom>
          <a:solidFill>
            <a:schemeClr val="lt2"/>
          </a:solidFill>
          <a:ln cap="flat" cmpd="sng" w="9525">
            <a:solidFill>
              <a:srgbClr val="5E5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Handholding</a:t>
            </a:r>
            <a:endParaRPr b="1" i="0" sz="19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00" name="Google Shape;200;p12"/>
          <p:cNvSpPr/>
          <p:nvPr/>
        </p:nvSpPr>
        <p:spPr>
          <a:xfrm>
            <a:off x="2990625" y="6172200"/>
            <a:ext cx="2014200" cy="685500"/>
          </a:xfrm>
          <a:prstGeom prst="round2SameRect">
            <a:avLst>
              <a:gd fmla="val 16667" name="adj1"/>
              <a:gd fmla="val 0" name="adj2"/>
            </a:avLst>
          </a:prstGeom>
          <a:solidFill>
            <a:schemeClr val="lt2"/>
          </a:solidFill>
          <a:ln cap="flat" cmpd="sng" w="9525">
            <a:solidFill>
              <a:srgbClr val="5E5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Strategies </a:t>
            </a:r>
            <a:endParaRPr b="1" i="0" sz="19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01" name="Google Shape;201;p12"/>
          <p:cNvSpPr/>
          <p:nvPr/>
        </p:nvSpPr>
        <p:spPr>
          <a:xfrm>
            <a:off x="5004816" y="6172200"/>
            <a:ext cx="1993500" cy="6855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2A95B7"/>
          </a:solidFill>
          <a:ln cap="flat" cmpd="sng" w="9525">
            <a:solidFill>
              <a:srgbClr val="247E8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CRP level activities</a:t>
            </a:r>
            <a:endParaRPr b="1" i="0" sz="19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02" name="Google Shape;202;p12"/>
          <p:cNvSpPr/>
          <p:nvPr/>
        </p:nvSpPr>
        <p:spPr>
          <a:xfrm>
            <a:off x="6998333" y="6172200"/>
            <a:ext cx="1993500" cy="6855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DEDEDE"/>
          </a:solidFill>
          <a:ln cap="flat" cmpd="sng" w="9525">
            <a:solidFill>
              <a:srgbClr val="5E5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Roles of CLF,VO</a:t>
            </a:r>
            <a:endParaRPr b="1" i="0" sz="19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03" name="Google Shape;203;p12"/>
          <p:cNvSpPr/>
          <p:nvPr/>
        </p:nvSpPr>
        <p:spPr>
          <a:xfrm>
            <a:off x="8892558" y="6172200"/>
            <a:ext cx="1993500" cy="6855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DEDEDE"/>
          </a:solidFill>
          <a:ln cap="flat" cmpd="sng" w="9525">
            <a:solidFill>
              <a:srgbClr val="5E5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Role of SRLM</a:t>
            </a:r>
            <a:endParaRPr b="1" i="0" sz="19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4"/>
          <p:cNvSpPr/>
          <p:nvPr/>
        </p:nvSpPr>
        <p:spPr>
          <a:xfrm>
            <a:off x="390430" y="3367108"/>
            <a:ext cx="7019700" cy="1332900"/>
          </a:xfrm>
          <a:prstGeom prst="roundRect">
            <a:avLst>
              <a:gd fmla="val 16667" name="adj"/>
            </a:avLst>
          </a:prstGeom>
          <a:solidFill>
            <a:srgbClr val="BBD6E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4"/>
          <p:cNvSpPr/>
          <p:nvPr/>
        </p:nvSpPr>
        <p:spPr>
          <a:xfrm>
            <a:off x="1106424" y="132037"/>
            <a:ext cx="10003500" cy="600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7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CRP’s ACTIVITIES &amp; EXPECTED OUTCOME</a:t>
            </a:r>
            <a:endParaRPr b="1" i="0" sz="2700" u="none" cap="none" strike="noStrike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10" name="Google Shape;210;p14"/>
          <p:cNvSpPr/>
          <p:nvPr/>
        </p:nvSpPr>
        <p:spPr>
          <a:xfrm>
            <a:off x="5035783" y="4731600"/>
            <a:ext cx="7019700" cy="1332900"/>
          </a:xfrm>
          <a:prstGeom prst="roundRect">
            <a:avLst>
              <a:gd fmla="val 16667" name="adj"/>
            </a:avLst>
          </a:prstGeom>
          <a:solidFill>
            <a:srgbClr val="BBD6E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4"/>
          <p:cNvSpPr/>
          <p:nvPr/>
        </p:nvSpPr>
        <p:spPr>
          <a:xfrm>
            <a:off x="4544683" y="2036693"/>
            <a:ext cx="7019700" cy="1332900"/>
          </a:xfrm>
          <a:prstGeom prst="roundRect">
            <a:avLst>
              <a:gd fmla="val 16667" name="adj"/>
            </a:avLst>
          </a:prstGeom>
          <a:solidFill>
            <a:srgbClr val="BBD6E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4"/>
          <p:cNvSpPr txBox="1"/>
          <p:nvPr/>
        </p:nvSpPr>
        <p:spPr>
          <a:xfrm>
            <a:off x="725824" y="3418205"/>
            <a:ext cx="6348900" cy="12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Financial Guidance</a:t>
            </a:r>
            <a:r>
              <a:rPr b="0" i="0" lang="en-US" sz="20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: Assisting with schemes, subsidies.</a:t>
            </a:r>
            <a:endParaRPr b="0" i="0" sz="20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1" marL="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Outcome</a:t>
            </a:r>
            <a:r>
              <a:rPr b="0" i="0" lang="en-US" sz="20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: Didis have robust financial backing.</a:t>
            </a:r>
            <a:endParaRPr b="0" i="0" sz="20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4"/>
          <p:cNvSpPr txBox="1"/>
          <p:nvPr/>
        </p:nvSpPr>
        <p:spPr>
          <a:xfrm>
            <a:off x="5306383" y="4773699"/>
            <a:ext cx="6478500" cy="157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Market Connect</a:t>
            </a:r>
            <a:r>
              <a:rPr b="0" i="0" lang="en-US" sz="20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: Linking with PGs/ PEs / other business institutions</a:t>
            </a:r>
            <a:endParaRPr b="0" i="0" sz="20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1" marL="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Outcome</a:t>
            </a:r>
            <a:r>
              <a:rPr b="1" i="0" lang="en-US" sz="20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: </a:t>
            </a:r>
            <a:r>
              <a:rPr b="0" i="0" lang="en-US" sz="20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Didis' products/services are linked with broader market</a:t>
            </a:r>
            <a:endParaRPr b="0" i="0" sz="20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14" name="Google Shape;214;p14"/>
          <p:cNvSpPr/>
          <p:nvPr/>
        </p:nvSpPr>
        <p:spPr>
          <a:xfrm>
            <a:off x="608425" y="786424"/>
            <a:ext cx="6800400" cy="1264800"/>
          </a:xfrm>
          <a:prstGeom prst="roundRect">
            <a:avLst>
              <a:gd fmla="val 16667" name="adj"/>
            </a:avLst>
          </a:prstGeom>
          <a:solidFill>
            <a:srgbClr val="BBD6E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4"/>
          <p:cNvSpPr txBox="1"/>
          <p:nvPr/>
        </p:nvSpPr>
        <p:spPr>
          <a:xfrm>
            <a:off x="966125" y="923275"/>
            <a:ext cx="6348900" cy="9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Linkages for Asset building: </a:t>
            </a:r>
            <a:r>
              <a:rPr b="0" i="0" lang="en-US" sz="20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Assisting in placing the demands in right forums and follow up. </a:t>
            </a:r>
            <a:endParaRPr b="0" i="0" sz="20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1" marL="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Outcome</a:t>
            </a:r>
            <a:r>
              <a:rPr b="0" i="1" lang="en-US" sz="20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:</a:t>
            </a:r>
            <a:r>
              <a:rPr b="0" i="0" lang="en-US" sz="20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Livelihood assets created at HH level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4"/>
          <p:cNvSpPr txBox="1"/>
          <p:nvPr/>
        </p:nvSpPr>
        <p:spPr>
          <a:xfrm>
            <a:off x="4654325" y="2105625"/>
            <a:ext cx="6800400" cy="15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Skill Building</a:t>
            </a:r>
            <a:r>
              <a:rPr b="0" i="0" lang="en-US" sz="20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: Market understanding, digital literacy, production risks, etc.</a:t>
            </a:r>
            <a:endParaRPr b="0" i="0" sz="20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Outcome</a:t>
            </a:r>
            <a:r>
              <a:rPr b="0" i="0" lang="en-US" sz="20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: Didis become more self-reliant and market-ready.</a:t>
            </a:r>
            <a:endParaRPr b="0" i="0" sz="20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4"/>
          <p:cNvSpPr/>
          <p:nvPr/>
        </p:nvSpPr>
        <p:spPr>
          <a:xfrm>
            <a:off x="976425" y="6172200"/>
            <a:ext cx="2014200" cy="6855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DEDEDE"/>
          </a:solidFill>
          <a:ln cap="flat" cmpd="sng" w="9525">
            <a:solidFill>
              <a:srgbClr val="5E5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Handholding</a:t>
            </a:r>
            <a:endParaRPr b="1" i="0" sz="19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18" name="Google Shape;218;p14"/>
          <p:cNvSpPr/>
          <p:nvPr/>
        </p:nvSpPr>
        <p:spPr>
          <a:xfrm>
            <a:off x="2990625" y="6172200"/>
            <a:ext cx="2014200" cy="685500"/>
          </a:xfrm>
          <a:prstGeom prst="round2SameRect">
            <a:avLst>
              <a:gd fmla="val 16667" name="adj1"/>
              <a:gd fmla="val 0" name="adj2"/>
            </a:avLst>
          </a:prstGeom>
          <a:solidFill>
            <a:schemeClr val="lt2"/>
          </a:solidFill>
          <a:ln cap="flat" cmpd="sng" w="9525">
            <a:solidFill>
              <a:srgbClr val="5E5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Strategies </a:t>
            </a:r>
            <a:endParaRPr b="1" i="0" sz="19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19" name="Google Shape;219;p14"/>
          <p:cNvSpPr/>
          <p:nvPr/>
        </p:nvSpPr>
        <p:spPr>
          <a:xfrm>
            <a:off x="5004816" y="6172200"/>
            <a:ext cx="1993500" cy="6855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2A95B7"/>
          </a:solidFill>
          <a:ln cap="flat" cmpd="sng" w="9525">
            <a:solidFill>
              <a:srgbClr val="5E5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CRP level activities</a:t>
            </a:r>
            <a:endParaRPr b="1" i="0" sz="19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20" name="Google Shape;220;p14"/>
          <p:cNvSpPr/>
          <p:nvPr/>
        </p:nvSpPr>
        <p:spPr>
          <a:xfrm>
            <a:off x="6998333" y="6172200"/>
            <a:ext cx="1993500" cy="6855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DEDEDE"/>
          </a:solidFill>
          <a:ln cap="flat" cmpd="sng" w="9525">
            <a:solidFill>
              <a:srgbClr val="5E5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Roles of CLF,VO</a:t>
            </a:r>
            <a:endParaRPr b="1" i="0" sz="19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21" name="Google Shape;221;p14"/>
          <p:cNvSpPr/>
          <p:nvPr/>
        </p:nvSpPr>
        <p:spPr>
          <a:xfrm>
            <a:off x="8892558" y="6172200"/>
            <a:ext cx="1993500" cy="6855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DEDEDE"/>
          </a:solidFill>
          <a:ln cap="flat" cmpd="sng" w="9525">
            <a:solidFill>
              <a:srgbClr val="5E5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Role of SRLM</a:t>
            </a:r>
            <a:endParaRPr b="1" i="0" sz="19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5"/>
          <p:cNvSpPr/>
          <p:nvPr/>
        </p:nvSpPr>
        <p:spPr>
          <a:xfrm>
            <a:off x="1106424" y="208237"/>
            <a:ext cx="10003536" cy="60013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7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CRP’s ACTIVITIES &amp; EXPECTED OUTCOME….</a:t>
            </a:r>
            <a:endParaRPr b="1" i="0" sz="2700" u="none" cap="none" strike="noStrike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27" name="Google Shape;227;p15"/>
          <p:cNvSpPr/>
          <p:nvPr/>
        </p:nvSpPr>
        <p:spPr>
          <a:xfrm>
            <a:off x="4313208" y="2790028"/>
            <a:ext cx="7019658" cy="1332761"/>
          </a:xfrm>
          <a:prstGeom prst="roundRect">
            <a:avLst>
              <a:gd fmla="val 16667" name="adj"/>
            </a:avLst>
          </a:prstGeom>
          <a:solidFill>
            <a:srgbClr val="BBD6E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28" name="Google Shape;228;p15"/>
          <p:cNvSpPr txBox="1"/>
          <p:nvPr/>
        </p:nvSpPr>
        <p:spPr>
          <a:xfrm>
            <a:off x="4399825" y="2952400"/>
            <a:ext cx="6701700" cy="117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Feedback Mechanisms</a:t>
            </a:r>
            <a:r>
              <a:rPr b="0" i="0" lang="en-US" sz="20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: Platforms for Didis to voice concerns.</a:t>
            </a:r>
            <a:endParaRPr b="0" i="0" sz="20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1" marL="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Outcome</a:t>
            </a:r>
            <a:r>
              <a:rPr b="1" i="0" lang="en-US" sz="20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: </a:t>
            </a:r>
            <a:r>
              <a:rPr b="0" i="0" lang="en-US" sz="20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Continuous improvement and trust-building.</a:t>
            </a:r>
            <a:endParaRPr b="0" i="0" sz="20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t/>
            </a:r>
            <a:endParaRPr b="0" i="0" sz="125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29" name="Google Shape;229;p15"/>
          <p:cNvSpPr/>
          <p:nvPr/>
        </p:nvSpPr>
        <p:spPr>
          <a:xfrm>
            <a:off x="958654" y="1049775"/>
            <a:ext cx="6701632" cy="1477290"/>
          </a:xfrm>
          <a:prstGeom prst="roundRect">
            <a:avLst>
              <a:gd fmla="val 16667" name="adj"/>
            </a:avLst>
          </a:prstGeom>
          <a:solidFill>
            <a:srgbClr val="BBD6E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30" name="Google Shape;230;p15"/>
          <p:cNvSpPr/>
          <p:nvPr/>
        </p:nvSpPr>
        <p:spPr>
          <a:xfrm>
            <a:off x="952270" y="4508722"/>
            <a:ext cx="7019658" cy="1332761"/>
          </a:xfrm>
          <a:prstGeom prst="roundRect">
            <a:avLst>
              <a:gd fmla="val 16667" name="adj"/>
            </a:avLst>
          </a:prstGeom>
          <a:solidFill>
            <a:srgbClr val="BBD6E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31" name="Google Shape;231;p15"/>
          <p:cNvSpPr txBox="1"/>
          <p:nvPr/>
        </p:nvSpPr>
        <p:spPr>
          <a:xfrm>
            <a:off x="933700" y="1102900"/>
            <a:ext cx="6870900" cy="157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Quality Control</a:t>
            </a:r>
            <a:r>
              <a:rPr b="0" i="0" lang="en-US" sz="20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: Making Didis aware of Maintaining product/service standards, and market quality expectations</a:t>
            </a:r>
            <a:endParaRPr b="0" i="0" sz="20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1" marL="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Outcome</a:t>
            </a:r>
            <a:r>
              <a:rPr b="1" i="0" lang="en-US" sz="20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: </a:t>
            </a:r>
            <a:r>
              <a:rPr b="0" i="0" lang="en-US" sz="20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Long-term trust and demand for Didis' offerings.</a:t>
            </a:r>
            <a:endParaRPr b="0" i="0" sz="20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32" name="Google Shape;232;p15"/>
          <p:cNvSpPr txBox="1"/>
          <p:nvPr/>
        </p:nvSpPr>
        <p:spPr>
          <a:xfrm>
            <a:off x="1106425" y="4588450"/>
            <a:ext cx="6774300" cy="9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Networking</a:t>
            </a:r>
            <a:r>
              <a:rPr b="0" i="0" lang="en-US" sz="20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: Connecting Didis with wider networks.</a:t>
            </a:r>
            <a:endParaRPr b="0" i="0" sz="20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1" marL="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Outcome</a:t>
            </a:r>
            <a:r>
              <a:rPr b="1" i="0" lang="en-US" sz="20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: </a:t>
            </a:r>
            <a:r>
              <a:rPr b="0" i="0" lang="en-US" sz="20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Didis benefit from collaborations, knowledge sharing</a:t>
            </a:r>
            <a:endParaRPr b="0" i="0" sz="20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33" name="Google Shape;233;p15"/>
          <p:cNvSpPr/>
          <p:nvPr/>
        </p:nvSpPr>
        <p:spPr>
          <a:xfrm>
            <a:off x="976425" y="6172200"/>
            <a:ext cx="2014200" cy="685500"/>
          </a:xfrm>
          <a:prstGeom prst="round2SameRect">
            <a:avLst>
              <a:gd fmla="val 16667" name="adj1"/>
              <a:gd fmla="val 0" name="adj2"/>
            </a:avLst>
          </a:prstGeom>
          <a:solidFill>
            <a:schemeClr val="lt2"/>
          </a:solidFill>
          <a:ln cap="flat" cmpd="sng" w="9525">
            <a:solidFill>
              <a:srgbClr val="5E5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Handholding</a:t>
            </a:r>
            <a:endParaRPr b="1" i="0" sz="19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34" name="Google Shape;234;p15"/>
          <p:cNvSpPr/>
          <p:nvPr/>
        </p:nvSpPr>
        <p:spPr>
          <a:xfrm>
            <a:off x="2990625" y="6172200"/>
            <a:ext cx="2014200" cy="685500"/>
          </a:xfrm>
          <a:prstGeom prst="round2SameRect">
            <a:avLst>
              <a:gd fmla="val 16667" name="adj1"/>
              <a:gd fmla="val 0" name="adj2"/>
            </a:avLst>
          </a:prstGeom>
          <a:solidFill>
            <a:schemeClr val="lt2"/>
          </a:solidFill>
          <a:ln cap="flat" cmpd="sng" w="9525">
            <a:solidFill>
              <a:srgbClr val="5E5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Strategies </a:t>
            </a:r>
            <a:endParaRPr b="1" i="0" sz="19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35" name="Google Shape;235;p15"/>
          <p:cNvSpPr/>
          <p:nvPr/>
        </p:nvSpPr>
        <p:spPr>
          <a:xfrm>
            <a:off x="5004816" y="6172200"/>
            <a:ext cx="1993500" cy="6855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2A95B7"/>
          </a:solidFill>
          <a:ln cap="flat" cmpd="sng" w="9525">
            <a:solidFill>
              <a:srgbClr val="5E5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CRP level activities</a:t>
            </a:r>
            <a:endParaRPr b="1" i="0" sz="19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36" name="Google Shape;236;p15"/>
          <p:cNvSpPr/>
          <p:nvPr/>
        </p:nvSpPr>
        <p:spPr>
          <a:xfrm>
            <a:off x="6998333" y="6172200"/>
            <a:ext cx="1993500" cy="685500"/>
          </a:xfrm>
          <a:prstGeom prst="round2SameRect">
            <a:avLst>
              <a:gd fmla="val 16667" name="adj1"/>
              <a:gd fmla="val 0" name="adj2"/>
            </a:avLst>
          </a:prstGeom>
          <a:solidFill>
            <a:schemeClr val="lt2"/>
          </a:solidFill>
          <a:ln cap="flat" cmpd="sng" w="9525">
            <a:solidFill>
              <a:srgbClr val="5E5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Roles of CLF,VO</a:t>
            </a:r>
            <a:endParaRPr b="1" i="0" sz="19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37" name="Google Shape;237;p15"/>
          <p:cNvSpPr/>
          <p:nvPr/>
        </p:nvSpPr>
        <p:spPr>
          <a:xfrm>
            <a:off x="8892558" y="6172200"/>
            <a:ext cx="1993500" cy="685500"/>
          </a:xfrm>
          <a:prstGeom prst="round2SameRect">
            <a:avLst>
              <a:gd fmla="val 16667" name="adj1"/>
              <a:gd fmla="val 0" name="adj2"/>
            </a:avLst>
          </a:prstGeom>
          <a:solidFill>
            <a:schemeClr val="lt2"/>
          </a:solidFill>
          <a:ln cap="flat" cmpd="sng" w="9525">
            <a:solidFill>
              <a:srgbClr val="5E5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Role of SRLM</a:t>
            </a:r>
            <a:endParaRPr b="1" i="0" sz="19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5"/>
          <p:cNvSpPr/>
          <p:nvPr/>
        </p:nvSpPr>
        <p:spPr>
          <a:xfrm>
            <a:off x="2687217" y="2062064"/>
            <a:ext cx="8154954" cy="2547257"/>
          </a:xfrm>
          <a:prstGeom prst="rect">
            <a:avLst/>
          </a:prstGeom>
          <a:solidFill>
            <a:schemeClr val="accent4"/>
          </a:solidFill>
          <a:ln cap="flat" cmpd="sng" w="25400">
            <a:solidFill>
              <a:srgbClr val="247E8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b="1" i="0" lang="en-US" sz="4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Roles of CLFs and VOs </a:t>
            </a:r>
            <a:endParaRPr b="1" i="0" sz="12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29b37d4ebdb_1_0"/>
          <p:cNvSpPr/>
          <p:nvPr/>
        </p:nvSpPr>
        <p:spPr>
          <a:xfrm>
            <a:off x="160667" y="972866"/>
            <a:ext cx="11870700" cy="52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b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g29b37d4ebdb_1_0"/>
          <p:cNvSpPr txBox="1"/>
          <p:nvPr>
            <p:ph type="title"/>
          </p:nvPr>
        </p:nvSpPr>
        <p:spPr>
          <a:xfrm>
            <a:off x="217047" y="210368"/>
            <a:ext cx="11589900" cy="7233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b="1" lang="en-US" sz="3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Role of CLF in Lakhpati Planning</a:t>
            </a:r>
            <a:endParaRPr b="1" i="0" sz="43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249" name="Google Shape;249;g29b37d4ebdb_1_0"/>
          <p:cNvGraphicFramePr/>
          <p:nvPr/>
        </p:nvGraphicFramePr>
        <p:xfrm>
          <a:off x="819983" y="93366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{E27C8FA6-FBBE-4FE6-815E-F0971685AE47}</a:tableStyleId>
              </a:tblPr>
              <a:tblGrid>
                <a:gridCol w="8909775"/>
              </a:tblGrid>
              <a:tr h="555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300" u="none" cap="none" strike="noStrike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Post Planning</a:t>
                      </a:r>
                      <a:endParaRPr b="1" sz="2300" u="none" cap="none" strike="noStrike">
                        <a:solidFill>
                          <a:srgbClr val="000000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121900" marB="121900" marR="91425" marL="91425">
                    <a:lnL cap="flat" cmpd="sng" w="12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791D"/>
                    </a:solidFill>
                  </a:tcPr>
                </a:tc>
              </a:tr>
              <a:tr h="4588150">
                <a:tc>
                  <a:txBody>
                    <a:bodyPr/>
                    <a:lstStyle/>
                    <a:p>
                      <a:pPr indent="-444500" lvl="0" marL="609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Georgia"/>
                        <a:buChar char="●"/>
                      </a:pPr>
                      <a:r>
                        <a:rPr lang="en-US" sz="2200" u="none" cap="none" strike="noStrike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Review and analysis of Consolidated Livelihood Plans </a:t>
                      </a:r>
                      <a:endParaRPr sz="2200" u="none" cap="none" strike="noStrike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  <a:p>
                      <a:pPr indent="-444500" lvl="0" marL="609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Georgia"/>
                        <a:buChar char="●"/>
                      </a:pPr>
                      <a:r>
                        <a:rPr lang="en-US" sz="2200" u="none" cap="none" strike="noStrike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Identifying activities those can be supported through CLF /VO resources </a:t>
                      </a:r>
                      <a:endParaRPr sz="2200" u="none" cap="none" strike="noStrike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  <a:p>
                      <a:pPr indent="-444500" lvl="0" marL="609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Georgia"/>
                        <a:buChar char="●"/>
                      </a:pPr>
                      <a:r>
                        <a:rPr lang="en-US" sz="2200" u="none" cap="none" strike="noStrike">
                          <a:solidFill>
                            <a:srgbClr val="000000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Ensuring resource availability </a:t>
                      </a:r>
                      <a:r>
                        <a:rPr lang="en-US" sz="2200" u="none" cap="none" strike="noStrike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for</a:t>
                      </a:r>
                      <a:r>
                        <a:rPr lang="en-US" sz="2200" u="none" cap="none" strike="noStrike">
                          <a:solidFill>
                            <a:srgbClr val="000000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 LH activities t</a:t>
                      </a:r>
                      <a:r>
                        <a:rPr lang="en-US" sz="2200" u="none" cap="none" strike="noStrike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hrough CBO resources (RF/ CIF / etc)</a:t>
                      </a:r>
                      <a:endParaRPr sz="2200" u="none" cap="none" strike="noStrike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  <a:p>
                      <a:pPr indent="-444500" lvl="0" marL="609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Georgia"/>
                        <a:buChar char="●"/>
                      </a:pPr>
                      <a:r>
                        <a:rPr lang="en-US" sz="2200" u="none" cap="none" strike="noStrike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Submission of requests that can be materialised through line departments</a:t>
                      </a:r>
                      <a:endParaRPr sz="2200" u="none" cap="none" strike="noStrike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  <a:p>
                      <a:pPr indent="-444500" lvl="0" marL="609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Georgia"/>
                        <a:buChar char="●"/>
                      </a:pPr>
                      <a:r>
                        <a:rPr lang="en-US" sz="2200" u="none" cap="none" strike="noStrike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Coordination and follow-up with departments</a:t>
                      </a:r>
                      <a:endParaRPr sz="2200" u="none" cap="none" strike="noStrike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  <a:p>
                      <a:pPr indent="-444500" lvl="0" marL="609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Georgia"/>
                        <a:buChar char="●"/>
                      </a:pPr>
                      <a:r>
                        <a:rPr lang="en-US" sz="2200" u="none" cap="none" strike="noStrike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Monitor timely initiation and completion of works as per LH activities</a:t>
                      </a:r>
                      <a:endParaRPr sz="2200" u="none" cap="none" strike="noStrike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121900" marB="121900" marR="91425" marL="91425">
                    <a:lnL cap="flat" cmpd="sng" w="12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50" name="Google Shape;250;g29b37d4ebdb_1_0"/>
          <p:cNvSpPr/>
          <p:nvPr/>
        </p:nvSpPr>
        <p:spPr>
          <a:xfrm>
            <a:off x="1205025" y="6172200"/>
            <a:ext cx="2014200" cy="685500"/>
          </a:xfrm>
          <a:prstGeom prst="round2SameRect">
            <a:avLst>
              <a:gd fmla="val 16667" name="adj1"/>
              <a:gd fmla="val 0" name="adj2"/>
            </a:avLst>
          </a:prstGeom>
          <a:solidFill>
            <a:schemeClr val="lt2"/>
          </a:solidFill>
          <a:ln cap="flat" cmpd="sng" w="9525">
            <a:solidFill>
              <a:srgbClr val="5E5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Handholding</a:t>
            </a:r>
            <a:endParaRPr b="1" i="0" sz="19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51" name="Google Shape;251;g29b37d4ebdb_1_0"/>
          <p:cNvSpPr/>
          <p:nvPr/>
        </p:nvSpPr>
        <p:spPr>
          <a:xfrm>
            <a:off x="3219225" y="6172200"/>
            <a:ext cx="2014200" cy="685500"/>
          </a:xfrm>
          <a:prstGeom prst="round2SameRect">
            <a:avLst>
              <a:gd fmla="val 16667" name="adj1"/>
              <a:gd fmla="val 0" name="adj2"/>
            </a:avLst>
          </a:prstGeom>
          <a:solidFill>
            <a:schemeClr val="lt2"/>
          </a:solidFill>
          <a:ln cap="flat" cmpd="sng" w="9525">
            <a:solidFill>
              <a:srgbClr val="5E5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Strategies </a:t>
            </a:r>
            <a:endParaRPr b="1" i="0" sz="19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52" name="Google Shape;252;g29b37d4ebdb_1_0"/>
          <p:cNvSpPr/>
          <p:nvPr/>
        </p:nvSpPr>
        <p:spPr>
          <a:xfrm>
            <a:off x="5233416" y="6172200"/>
            <a:ext cx="1993500" cy="6855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DEDEDE"/>
          </a:solidFill>
          <a:ln cap="flat" cmpd="sng" w="9525">
            <a:solidFill>
              <a:srgbClr val="5E5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CRP level activities</a:t>
            </a:r>
            <a:endParaRPr b="1" i="0" sz="19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53" name="Google Shape;253;g29b37d4ebdb_1_0"/>
          <p:cNvSpPr/>
          <p:nvPr/>
        </p:nvSpPr>
        <p:spPr>
          <a:xfrm>
            <a:off x="7226933" y="6172200"/>
            <a:ext cx="1993500" cy="6855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2A95B7"/>
          </a:solidFill>
          <a:ln cap="flat" cmpd="sng" w="9525">
            <a:solidFill>
              <a:srgbClr val="5E5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Roles of CLF,VO</a:t>
            </a:r>
            <a:endParaRPr b="1" i="0" sz="19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54" name="Google Shape;254;g29b37d4ebdb_1_0"/>
          <p:cNvSpPr/>
          <p:nvPr/>
        </p:nvSpPr>
        <p:spPr>
          <a:xfrm>
            <a:off x="9121158" y="6172200"/>
            <a:ext cx="1993500" cy="6855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DEDEDE"/>
          </a:solidFill>
          <a:ln cap="flat" cmpd="sng" w="9525">
            <a:solidFill>
              <a:srgbClr val="5E5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Queries</a:t>
            </a:r>
            <a:endParaRPr b="1" i="0" sz="19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0" name="Google Shape;260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11184564" y="1"/>
            <a:ext cx="1007435" cy="1042631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7"/>
          <p:cNvSpPr txBox="1"/>
          <p:nvPr/>
        </p:nvSpPr>
        <p:spPr>
          <a:xfrm>
            <a:off x="2649930" y="259718"/>
            <a:ext cx="8064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VO’s Roles and </a:t>
            </a:r>
            <a:r>
              <a:rPr b="1" i="0" lang="en-US" sz="28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Responsibilities</a:t>
            </a:r>
            <a:endParaRPr b="0" i="0" sz="14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graphicFrame>
        <p:nvGraphicFramePr>
          <p:cNvPr id="262" name="Google Shape;262;p7"/>
          <p:cNvGraphicFramePr/>
          <p:nvPr/>
        </p:nvGraphicFramePr>
        <p:xfrm>
          <a:off x="2543575" y="926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{E27C8FA6-FBBE-4FE6-815E-F0971685AE47}</a:tableStyleId>
              </a:tblPr>
              <a:tblGrid>
                <a:gridCol w="4601975"/>
                <a:gridCol w="4961925"/>
              </a:tblGrid>
              <a:tr h="323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solidFill>
                            <a:schemeClr val="dk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During Planning</a:t>
                      </a:r>
                      <a:endParaRPr sz="2000" u="none" cap="none" strike="noStrike">
                        <a:solidFill>
                          <a:schemeClr val="dk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91425" marB="91425" marR="68575" marL="68575">
                    <a:lnL cap="flat" cmpd="sng" w="12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791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solidFill>
                            <a:schemeClr val="dk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During Implementation</a:t>
                      </a:r>
                      <a:endParaRPr b="1" sz="2000" u="none" cap="none" strike="noStrike">
                        <a:solidFill>
                          <a:schemeClr val="dk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91425" marB="91425" marR="68575" marL="68575">
                    <a:lnL cap="flat" cmpd="sng" w="12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791D"/>
                    </a:solidFill>
                  </a:tcPr>
                </a:tc>
              </a:tr>
              <a:tr h="5124825">
                <a:tc>
                  <a:txBody>
                    <a:bodyPr/>
                    <a:lstStyle/>
                    <a:p>
                      <a:pPr indent="-355600" lvl="0" marL="4572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Georgia"/>
                        <a:buChar char="●"/>
                      </a:pPr>
                      <a:r>
                        <a:rPr lang="en-US" sz="2000" u="none" cap="none" strike="noStrike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Orienting SHGs about LH planning</a:t>
                      </a:r>
                      <a:endParaRPr sz="2000" u="none" cap="none" strike="noStrike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  <a:p>
                      <a:pPr indent="-355600" lvl="0" marL="4572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Georgia"/>
                        <a:buChar char="●"/>
                      </a:pPr>
                      <a:r>
                        <a:rPr lang="en-US" sz="2000" u="none" cap="none" strike="noStrike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Consolidation of livelihood Plans at Village level</a:t>
                      </a:r>
                      <a:endParaRPr sz="2000" u="none" cap="none" strike="noStrike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  <a:p>
                      <a:pPr indent="-355600" lvl="0" marL="4572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Georgia"/>
                        <a:buChar char="●"/>
                      </a:pPr>
                      <a:r>
                        <a:rPr lang="en-US" sz="2000" u="none" cap="none" strike="noStrike">
                          <a:solidFill>
                            <a:schemeClr val="dk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Consolidating the supports &amp; present in GS</a:t>
                      </a:r>
                      <a:endParaRPr sz="2000" u="none" cap="none" strike="noStrike">
                        <a:solidFill>
                          <a:schemeClr val="dk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  <a:p>
                      <a:pPr indent="-355600" lvl="0" marL="4572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Georgia"/>
                        <a:buChar char="●"/>
                      </a:pPr>
                      <a:r>
                        <a:rPr lang="en-US" sz="2000" u="none" cap="none" strike="noStrike">
                          <a:solidFill>
                            <a:schemeClr val="dk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Get it integrated with AAP and GPDP for resources</a:t>
                      </a:r>
                      <a:endParaRPr sz="2000" u="none" cap="none" strike="noStrike">
                        <a:solidFill>
                          <a:schemeClr val="dk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  <a:p>
                      <a:pPr indent="-355600" lvl="0" marL="4572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Georgia"/>
                        <a:buChar char="●"/>
                      </a:pPr>
                      <a:r>
                        <a:rPr lang="en-US" sz="2000" u="none" cap="none" strike="noStrike">
                          <a:solidFill>
                            <a:schemeClr val="dk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Coordinate with the Cluster Level Federation (CLF)</a:t>
                      </a:r>
                      <a:endParaRPr sz="2000" u="none" cap="none" strike="noStrike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  <a:p>
                      <a:pPr indent="-228600" lvl="0" marL="457200" marR="0" rtl="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20"/>
                        <a:buFont typeface="Calibri"/>
                        <a:buNone/>
                      </a:pPr>
                      <a:r>
                        <a:t/>
                      </a:r>
                      <a:endParaRPr sz="2000" u="none" cap="none" strike="noStrike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  <a:p>
                      <a:pPr indent="0" lvl="0" marL="0" marR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2000" u="none" cap="none" strike="noStrike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91425" marB="91425" marR="68575" marL="68575">
                    <a:lnL cap="flat" cmpd="sng" w="12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55600" lvl="0" marL="4572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Georgia"/>
                        <a:buChar char="●"/>
                      </a:pPr>
                      <a:r>
                        <a:rPr lang="en-US" sz="2000" u="none" cap="none" strike="noStrike">
                          <a:solidFill>
                            <a:schemeClr val="dk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Monitor and facilitate the support and LH activity taking up</a:t>
                      </a:r>
                      <a:endParaRPr sz="2000" u="none" cap="none" strike="noStrike">
                        <a:solidFill>
                          <a:schemeClr val="dk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  <a:p>
                      <a:pPr indent="-355600" lvl="0" marL="4572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Georgia"/>
                        <a:buChar char="●"/>
                      </a:pPr>
                      <a:r>
                        <a:rPr lang="en-US" sz="2000" u="none" cap="none" strike="noStrike">
                          <a:solidFill>
                            <a:schemeClr val="dk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Supervise, guide and facilitate the CRPs </a:t>
                      </a:r>
                      <a:endParaRPr sz="2000" u="none" cap="none" strike="noStrike">
                        <a:solidFill>
                          <a:schemeClr val="dk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  <a:p>
                      <a:pPr indent="-355600" lvl="0" marL="4572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Georgia"/>
                        <a:buChar char="●"/>
                      </a:pPr>
                      <a:r>
                        <a:rPr lang="en-US" sz="2000" u="none" cap="none" strike="noStrike">
                          <a:solidFill>
                            <a:schemeClr val="dk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Follow up with the relevant departments /entity, if req.</a:t>
                      </a:r>
                      <a:endParaRPr sz="2000" u="none" cap="none" strike="noStrike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  <a:p>
                      <a:pPr indent="-355600" lvl="0" marL="4572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Georgia"/>
                        <a:buChar char="●"/>
                      </a:pPr>
                      <a:r>
                        <a:rPr lang="en-US" sz="2000" u="none" cap="none" strike="noStrike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Track responsible entities for each approved plan</a:t>
                      </a:r>
                      <a:endParaRPr sz="2000" u="none" cap="none" strike="noStrike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t/>
                      </a:r>
                      <a:endParaRPr sz="2000" u="none" cap="none" strike="noStrike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  <a:p>
                      <a:pPr indent="0" lvl="0" marL="0" marR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2000" u="none" cap="none" strike="noStrike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91425" marB="91425" marR="68575" marL="68575">
                    <a:lnL cap="flat" cmpd="sng" w="12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63" name="Google Shape;263;p7"/>
          <p:cNvSpPr/>
          <p:nvPr/>
        </p:nvSpPr>
        <p:spPr>
          <a:xfrm>
            <a:off x="2195625" y="6172200"/>
            <a:ext cx="2014200" cy="685500"/>
          </a:xfrm>
          <a:prstGeom prst="round2SameRect">
            <a:avLst>
              <a:gd fmla="val 16667" name="adj1"/>
              <a:gd fmla="val 0" name="adj2"/>
            </a:avLst>
          </a:prstGeom>
          <a:solidFill>
            <a:schemeClr val="lt2"/>
          </a:solidFill>
          <a:ln cap="flat" cmpd="sng" w="9525">
            <a:solidFill>
              <a:srgbClr val="5E5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Handholding</a:t>
            </a:r>
            <a:endParaRPr b="1" i="0" sz="19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64" name="Google Shape;264;p7"/>
          <p:cNvSpPr/>
          <p:nvPr/>
        </p:nvSpPr>
        <p:spPr>
          <a:xfrm>
            <a:off x="4209825" y="6172200"/>
            <a:ext cx="2014200" cy="685500"/>
          </a:xfrm>
          <a:prstGeom prst="round2SameRect">
            <a:avLst>
              <a:gd fmla="val 16667" name="adj1"/>
              <a:gd fmla="val 0" name="adj2"/>
            </a:avLst>
          </a:prstGeom>
          <a:solidFill>
            <a:schemeClr val="lt2"/>
          </a:solidFill>
          <a:ln cap="flat" cmpd="sng" w="9525">
            <a:solidFill>
              <a:srgbClr val="5E5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Strategies </a:t>
            </a:r>
            <a:endParaRPr b="1" i="0" sz="19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65" name="Google Shape;265;p7"/>
          <p:cNvSpPr/>
          <p:nvPr/>
        </p:nvSpPr>
        <p:spPr>
          <a:xfrm>
            <a:off x="6224016" y="6172200"/>
            <a:ext cx="1993500" cy="6855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DEDEDE"/>
          </a:solidFill>
          <a:ln cap="flat" cmpd="sng" w="9525">
            <a:solidFill>
              <a:srgbClr val="5E5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CRP level activities</a:t>
            </a:r>
            <a:endParaRPr b="1" i="0" sz="19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66" name="Google Shape;266;p7"/>
          <p:cNvSpPr/>
          <p:nvPr/>
        </p:nvSpPr>
        <p:spPr>
          <a:xfrm>
            <a:off x="8217533" y="6172200"/>
            <a:ext cx="1993500" cy="6855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2A95B7"/>
          </a:solidFill>
          <a:ln cap="flat" cmpd="sng" w="9525">
            <a:solidFill>
              <a:srgbClr val="5E5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Roles of CLF,VO</a:t>
            </a:r>
            <a:endParaRPr b="1" i="0" sz="19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67" name="Google Shape;267;p7"/>
          <p:cNvSpPr/>
          <p:nvPr/>
        </p:nvSpPr>
        <p:spPr>
          <a:xfrm>
            <a:off x="10111758" y="6172200"/>
            <a:ext cx="1993500" cy="6855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DEDEDE"/>
          </a:solidFill>
          <a:ln cap="flat" cmpd="sng" w="9525">
            <a:solidFill>
              <a:srgbClr val="5E5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Queries</a:t>
            </a:r>
            <a:endParaRPr b="1" i="0" sz="19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2614b00f53e_2_16"/>
          <p:cNvSpPr/>
          <p:nvPr/>
        </p:nvSpPr>
        <p:spPr>
          <a:xfrm>
            <a:off x="2687225" y="2062076"/>
            <a:ext cx="8358900" cy="2734500"/>
          </a:xfrm>
          <a:prstGeom prst="rect">
            <a:avLst/>
          </a:prstGeom>
          <a:solidFill>
            <a:schemeClr val="accent4"/>
          </a:solidFill>
          <a:ln cap="flat" cmpd="sng" w="25400">
            <a:solidFill>
              <a:srgbClr val="247E8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b="1" i="0" lang="en-US" sz="4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Roles of SRLM</a:t>
            </a:r>
            <a:endParaRPr b="1" i="0" sz="44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b="1" i="0" lang="en-US" sz="31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At Block, District and State level</a:t>
            </a:r>
            <a:endParaRPr b="1" i="0" sz="1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2614b00f53e_2_0"/>
          <p:cNvSpPr/>
          <p:nvPr/>
        </p:nvSpPr>
        <p:spPr>
          <a:xfrm>
            <a:off x="3284275" y="261375"/>
            <a:ext cx="8133900" cy="600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7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ROLE OF BLOCK LEVEL TEAM</a:t>
            </a:r>
            <a:endParaRPr b="1" i="0" sz="2700" u="none" cap="none" strike="noStrike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79" name="Google Shape;279;g2614b00f53e_2_0"/>
          <p:cNvSpPr txBox="1"/>
          <p:nvPr>
            <p:ph idx="4294967295" type="body"/>
          </p:nvPr>
        </p:nvSpPr>
        <p:spPr>
          <a:xfrm>
            <a:off x="2097800" y="1520200"/>
            <a:ext cx="9662700" cy="49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83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Roboto"/>
              <a:buChar char="●"/>
            </a:pPr>
            <a:r>
              <a:rPr b="1" lang="en-US" sz="2200">
                <a:latin typeface="Roboto"/>
                <a:ea typeface="Roboto"/>
                <a:cs typeface="Roboto"/>
                <a:sym typeface="Roboto"/>
              </a:rPr>
              <a:t>Direct Interaction and Guidance:</a:t>
            </a:r>
            <a:r>
              <a:rPr lang="en-US" sz="2200">
                <a:latin typeface="Roboto"/>
                <a:ea typeface="Roboto"/>
                <a:cs typeface="Roboto"/>
                <a:sym typeface="Roboto"/>
              </a:rPr>
              <a:t> Regular interaction sessions and guidance to CRPs for addressing local issues.</a:t>
            </a:r>
            <a:endParaRPr sz="2200">
              <a:latin typeface="Roboto"/>
              <a:ea typeface="Roboto"/>
              <a:cs typeface="Roboto"/>
              <a:sym typeface="Roboto"/>
            </a:endParaRPr>
          </a:p>
          <a:p>
            <a:pPr indent="-3683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Roboto"/>
              <a:buChar char="●"/>
            </a:pPr>
            <a:r>
              <a:rPr b="1" lang="en-US" sz="2200">
                <a:latin typeface="Roboto"/>
                <a:ea typeface="Roboto"/>
                <a:cs typeface="Roboto"/>
                <a:sym typeface="Roboto"/>
              </a:rPr>
              <a:t>Resource Provision:</a:t>
            </a:r>
            <a:r>
              <a:rPr lang="en-US" sz="2200">
                <a:latin typeface="Roboto"/>
                <a:ea typeface="Roboto"/>
                <a:cs typeface="Roboto"/>
                <a:sym typeface="Roboto"/>
              </a:rPr>
              <a:t> Ensure CRPs have the necessary resources and tools for their activities.</a:t>
            </a:r>
            <a:endParaRPr sz="2200">
              <a:latin typeface="Roboto"/>
              <a:ea typeface="Roboto"/>
              <a:cs typeface="Roboto"/>
              <a:sym typeface="Roboto"/>
            </a:endParaRPr>
          </a:p>
          <a:p>
            <a:pPr indent="-3683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Roboto"/>
              <a:buChar char="●"/>
            </a:pPr>
            <a:r>
              <a:rPr b="1" lang="en-US" sz="2200">
                <a:latin typeface="Roboto"/>
                <a:ea typeface="Roboto"/>
                <a:cs typeface="Roboto"/>
                <a:sym typeface="Roboto"/>
              </a:rPr>
              <a:t>Local Training and Capacity Building:</a:t>
            </a:r>
            <a:r>
              <a:rPr lang="en-US" sz="2200">
                <a:latin typeface="Roboto"/>
                <a:ea typeface="Roboto"/>
                <a:cs typeface="Roboto"/>
                <a:sym typeface="Roboto"/>
              </a:rPr>
              <a:t> Provide training programs tailored to local needs to enhance CRPs' skills.</a:t>
            </a:r>
            <a:endParaRPr sz="2200">
              <a:latin typeface="Roboto"/>
              <a:ea typeface="Roboto"/>
              <a:cs typeface="Roboto"/>
              <a:sym typeface="Roboto"/>
            </a:endParaRPr>
          </a:p>
          <a:p>
            <a:pPr indent="-3683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Roboto"/>
              <a:buChar char="●"/>
            </a:pPr>
            <a:r>
              <a:rPr b="1" lang="en-US" sz="2200">
                <a:latin typeface="Roboto"/>
                <a:ea typeface="Roboto"/>
                <a:cs typeface="Roboto"/>
                <a:sym typeface="Roboto"/>
              </a:rPr>
              <a:t>Feedback and Problem Resolution:</a:t>
            </a:r>
            <a:r>
              <a:rPr lang="en-US" sz="2200">
                <a:latin typeface="Roboto"/>
                <a:ea typeface="Roboto"/>
                <a:cs typeface="Roboto"/>
                <a:sym typeface="Roboto"/>
              </a:rPr>
              <a:t> Act as the first point of contact for feedback and resolution of challenges faced by CRPs.</a:t>
            </a:r>
            <a:endParaRPr sz="2200">
              <a:latin typeface="Roboto"/>
              <a:ea typeface="Roboto"/>
              <a:cs typeface="Roboto"/>
              <a:sym typeface="Roboto"/>
            </a:endParaRPr>
          </a:p>
          <a:p>
            <a:pPr indent="-3683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Roboto"/>
              <a:buChar char="●"/>
            </a:pPr>
            <a:r>
              <a:rPr b="1" lang="en-US" sz="2200">
                <a:latin typeface="Roboto"/>
                <a:ea typeface="Roboto"/>
                <a:cs typeface="Roboto"/>
                <a:sym typeface="Roboto"/>
              </a:rPr>
              <a:t>Participate in livelihood planning at CLF level:</a:t>
            </a:r>
            <a:r>
              <a:rPr lang="en-US" sz="2200">
                <a:latin typeface="Roboto"/>
                <a:ea typeface="Roboto"/>
                <a:cs typeface="Roboto"/>
                <a:sym typeface="Roboto"/>
              </a:rPr>
              <a:t> The experts from Block unit participate in CLF meeting and support them in preparing action plan. Share the prepared plan to livelihood theme at district level.</a:t>
            </a:r>
            <a:endParaRPr sz="2200"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SzPts val="2800"/>
              <a:buNone/>
            </a:pPr>
            <a:r>
              <a:t/>
            </a:r>
            <a:endParaRPr b="1" sz="3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0" name="Google Shape;280;g2614b00f53e_2_0"/>
          <p:cNvSpPr/>
          <p:nvPr/>
        </p:nvSpPr>
        <p:spPr>
          <a:xfrm>
            <a:off x="2119425" y="6019800"/>
            <a:ext cx="2014200" cy="685500"/>
          </a:xfrm>
          <a:prstGeom prst="round2SameRect">
            <a:avLst>
              <a:gd fmla="val 16667" name="adj1"/>
              <a:gd fmla="val 0" name="adj2"/>
            </a:avLst>
          </a:prstGeom>
          <a:solidFill>
            <a:schemeClr val="lt2"/>
          </a:solidFill>
          <a:ln cap="flat" cmpd="sng" w="9525">
            <a:solidFill>
              <a:srgbClr val="5E5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Handholding</a:t>
            </a:r>
            <a:endParaRPr b="1" i="0" sz="19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81" name="Google Shape;281;g2614b00f53e_2_0"/>
          <p:cNvSpPr/>
          <p:nvPr/>
        </p:nvSpPr>
        <p:spPr>
          <a:xfrm>
            <a:off x="4133625" y="6019800"/>
            <a:ext cx="2014200" cy="685500"/>
          </a:xfrm>
          <a:prstGeom prst="round2SameRect">
            <a:avLst>
              <a:gd fmla="val 16667" name="adj1"/>
              <a:gd fmla="val 0" name="adj2"/>
            </a:avLst>
          </a:prstGeom>
          <a:solidFill>
            <a:schemeClr val="lt2"/>
          </a:solidFill>
          <a:ln cap="flat" cmpd="sng" w="9525">
            <a:solidFill>
              <a:srgbClr val="5E5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Strategies </a:t>
            </a:r>
            <a:endParaRPr b="1" i="0" sz="19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82" name="Google Shape;282;g2614b00f53e_2_0"/>
          <p:cNvSpPr/>
          <p:nvPr/>
        </p:nvSpPr>
        <p:spPr>
          <a:xfrm>
            <a:off x="6147816" y="6019800"/>
            <a:ext cx="1993500" cy="6855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DEDEDE"/>
          </a:solidFill>
          <a:ln cap="flat" cmpd="sng" w="9525">
            <a:solidFill>
              <a:srgbClr val="5E5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CRP level activities</a:t>
            </a:r>
            <a:endParaRPr b="1" i="0" sz="19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83" name="Google Shape;283;g2614b00f53e_2_0"/>
          <p:cNvSpPr/>
          <p:nvPr/>
        </p:nvSpPr>
        <p:spPr>
          <a:xfrm>
            <a:off x="8141333" y="6019800"/>
            <a:ext cx="1993500" cy="6855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DEDEDE"/>
          </a:solidFill>
          <a:ln cap="flat" cmpd="sng" w="9525">
            <a:solidFill>
              <a:srgbClr val="5E5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Roles of CLF,VO</a:t>
            </a:r>
            <a:endParaRPr b="1" i="0" sz="19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84" name="Google Shape;284;g2614b00f53e_2_0"/>
          <p:cNvSpPr/>
          <p:nvPr/>
        </p:nvSpPr>
        <p:spPr>
          <a:xfrm>
            <a:off x="10035558" y="6019800"/>
            <a:ext cx="1993500" cy="6855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2A95B7"/>
          </a:solidFill>
          <a:ln cap="flat" cmpd="sng" w="9525">
            <a:solidFill>
              <a:srgbClr val="5E5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Role of SRLM</a:t>
            </a:r>
            <a:endParaRPr b="1" i="0" sz="19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2614b00f53e_2_4"/>
          <p:cNvSpPr/>
          <p:nvPr/>
        </p:nvSpPr>
        <p:spPr>
          <a:xfrm>
            <a:off x="3330500" y="-112625"/>
            <a:ext cx="8133900" cy="600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7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ROLE OF DISTRICT LEVEL TEAM</a:t>
            </a:r>
            <a:endParaRPr b="1" i="0" sz="2700" u="none" cap="none" strike="noStrike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91" name="Google Shape;291;g2614b00f53e_2_4"/>
          <p:cNvSpPr txBox="1"/>
          <p:nvPr>
            <p:ph idx="4294967295" type="body"/>
          </p:nvPr>
        </p:nvSpPr>
        <p:spPr>
          <a:xfrm>
            <a:off x="2297600" y="487375"/>
            <a:ext cx="9166800" cy="56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2000">
                <a:latin typeface="Roboto"/>
                <a:ea typeface="Roboto"/>
                <a:cs typeface="Roboto"/>
                <a:sym typeface="Roboto"/>
              </a:rPr>
              <a:t>Review the Livelihood plan prepared at CLF level and provide suggestions on the same.</a:t>
            </a:r>
            <a:endParaRPr b="1" sz="2000">
              <a:latin typeface="Roboto"/>
              <a:ea typeface="Roboto"/>
              <a:cs typeface="Roboto"/>
              <a:sym typeface="Roboto"/>
            </a:endParaRPr>
          </a:p>
          <a:p>
            <a:pPr indent="-355600" lvl="0" marL="457200" rtl="0" algn="just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ts val="2000"/>
              <a:buFont typeface="Roboto"/>
              <a:buChar char="●"/>
            </a:pPr>
            <a:r>
              <a:rPr b="1" lang="en-US" sz="2000">
                <a:latin typeface="Roboto"/>
                <a:ea typeface="Roboto"/>
                <a:cs typeface="Roboto"/>
                <a:sym typeface="Roboto"/>
              </a:rPr>
              <a:t>Information and Resource Flow Management</a:t>
            </a:r>
            <a:r>
              <a:rPr lang="en-US" sz="2000">
                <a:latin typeface="Roboto"/>
                <a:ea typeface="Roboto"/>
                <a:cs typeface="Roboto"/>
                <a:sym typeface="Roboto"/>
              </a:rPr>
              <a:t>: Establish efficient information and resource distribution channels to ensure Block level teams and CRPs are well-equipped.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  <a:p>
            <a:pPr indent="-3556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Roboto"/>
              <a:buChar char="●"/>
            </a:pPr>
            <a:r>
              <a:rPr b="1" lang="en-US" sz="2000">
                <a:latin typeface="Roboto"/>
                <a:ea typeface="Roboto"/>
                <a:cs typeface="Roboto"/>
                <a:sym typeface="Roboto"/>
              </a:rPr>
              <a:t>Developing Supportive Systems:</a:t>
            </a:r>
            <a:r>
              <a:rPr lang="en-US" sz="2000">
                <a:latin typeface="Roboto"/>
                <a:ea typeface="Roboto"/>
                <a:cs typeface="Roboto"/>
                <a:sym typeface="Roboto"/>
              </a:rPr>
              <a:t> Create and implement systems at the district level that facilitate the work of Block level teams and CRPs.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  <a:p>
            <a:pPr indent="-355600" lvl="0" marL="457200" rtl="0" algn="just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ts val="2000"/>
              <a:buFont typeface="Roboto"/>
              <a:buChar char="●"/>
            </a:pPr>
            <a:r>
              <a:rPr b="1" lang="en-US" sz="2000">
                <a:latin typeface="Roboto"/>
                <a:ea typeface="Roboto"/>
                <a:cs typeface="Roboto"/>
                <a:sym typeface="Roboto"/>
              </a:rPr>
              <a:t>Feedback and Improvement Systems: </a:t>
            </a:r>
            <a:r>
              <a:rPr lang="en-US" sz="2000">
                <a:latin typeface="Roboto"/>
                <a:ea typeface="Roboto"/>
                <a:cs typeface="Roboto"/>
                <a:sym typeface="Roboto"/>
              </a:rPr>
              <a:t>Set up systems for collecting and analyzing feedback from Block level teams and CRPs to continually improve support mechanisms.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  <a:p>
            <a:pPr indent="-3556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Roboto"/>
              <a:buChar char="●"/>
            </a:pPr>
            <a:r>
              <a:rPr b="1" lang="en-US" sz="2000">
                <a:latin typeface="Roboto"/>
                <a:ea typeface="Roboto"/>
                <a:cs typeface="Roboto"/>
                <a:sym typeface="Roboto"/>
              </a:rPr>
              <a:t>Collaboration and Partnership Development</a:t>
            </a:r>
            <a:r>
              <a:rPr lang="en-US" sz="2000">
                <a:latin typeface="Roboto"/>
                <a:ea typeface="Roboto"/>
                <a:cs typeface="Roboto"/>
                <a:sym typeface="Roboto"/>
              </a:rPr>
              <a:t>: Foster partnerships with local NGOs, government bodies, and other stakeholders to strengthen support systems for CRPs.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  <a:p>
            <a:pPr indent="-3556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Roboto"/>
              <a:buChar char="●"/>
            </a:pPr>
            <a:r>
              <a:rPr b="1" lang="en-US" sz="2000">
                <a:latin typeface="Roboto"/>
                <a:ea typeface="Roboto"/>
                <a:cs typeface="Roboto"/>
                <a:sym typeface="Roboto"/>
              </a:rPr>
              <a:t>Technology Integration</a:t>
            </a:r>
            <a:r>
              <a:rPr b="1" lang="en-US" sz="2000">
                <a:latin typeface="Roboto"/>
                <a:ea typeface="Roboto"/>
                <a:cs typeface="Roboto"/>
                <a:sym typeface="Roboto"/>
              </a:rPr>
              <a:t>: </a:t>
            </a:r>
            <a:r>
              <a:rPr lang="en-US" sz="2000">
                <a:latin typeface="Roboto"/>
                <a:ea typeface="Roboto"/>
                <a:cs typeface="Roboto"/>
                <a:sym typeface="Roboto"/>
              </a:rPr>
              <a:t>Utilize technology to streamline processes and improve communication between district, block, and CRP levels.</a:t>
            </a:r>
            <a:endParaRPr sz="2000"/>
          </a:p>
        </p:txBody>
      </p:sp>
      <p:sp>
        <p:nvSpPr>
          <p:cNvPr id="292" name="Google Shape;292;g2614b00f53e_2_4"/>
          <p:cNvSpPr/>
          <p:nvPr/>
        </p:nvSpPr>
        <p:spPr>
          <a:xfrm>
            <a:off x="2195625" y="6172200"/>
            <a:ext cx="2014200" cy="685500"/>
          </a:xfrm>
          <a:prstGeom prst="round2SameRect">
            <a:avLst>
              <a:gd fmla="val 16667" name="adj1"/>
              <a:gd fmla="val 0" name="adj2"/>
            </a:avLst>
          </a:prstGeom>
          <a:solidFill>
            <a:schemeClr val="lt2"/>
          </a:solidFill>
          <a:ln cap="flat" cmpd="sng" w="9525">
            <a:solidFill>
              <a:srgbClr val="5E5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Handholding</a:t>
            </a:r>
            <a:endParaRPr b="1" i="0" sz="19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93" name="Google Shape;293;g2614b00f53e_2_4"/>
          <p:cNvSpPr/>
          <p:nvPr/>
        </p:nvSpPr>
        <p:spPr>
          <a:xfrm>
            <a:off x="4209825" y="6172200"/>
            <a:ext cx="2014200" cy="685500"/>
          </a:xfrm>
          <a:prstGeom prst="round2SameRect">
            <a:avLst>
              <a:gd fmla="val 16667" name="adj1"/>
              <a:gd fmla="val 0" name="adj2"/>
            </a:avLst>
          </a:prstGeom>
          <a:solidFill>
            <a:schemeClr val="lt2"/>
          </a:solidFill>
          <a:ln cap="flat" cmpd="sng" w="9525">
            <a:solidFill>
              <a:srgbClr val="5E5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Strategies </a:t>
            </a:r>
            <a:endParaRPr b="1" i="0" sz="19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94" name="Google Shape;294;g2614b00f53e_2_4"/>
          <p:cNvSpPr/>
          <p:nvPr/>
        </p:nvSpPr>
        <p:spPr>
          <a:xfrm>
            <a:off x="6224016" y="6172200"/>
            <a:ext cx="1993500" cy="6855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DEDEDE"/>
          </a:solidFill>
          <a:ln cap="flat" cmpd="sng" w="9525">
            <a:solidFill>
              <a:srgbClr val="5E5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CRP level activities</a:t>
            </a:r>
            <a:endParaRPr b="1" i="0" sz="19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95" name="Google Shape;295;g2614b00f53e_2_4"/>
          <p:cNvSpPr/>
          <p:nvPr/>
        </p:nvSpPr>
        <p:spPr>
          <a:xfrm>
            <a:off x="8217533" y="6172200"/>
            <a:ext cx="1993500" cy="6855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DEDEDE"/>
          </a:solidFill>
          <a:ln cap="flat" cmpd="sng" w="9525">
            <a:solidFill>
              <a:srgbClr val="5E5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Roles of CLF,VO</a:t>
            </a:r>
            <a:endParaRPr b="1" i="0" sz="19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96" name="Google Shape;296;g2614b00f53e_2_4"/>
          <p:cNvSpPr/>
          <p:nvPr/>
        </p:nvSpPr>
        <p:spPr>
          <a:xfrm>
            <a:off x="10111758" y="6172200"/>
            <a:ext cx="1993500" cy="6855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2A95B7"/>
          </a:solidFill>
          <a:ln cap="flat" cmpd="sng" w="9525">
            <a:solidFill>
              <a:srgbClr val="5E5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Role of SRLM</a:t>
            </a:r>
            <a:endParaRPr b="1" i="0" sz="19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2614b00f53e_2_8"/>
          <p:cNvSpPr/>
          <p:nvPr/>
        </p:nvSpPr>
        <p:spPr>
          <a:xfrm>
            <a:off x="3284275" y="108975"/>
            <a:ext cx="8133900" cy="600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7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ROLE OF STATE LEVEL TEAM</a:t>
            </a:r>
            <a:endParaRPr b="1" i="0" sz="2700" u="none" cap="none" strike="noStrike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03" name="Google Shape;303;g2614b00f53e_2_8"/>
          <p:cNvSpPr txBox="1"/>
          <p:nvPr>
            <p:ph idx="4294967295" type="body"/>
          </p:nvPr>
        </p:nvSpPr>
        <p:spPr>
          <a:xfrm>
            <a:off x="2091600" y="776425"/>
            <a:ext cx="9912300" cy="55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83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Roboto"/>
              <a:buChar char="●"/>
            </a:pPr>
            <a:r>
              <a:rPr b="1" lang="en-US" sz="2200">
                <a:latin typeface="Roboto"/>
                <a:ea typeface="Roboto"/>
                <a:cs typeface="Roboto"/>
                <a:sym typeface="Roboto"/>
              </a:rPr>
              <a:t>Policy Framework and System Alignment:</a:t>
            </a:r>
            <a:r>
              <a:rPr lang="en-US" sz="2200">
                <a:latin typeface="Roboto"/>
                <a:ea typeface="Roboto"/>
                <a:cs typeface="Roboto"/>
                <a:sym typeface="Roboto"/>
              </a:rPr>
              <a:t> Develop policies and align systems across the state to support the Lakhpati Didi initiative's objectives.</a:t>
            </a:r>
            <a:endParaRPr sz="2200">
              <a:latin typeface="Roboto"/>
              <a:ea typeface="Roboto"/>
              <a:cs typeface="Roboto"/>
              <a:sym typeface="Roboto"/>
            </a:endParaRPr>
          </a:p>
          <a:p>
            <a:pPr indent="-3683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Roboto"/>
              <a:buChar char="●"/>
            </a:pPr>
            <a:r>
              <a:rPr b="1" lang="en-US" sz="2200">
                <a:latin typeface="Roboto"/>
                <a:ea typeface="Roboto"/>
                <a:cs typeface="Roboto"/>
                <a:sym typeface="Roboto"/>
              </a:rPr>
              <a:t>Resource Mobilization for System Development:</a:t>
            </a:r>
            <a:r>
              <a:rPr lang="en-US" sz="2200">
                <a:latin typeface="Roboto"/>
                <a:ea typeface="Roboto"/>
                <a:cs typeface="Roboto"/>
                <a:sym typeface="Roboto"/>
              </a:rPr>
              <a:t> Secure resources for the development and maintenance of systems that support district and block level teams.</a:t>
            </a:r>
            <a:endParaRPr sz="2200">
              <a:latin typeface="Roboto"/>
              <a:ea typeface="Roboto"/>
              <a:cs typeface="Roboto"/>
              <a:sym typeface="Roboto"/>
            </a:endParaRPr>
          </a:p>
          <a:p>
            <a:pPr indent="-3683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Roboto"/>
              <a:buChar char="●"/>
            </a:pPr>
            <a:r>
              <a:rPr b="1" lang="en-US" sz="2200">
                <a:latin typeface="Roboto"/>
                <a:ea typeface="Roboto"/>
                <a:cs typeface="Roboto"/>
                <a:sym typeface="Roboto"/>
              </a:rPr>
              <a:t>Statewide System Coordination</a:t>
            </a:r>
            <a:r>
              <a:rPr lang="en-US" sz="2200">
                <a:latin typeface="Roboto"/>
                <a:ea typeface="Roboto"/>
                <a:cs typeface="Roboto"/>
                <a:sym typeface="Roboto"/>
              </a:rPr>
              <a:t>: Ensure consistency and coherence in systems across different districts to facilitate uniform support for CRPs.</a:t>
            </a:r>
            <a:endParaRPr sz="2200">
              <a:latin typeface="Roboto"/>
              <a:ea typeface="Roboto"/>
              <a:cs typeface="Roboto"/>
              <a:sym typeface="Roboto"/>
            </a:endParaRPr>
          </a:p>
          <a:p>
            <a:pPr indent="-3683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Roboto"/>
              <a:buChar char="●"/>
            </a:pPr>
            <a:r>
              <a:rPr b="1" lang="en-US" sz="2200">
                <a:latin typeface="Roboto"/>
                <a:ea typeface="Roboto"/>
                <a:cs typeface="Roboto"/>
                <a:sym typeface="Roboto"/>
              </a:rPr>
              <a:t>Monitoring and Evaluation Systems</a:t>
            </a:r>
            <a:r>
              <a:rPr lang="en-US" sz="2200">
                <a:latin typeface="Roboto"/>
                <a:ea typeface="Roboto"/>
                <a:cs typeface="Roboto"/>
                <a:sym typeface="Roboto"/>
              </a:rPr>
              <a:t>: Implement state-level monitoring and evaluation systems to assess the impact of these support systems on the program's success.</a:t>
            </a:r>
            <a:endParaRPr sz="2200">
              <a:latin typeface="Roboto"/>
              <a:ea typeface="Roboto"/>
              <a:cs typeface="Roboto"/>
              <a:sym typeface="Roboto"/>
            </a:endParaRPr>
          </a:p>
          <a:p>
            <a:pPr indent="-3683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Roboto"/>
              <a:buChar char="●"/>
            </a:pPr>
            <a:r>
              <a:rPr b="1" lang="en-US" sz="2200">
                <a:latin typeface="Roboto"/>
                <a:ea typeface="Roboto"/>
                <a:cs typeface="Roboto"/>
                <a:sym typeface="Roboto"/>
              </a:rPr>
              <a:t>Innovation and Best Practices: </a:t>
            </a:r>
            <a:r>
              <a:rPr lang="en-US" sz="2200">
                <a:latin typeface="Roboto"/>
                <a:ea typeface="Roboto"/>
                <a:cs typeface="Roboto"/>
                <a:sym typeface="Roboto"/>
              </a:rPr>
              <a:t>Encourage innovation in system development and share best practices across districts to continually enhance support to CRPs.</a:t>
            </a:r>
            <a:endParaRPr sz="3800"/>
          </a:p>
        </p:txBody>
      </p:sp>
      <p:sp>
        <p:nvSpPr>
          <p:cNvPr id="304" name="Google Shape;304;g2614b00f53e_2_8"/>
          <p:cNvSpPr/>
          <p:nvPr/>
        </p:nvSpPr>
        <p:spPr>
          <a:xfrm>
            <a:off x="2195625" y="6172200"/>
            <a:ext cx="2014200" cy="685500"/>
          </a:xfrm>
          <a:prstGeom prst="round2SameRect">
            <a:avLst>
              <a:gd fmla="val 16667" name="adj1"/>
              <a:gd fmla="val 0" name="adj2"/>
            </a:avLst>
          </a:prstGeom>
          <a:solidFill>
            <a:schemeClr val="lt2"/>
          </a:solidFill>
          <a:ln cap="flat" cmpd="sng" w="9525">
            <a:solidFill>
              <a:srgbClr val="5E5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Handholding</a:t>
            </a:r>
            <a:endParaRPr b="1" i="0" sz="19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05" name="Google Shape;305;g2614b00f53e_2_8"/>
          <p:cNvSpPr/>
          <p:nvPr/>
        </p:nvSpPr>
        <p:spPr>
          <a:xfrm>
            <a:off x="4209825" y="6172200"/>
            <a:ext cx="2014200" cy="685500"/>
          </a:xfrm>
          <a:prstGeom prst="round2SameRect">
            <a:avLst>
              <a:gd fmla="val 16667" name="adj1"/>
              <a:gd fmla="val 0" name="adj2"/>
            </a:avLst>
          </a:prstGeom>
          <a:solidFill>
            <a:schemeClr val="lt2"/>
          </a:solidFill>
          <a:ln cap="flat" cmpd="sng" w="9525">
            <a:solidFill>
              <a:srgbClr val="5E5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Strategies </a:t>
            </a:r>
            <a:endParaRPr b="1" i="0" sz="19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06" name="Google Shape;306;g2614b00f53e_2_8"/>
          <p:cNvSpPr/>
          <p:nvPr/>
        </p:nvSpPr>
        <p:spPr>
          <a:xfrm>
            <a:off x="6224016" y="6172200"/>
            <a:ext cx="1993500" cy="6855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DEDEDE"/>
          </a:solidFill>
          <a:ln cap="flat" cmpd="sng" w="9525">
            <a:solidFill>
              <a:srgbClr val="5E5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CRP level activities</a:t>
            </a:r>
            <a:endParaRPr b="1" i="0" sz="19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07" name="Google Shape;307;g2614b00f53e_2_8"/>
          <p:cNvSpPr/>
          <p:nvPr/>
        </p:nvSpPr>
        <p:spPr>
          <a:xfrm>
            <a:off x="8217533" y="6172200"/>
            <a:ext cx="1993500" cy="6855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DEDEDE"/>
          </a:solidFill>
          <a:ln cap="flat" cmpd="sng" w="9525">
            <a:solidFill>
              <a:srgbClr val="5E5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Roles of CLF,VO</a:t>
            </a:r>
            <a:endParaRPr b="1" i="0" sz="19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08" name="Google Shape;308;g2614b00f53e_2_8"/>
          <p:cNvSpPr/>
          <p:nvPr/>
        </p:nvSpPr>
        <p:spPr>
          <a:xfrm>
            <a:off x="10111758" y="6172200"/>
            <a:ext cx="1993500" cy="6855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2A95B7"/>
          </a:solidFill>
          <a:ln cap="flat" cmpd="sng" w="9525">
            <a:solidFill>
              <a:srgbClr val="5E5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Role of SRLM</a:t>
            </a:r>
            <a:endParaRPr b="1" i="0" sz="19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and drawn stickman confused with speech bubble question mark. Simple  outline curious doodle icon clipart. For question support clipart Stock  Vector Image &amp; Art - Alamy" id="314" name="Google Shape;314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51584" y="511898"/>
            <a:ext cx="3744416" cy="3683592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23"/>
          <p:cNvSpPr txBox="1"/>
          <p:nvPr/>
        </p:nvSpPr>
        <p:spPr>
          <a:xfrm>
            <a:off x="5729001" y="1630400"/>
            <a:ext cx="4980300" cy="277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800" u="none" cap="none" strike="noStrike">
                <a:solidFill>
                  <a:srgbClr val="F3791D"/>
                </a:solidFill>
                <a:latin typeface="Georgia"/>
                <a:ea typeface="Georgia"/>
                <a:cs typeface="Georgia"/>
                <a:sym typeface="Georgia"/>
              </a:rPr>
              <a:t>Queries and Observations?</a:t>
            </a:r>
            <a:endParaRPr b="0" i="0" sz="1800" u="none" cap="none" strike="noStrike">
              <a:solidFill>
                <a:srgbClr val="F3791D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t/>
            </a:r>
            <a:endParaRPr b="1" i="0" sz="4800" u="none" cap="none" strike="noStrike">
              <a:solidFill>
                <a:srgbClr val="C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24"/>
          <p:cNvSpPr txBox="1"/>
          <p:nvPr>
            <p:ph idx="4294967295" type="title"/>
          </p:nvPr>
        </p:nvSpPr>
        <p:spPr>
          <a:xfrm>
            <a:off x="901600" y="2846356"/>
            <a:ext cx="10388800" cy="7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8000"/>
              <a:buFont typeface="Bookman Old Style"/>
              <a:buNone/>
            </a:pPr>
            <a:r>
              <a:rPr b="0" i="0" lang="en-US" sz="8000" u="none" cap="none" strike="noStrike">
                <a:solidFill>
                  <a:srgbClr val="F3F3F3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Thank you</a:t>
            </a:r>
            <a:endParaRPr b="0" i="0" sz="8000" u="none" cap="none" strike="noStrike">
              <a:solidFill>
                <a:srgbClr val="F3F3F3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321" name="Google Shape;321;p24"/>
          <p:cNvSpPr txBox="1"/>
          <p:nvPr>
            <p:ph idx="12" type="sldNum"/>
          </p:nvPr>
        </p:nvSpPr>
        <p:spPr>
          <a:xfrm>
            <a:off x="11460400" y="6453000"/>
            <a:ext cx="731600" cy="404800"/>
          </a:xfrm>
          <a:prstGeom prst="rect">
            <a:avLst/>
          </a:prstGeom>
          <a:noFill/>
          <a:ln>
            <a:noFill/>
          </a:ln>
          <a:effectLst>
            <a:outerShdw blurRad="28575" rotWithShape="0" algn="bl" dir="5400000" dist="19050">
              <a:srgbClr val="000000">
                <a:alpha val="21960"/>
              </a:srgbClr>
            </a:outerShdw>
          </a:effectLst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2023-11-10T02:59:51Z</dcterms:created>
  <dc:creator>SNEHA S KUMAR</dc:creator>
</cp:coreProperties>
</file>