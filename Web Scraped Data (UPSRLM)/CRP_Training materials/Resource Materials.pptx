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2000"/>
  <p:notesSz cx="6858000" cy="9144000"/>
  <p:embeddedFontLst>
    <p:embeddedFont>
      <p:font typeface="PT Sans Narrow"/>
      <p:regular r:id="rId12"/>
      <p:bold r:id="rId13"/>
    </p:embeddedFont>
    <p:embeddedFont>
      <p:font typeface="Open Sans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gGx2meU2sYOt2pl/Gq1UsfslnQ/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F4162C9-CE23-43A1-A03F-D6BBBD7272D0}">
  <a:tblStyle styleId="{6F4162C9-CE23-43A1-A03F-D6BBBD7272D0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PTSansNarrow-bold.fntdata"/><Relationship Id="rId12" Type="http://schemas.openxmlformats.org/officeDocument/2006/relationships/font" Target="fonts/PTSansNarrow-regular.fntdata"/><Relationship Id="rId15" Type="http://schemas.openxmlformats.org/officeDocument/2006/relationships/font" Target="fonts/OpenSans-bold.fntdata"/><Relationship Id="rId14" Type="http://schemas.openxmlformats.org/officeDocument/2006/relationships/font" Target="fonts/OpenSans-regular.fntdata"/><Relationship Id="rId17" Type="http://schemas.openxmlformats.org/officeDocument/2006/relationships/font" Target="fonts/OpenSans-boldItalic.fntdata"/><Relationship Id="rId16" Type="http://schemas.openxmlformats.org/officeDocument/2006/relationships/font" Target="fonts/OpenSans-italic.fntdata"/><Relationship Id="rId18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0" name="Google Shape;70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2aa4464a26b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2aa4464a26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aa4464a26b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aa4464a26b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aa4464a26b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2aa4464a26b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aa4464a26b_0_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2aa4464a26b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a03f7ee081_0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g2a03f7ee081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g29fca9523d5_1_465"/>
          <p:cNvCxnSpPr/>
          <p:nvPr/>
        </p:nvCxnSpPr>
        <p:spPr>
          <a:xfrm>
            <a:off x="9343647" y="4235850"/>
            <a:ext cx="7497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g29fca9523d5_1_465"/>
          <p:cNvCxnSpPr/>
          <p:nvPr/>
        </p:nvCxnSpPr>
        <p:spPr>
          <a:xfrm>
            <a:off x="2100047" y="4211002"/>
            <a:ext cx="7497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" name="Google Shape;12;g29fca9523d5_1_465"/>
          <p:cNvGrpSpPr/>
          <p:nvPr/>
        </p:nvGrpSpPr>
        <p:grpSpPr>
          <a:xfrm>
            <a:off x="1338859" y="1362666"/>
            <a:ext cx="9515557" cy="203195"/>
            <a:chOff x="1346429" y="1011300"/>
            <a:chExt cx="6452100" cy="152400"/>
          </a:xfrm>
        </p:grpSpPr>
        <p:cxnSp>
          <p:nvCxnSpPr>
            <p:cNvPr id="13" name="Google Shape;13;g29fca9523d5_1_465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" name="Google Shape;14;g29fca9523d5_1_465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" name="Google Shape;15;g29fca9523d5_1_465"/>
          <p:cNvGrpSpPr/>
          <p:nvPr/>
        </p:nvGrpSpPr>
        <p:grpSpPr>
          <a:xfrm>
            <a:off x="1338868" y="5292001"/>
            <a:ext cx="9515557" cy="203195"/>
            <a:chOff x="1346435" y="3969088"/>
            <a:chExt cx="6452100" cy="152400"/>
          </a:xfrm>
        </p:grpSpPr>
        <p:cxnSp>
          <p:nvCxnSpPr>
            <p:cNvPr id="16" name="Google Shape;16;g29fca9523d5_1_465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" name="Google Shape;17;g29fca9523d5_1_465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" name="Google Shape;18;g29fca9523d5_1_465"/>
          <p:cNvSpPr txBox="1"/>
          <p:nvPr>
            <p:ph type="ctrTitle"/>
          </p:nvPr>
        </p:nvSpPr>
        <p:spPr>
          <a:xfrm>
            <a:off x="1338867" y="2335685"/>
            <a:ext cx="9515700" cy="13632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19" name="Google Shape;19;g29fca9523d5_1_465"/>
          <p:cNvSpPr txBox="1"/>
          <p:nvPr>
            <p:ph idx="1" type="subTitle"/>
          </p:nvPr>
        </p:nvSpPr>
        <p:spPr>
          <a:xfrm>
            <a:off x="2849633" y="3800052"/>
            <a:ext cx="64941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20" name="Google Shape;20;g29fca9523d5_1_46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29fca9523d5_1_51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23" name="Google Shape;23;g29fca9523d5_1_518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24" name="Google Shape;24;g29fca9523d5_1_518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Google Shape;25;g29fca9523d5_1_518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" name="Google Shape;26;g29fca9523d5_1_51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29fca9523d5_1_491"/>
          <p:cNvSpPr txBox="1"/>
          <p:nvPr>
            <p:ph type="title"/>
          </p:nvPr>
        </p:nvSpPr>
        <p:spPr>
          <a:xfrm>
            <a:off x="415600" y="593367"/>
            <a:ext cx="11360700" cy="9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29" name="Google Shape;29;g29fca9523d5_1_49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g29fca9523d5_1_477"/>
          <p:cNvSpPr/>
          <p:nvPr/>
        </p:nvSpPr>
        <p:spPr>
          <a:xfrm>
            <a:off x="-67" y="3429200"/>
            <a:ext cx="12192000" cy="3428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g29fca9523d5_1_477"/>
          <p:cNvSpPr txBox="1"/>
          <p:nvPr>
            <p:ph type="title"/>
          </p:nvPr>
        </p:nvSpPr>
        <p:spPr>
          <a:xfrm>
            <a:off x="415600" y="1086400"/>
            <a:ext cx="11428500" cy="125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33" name="Google Shape;33;g29fca9523d5_1_47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29fca9523d5_1_481"/>
          <p:cNvSpPr/>
          <p:nvPr/>
        </p:nvSpPr>
        <p:spPr>
          <a:xfrm>
            <a:off x="-100" y="6727600"/>
            <a:ext cx="12192000" cy="130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g29fca9523d5_1_481"/>
          <p:cNvSpPr txBox="1"/>
          <p:nvPr>
            <p:ph type="title"/>
          </p:nvPr>
        </p:nvSpPr>
        <p:spPr>
          <a:xfrm>
            <a:off x="415600" y="593367"/>
            <a:ext cx="11360700" cy="9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37" name="Google Shape;37;g29fca9523d5_1_481"/>
          <p:cNvSpPr txBox="1"/>
          <p:nvPr>
            <p:ph idx="1" type="body"/>
          </p:nvPr>
        </p:nvSpPr>
        <p:spPr>
          <a:xfrm>
            <a:off x="415600" y="1688433"/>
            <a:ext cx="11360700" cy="44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38" name="Google Shape;38;g29fca9523d5_1_48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29fca9523d5_1_486"/>
          <p:cNvSpPr txBox="1"/>
          <p:nvPr>
            <p:ph type="title"/>
          </p:nvPr>
        </p:nvSpPr>
        <p:spPr>
          <a:xfrm>
            <a:off x="415600" y="593367"/>
            <a:ext cx="11360700" cy="9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41" name="Google Shape;41;g29fca9523d5_1_486"/>
          <p:cNvSpPr txBox="1"/>
          <p:nvPr>
            <p:ph idx="1" type="body"/>
          </p:nvPr>
        </p:nvSpPr>
        <p:spPr>
          <a:xfrm>
            <a:off x="415600" y="1688233"/>
            <a:ext cx="5333100" cy="44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42" name="Google Shape;42;g29fca9523d5_1_486"/>
          <p:cNvSpPr txBox="1"/>
          <p:nvPr>
            <p:ph idx="2" type="body"/>
          </p:nvPr>
        </p:nvSpPr>
        <p:spPr>
          <a:xfrm>
            <a:off x="6443200" y="1688233"/>
            <a:ext cx="5333100" cy="44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43" name="Google Shape;43;g29fca9523d5_1_48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29fca9523d5_1_494"/>
          <p:cNvSpPr txBox="1"/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46" name="Google Shape;46;g29fca9523d5_1_494"/>
          <p:cNvSpPr txBox="1"/>
          <p:nvPr>
            <p:ph idx="1" type="body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47" name="Google Shape;47;g29fca9523d5_1_49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6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29fca9523d5_1_498"/>
          <p:cNvSpPr txBox="1"/>
          <p:nvPr>
            <p:ph type="title"/>
          </p:nvPr>
        </p:nvSpPr>
        <p:spPr>
          <a:xfrm>
            <a:off x="653667" y="701800"/>
            <a:ext cx="7484700" cy="54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None/>
              <a:defRPr b="0" sz="72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None/>
              <a:defRPr b="0" sz="72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None/>
              <a:defRPr b="0" sz="72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None/>
              <a:defRPr b="0" sz="72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None/>
              <a:defRPr b="0" sz="72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None/>
              <a:defRPr b="0" sz="72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None/>
              <a:defRPr b="0" sz="72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None/>
              <a:defRPr b="0" sz="72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None/>
              <a:defRPr b="0" sz="7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0" name="Google Shape;50;g29fca9523d5_1_49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29fca9523d5_1_50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3" name="Google Shape;53;g29fca9523d5_1_501"/>
          <p:cNvCxnSpPr/>
          <p:nvPr/>
        </p:nvCxnSpPr>
        <p:spPr>
          <a:xfrm>
            <a:off x="6706233" y="5994000"/>
            <a:ext cx="624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" name="Google Shape;54;g29fca9523d5_1_501"/>
          <p:cNvSpPr txBox="1"/>
          <p:nvPr>
            <p:ph type="title"/>
          </p:nvPr>
        </p:nvSpPr>
        <p:spPr>
          <a:xfrm>
            <a:off x="354000" y="1386233"/>
            <a:ext cx="5393700" cy="22344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55" name="Google Shape;55;g29fca9523d5_1_501"/>
          <p:cNvSpPr txBox="1"/>
          <p:nvPr>
            <p:ph idx="1" type="subTitle"/>
          </p:nvPr>
        </p:nvSpPr>
        <p:spPr>
          <a:xfrm>
            <a:off x="354000" y="3635833"/>
            <a:ext cx="5393700" cy="16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6" name="Google Shape;56;g29fca9523d5_1_501"/>
          <p:cNvSpPr txBox="1"/>
          <p:nvPr>
            <p:ph idx="2" type="body"/>
          </p:nvPr>
        </p:nvSpPr>
        <p:spPr>
          <a:xfrm>
            <a:off x="6586000" y="965600"/>
            <a:ext cx="5115900" cy="49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  <a:defRPr>
                <a:solidFill>
                  <a:schemeClr val="lt1"/>
                </a:solidFill>
              </a:defRPr>
            </a:lvl1pPr>
            <a:lvl2pPr indent="-3492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  <a:defRPr>
                <a:solidFill>
                  <a:schemeClr val="lt1"/>
                </a:solidFill>
              </a:defRPr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  <a:defRPr>
                <a:solidFill>
                  <a:schemeClr val="lt1"/>
                </a:solidFill>
              </a:defRPr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7" name="Google Shape;57;g29fca9523d5_1_50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9fca9523d5_1_508"/>
          <p:cNvSpPr txBox="1"/>
          <p:nvPr>
            <p:ph idx="1" type="body"/>
          </p:nvPr>
        </p:nvSpPr>
        <p:spPr>
          <a:xfrm>
            <a:off x="415600" y="5640967"/>
            <a:ext cx="7998300" cy="79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T Sans Narrow"/>
              <a:buNone/>
              <a:defRPr sz="32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/>
        </p:txBody>
      </p:sp>
      <p:sp>
        <p:nvSpPr>
          <p:cNvPr id="60" name="Google Shape;60;g29fca9523d5_1_50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9fca9523d5_1_511"/>
          <p:cNvSpPr/>
          <p:nvPr/>
        </p:nvSpPr>
        <p:spPr>
          <a:xfrm>
            <a:off x="-100" y="6727600"/>
            <a:ext cx="12192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g29fca9523d5_1_511"/>
          <p:cNvSpPr txBox="1"/>
          <p:nvPr>
            <p:ph hasCustomPrompt="1" type="title"/>
          </p:nvPr>
        </p:nvSpPr>
        <p:spPr>
          <a:xfrm>
            <a:off x="415600" y="1739800"/>
            <a:ext cx="11360700" cy="205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300"/>
              <a:buNone/>
              <a:defRPr sz="17300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300"/>
              <a:buNone/>
              <a:defRPr sz="17300">
                <a:solidFill>
                  <a:schemeClr val="accent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300"/>
              <a:buNone/>
              <a:defRPr sz="17300">
                <a:solidFill>
                  <a:schemeClr val="accent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300"/>
              <a:buNone/>
              <a:defRPr sz="17300">
                <a:solidFill>
                  <a:schemeClr val="accent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300"/>
              <a:buNone/>
              <a:defRPr sz="17300">
                <a:solidFill>
                  <a:schemeClr val="accent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300"/>
              <a:buNone/>
              <a:defRPr sz="17300">
                <a:solidFill>
                  <a:schemeClr val="accent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300"/>
              <a:buNone/>
              <a:defRPr sz="17300">
                <a:solidFill>
                  <a:schemeClr val="accent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300"/>
              <a:buNone/>
              <a:defRPr sz="17300">
                <a:solidFill>
                  <a:schemeClr val="accent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300"/>
              <a:buNone/>
              <a:defRPr sz="173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g29fca9523d5_1_511"/>
          <p:cNvSpPr txBox="1"/>
          <p:nvPr>
            <p:ph idx="1" type="body"/>
          </p:nvPr>
        </p:nvSpPr>
        <p:spPr>
          <a:xfrm>
            <a:off x="415600" y="3994200"/>
            <a:ext cx="11360700" cy="14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65" name="Google Shape;65;g29fca9523d5_1_51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29fca9523d5_1_51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rop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29fca9523d5_1_461"/>
          <p:cNvSpPr txBox="1"/>
          <p:nvPr>
            <p:ph type="title"/>
          </p:nvPr>
        </p:nvSpPr>
        <p:spPr>
          <a:xfrm>
            <a:off x="415600" y="593367"/>
            <a:ext cx="11360700" cy="9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PT Sans Narrow"/>
              <a:buNone/>
              <a:defRPr b="1" i="0" sz="48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PT Sans Narrow"/>
              <a:buNone/>
              <a:defRPr b="1" i="0" sz="48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PT Sans Narrow"/>
              <a:buNone/>
              <a:defRPr b="1" i="0" sz="48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PT Sans Narrow"/>
              <a:buNone/>
              <a:defRPr b="1" i="0" sz="48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PT Sans Narrow"/>
              <a:buNone/>
              <a:defRPr b="1" i="0" sz="48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PT Sans Narrow"/>
              <a:buNone/>
              <a:defRPr b="1" i="0" sz="48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PT Sans Narrow"/>
              <a:buNone/>
              <a:defRPr b="1" i="0" sz="48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PT Sans Narrow"/>
              <a:buNone/>
              <a:defRPr b="1" i="0" sz="48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PT Sans Narrow"/>
              <a:buNone/>
              <a:defRPr b="1" i="0" sz="48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7" name="Google Shape;7;g29fca9523d5_1_461"/>
          <p:cNvSpPr txBox="1"/>
          <p:nvPr>
            <p:ph idx="1" type="body"/>
          </p:nvPr>
        </p:nvSpPr>
        <p:spPr>
          <a:xfrm>
            <a:off x="415600" y="1688433"/>
            <a:ext cx="11360700" cy="44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Open Sans"/>
              <a:buChar char="●"/>
              <a:defRPr b="0" i="0" sz="2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492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Open Sans"/>
              <a:buChar char="○"/>
              <a:defRPr b="0" i="0" sz="19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492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Open Sans"/>
              <a:buChar char="■"/>
              <a:defRPr b="0" i="0" sz="19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492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Open Sans"/>
              <a:buChar char="●"/>
              <a:defRPr b="0" i="0" sz="19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492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Open Sans"/>
              <a:buChar char="○"/>
              <a:defRPr b="0" i="0" sz="19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492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Open Sans"/>
              <a:buChar char="■"/>
              <a:defRPr b="0" i="0" sz="19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492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Open Sans"/>
              <a:buChar char="●"/>
              <a:defRPr b="0" i="0" sz="19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492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Open Sans"/>
              <a:buChar char="○"/>
              <a:defRPr b="0" i="0" sz="19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492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Open Sans"/>
              <a:buChar char="■"/>
              <a:defRPr b="0" i="0" sz="19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g29fca9523d5_1_46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hyperlink" Target="https://docs.google.com/document/d/1PebeLNDuW8snA24t719ivNkdLiD4BcfH/edit?usp=sharing&amp;ouid=111221402645274011756&amp;rtpof=true&amp;sd=true" TargetMode="External"/><Relationship Id="rId10" Type="http://schemas.openxmlformats.org/officeDocument/2006/relationships/hyperlink" Target="https://docs.google.com/document/d/1ryjHVjfqIGItxBT66IIurxUJFeDBBkJZ/edit?usp=drive_link&amp;ouid=111221402645274011756&amp;rtpof=true&amp;sd=true" TargetMode="External"/><Relationship Id="rId13" Type="http://schemas.openxmlformats.org/officeDocument/2006/relationships/hyperlink" Target="https://docs.google.com/document/d/1LOUbLzPncmrYhL5wCqLwTPECEQyQhhcK/edit?usp=sharing&amp;ouid=111221402645274011756&amp;rtpof=true&amp;sd=true" TargetMode="External"/><Relationship Id="rId12" Type="http://schemas.openxmlformats.org/officeDocument/2006/relationships/hyperlink" Target="https://docs.google.com/document/d/1PebeLNDuW8snA24t719ivNkdLiD4BcfH/edit?usp=sharing&amp;ouid=111221402645274011756&amp;rtpof=true&amp;sd=true" TargetMode="Externa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drive.google.com/file/d/1qP66J44QFdd-QP-DT1Ovtmw1FyqleW3d/view" TargetMode="External"/><Relationship Id="rId4" Type="http://schemas.openxmlformats.org/officeDocument/2006/relationships/hyperlink" Target="https://drive.google.com/file/d/1qP66J44QFdd-QP-DT1Ovtmw1FyqleW3d/view" TargetMode="External"/><Relationship Id="rId9" Type="http://schemas.openxmlformats.org/officeDocument/2006/relationships/hyperlink" Target="https://docs.google.com/document/d/1ryjHVjfqIGItxBT66IIurxUJFeDBBkJZ/edit?usp=drive_link&amp;ouid=111221402645274011756&amp;rtpof=true&amp;sd=true" TargetMode="External"/><Relationship Id="rId5" Type="http://schemas.openxmlformats.org/officeDocument/2006/relationships/hyperlink" Target="https://drive.google.com/file/d/1IMmbDRv9uR23iHfH-vWnP0iwd3yJZQMe/view?usp=drive_link" TargetMode="External"/><Relationship Id="rId6" Type="http://schemas.openxmlformats.org/officeDocument/2006/relationships/hyperlink" Target="https://drive.google.com/file/d/1IMmbDRv9uR23iHfH-vWnP0iwd3yJZQMe/view?usp=drive_link" TargetMode="External"/><Relationship Id="rId7" Type="http://schemas.openxmlformats.org/officeDocument/2006/relationships/hyperlink" Target="https://drive.google.com/drive/u/0/folders/1YrLn_jjVvbqFaD8Mh0vUZKJd8T3SxALg" TargetMode="External"/><Relationship Id="rId8" Type="http://schemas.openxmlformats.org/officeDocument/2006/relationships/hyperlink" Target="https://drive.google.com/drive/u/0/folders/1YrLn_jjVvbqFaD8Mh0vUZKJd8T3SxALg" TargetMode="External"/></Relationships>
</file>

<file path=ppt/slides/_rels/slide3.xml.rels><?xml version="1.0" encoding="UTF-8" standalone="yes"?><Relationships xmlns="http://schemas.openxmlformats.org/package/2006/relationships"><Relationship Id="rId20" Type="http://schemas.openxmlformats.org/officeDocument/2006/relationships/hyperlink" Target="https://drive.google.com/drive/u/0/folders/1gWG42nH9FeOYFH4XX2ZamMob89bnjPnJ" TargetMode="External"/><Relationship Id="rId22" Type="http://schemas.openxmlformats.org/officeDocument/2006/relationships/hyperlink" Target="https://nregaplus.nic.in/netnrega/writereaddata/Circulars/2469AMC_2022-23_Final_19April2023.pdf" TargetMode="External"/><Relationship Id="rId21" Type="http://schemas.openxmlformats.org/officeDocument/2006/relationships/hyperlink" Target="https://nregaplus.nic.in/netnrega/writereaddata/Circulars/2469AMC_2022-23_Final_19April2023.pdf" TargetMode="External"/><Relationship Id="rId24" Type="http://schemas.openxmlformats.org/officeDocument/2006/relationships/hyperlink" Target="https://drive.google.com/file/d/1f-zfx0QVNylma4WTTL6FK7-Ub2xk4Ppo/view?usp=drive_link" TargetMode="External"/><Relationship Id="rId23" Type="http://schemas.openxmlformats.org/officeDocument/2006/relationships/hyperlink" Target="https://drive.google.com/file/d/1f-zfx0QVNylma4WTTL6FK7-Ub2xk4Ppo/view?usp=drive_link" TargetMode="Externa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docs.google.com/spreadsheets/d/12sytH15UkZni43aQvD3J5waHubAG1w-4/edit?usp=sharing&amp;ouid=111221402645274011756&amp;rtpof=true&amp;sd=true" TargetMode="External"/><Relationship Id="rId4" Type="http://schemas.openxmlformats.org/officeDocument/2006/relationships/hyperlink" Target="https://docs.google.com/spreadsheets/d/12sytH15UkZni43aQvD3J5waHubAG1w-4/edit?usp=sharing&amp;ouid=111221402645274011756&amp;rtpof=true&amp;sd=true" TargetMode="External"/><Relationship Id="rId9" Type="http://schemas.openxmlformats.org/officeDocument/2006/relationships/hyperlink" Target="https://mksp.gov.in/images/Guidelines_PE_DAY_NRLM.pdf" TargetMode="External"/><Relationship Id="rId26" Type="http://schemas.openxmlformats.org/officeDocument/2006/relationships/hyperlink" Target="https://drive.google.com/file/d/1esi1D0TR36bn9BDp0RgYvDHJ1q5JiR7b/view?usp=drive_link" TargetMode="External"/><Relationship Id="rId25" Type="http://schemas.openxmlformats.org/officeDocument/2006/relationships/hyperlink" Target="https://drive.google.com/file/d/1esi1D0TR36bn9BDp0RgYvDHJ1q5JiR7b/view?usp=drive_link" TargetMode="External"/><Relationship Id="rId28" Type="http://schemas.openxmlformats.org/officeDocument/2006/relationships/hyperlink" Target="https://drive.google.com/file/d/1wbBCuqFr6MTcpG-nuYeqqn9rM2B_cpO5/view?usp=drive_link" TargetMode="External"/><Relationship Id="rId27" Type="http://schemas.openxmlformats.org/officeDocument/2006/relationships/hyperlink" Target="https://drive.google.com/file/d/1wbBCuqFr6MTcpG-nuYeqqn9rM2B_cpO5/view?usp=drive_link" TargetMode="External"/><Relationship Id="rId5" Type="http://schemas.openxmlformats.org/officeDocument/2006/relationships/hyperlink" Target="https://mksp.gov.in/images/Advisory_on_promotion_PG.pdf" TargetMode="External"/><Relationship Id="rId6" Type="http://schemas.openxmlformats.org/officeDocument/2006/relationships/hyperlink" Target="https://mksp.gov.in/images/Advisory_on_promotion_PG.pdf" TargetMode="External"/><Relationship Id="rId29" Type="http://schemas.openxmlformats.org/officeDocument/2006/relationships/hyperlink" Target="https://drive.google.com/file/d/1cbOk1A6nUNAS46Br3k14BPpb7NyDG5Qb/view?usp=drive_link" TargetMode="External"/><Relationship Id="rId7" Type="http://schemas.openxmlformats.org/officeDocument/2006/relationships/hyperlink" Target="https://dmi.gov.in/Documents/FPO_Scheme_Guidelines_FINAL_English.pdf" TargetMode="External"/><Relationship Id="rId8" Type="http://schemas.openxmlformats.org/officeDocument/2006/relationships/hyperlink" Target="https://dmi.gov.in/Documents/FPO_Scheme_Guidelines_FINAL_English.pdf" TargetMode="External"/><Relationship Id="rId30" Type="http://schemas.openxmlformats.org/officeDocument/2006/relationships/hyperlink" Target="https://drive.google.com/file/d/1cbOk1A6nUNAS46Br3k14BPpb7NyDG5Qb/view?usp=drive_link" TargetMode="External"/><Relationship Id="rId11" Type="http://schemas.openxmlformats.org/officeDocument/2006/relationships/hyperlink" Target="https://drive.google.com/drive/u/0/folders/1gWG42nH9FeOYFH4XX2ZamMob89bnjPnJ" TargetMode="External"/><Relationship Id="rId10" Type="http://schemas.openxmlformats.org/officeDocument/2006/relationships/hyperlink" Target="https://mksp.gov.in/images/Guidelines_PE_DAY_NRLM.pdf" TargetMode="External"/><Relationship Id="rId13" Type="http://schemas.openxmlformats.org/officeDocument/2006/relationships/hyperlink" Target="https://drive.google.com/drive/u/0/folders/1gWG42nH9FeOYFH4XX2ZamMob89bnjPnJ" TargetMode="External"/><Relationship Id="rId12" Type="http://schemas.openxmlformats.org/officeDocument/2006/relationships/hyperlink" Target="https://drive.google.com/drive/u/0/folders/1gWG42nH9FeOYFH4XX2ZamMob89bnjPnJ" TargetMode="External"/><Relationship Id="rId15" Type="http://schemas.openxmlformats.org/officeDocument/2006/relationships/hyperlink" Target="https://drive.google.com/drive/u/0/folders/1gWG42nH9FeOYFH4XX2ZamMob89bnjPnJ" TargetMode="External"/><Relationship Id="rId14" Type="http://schemas.openxmlformats.org/officeDocument/2006/relationships/hyperlink" Target="https://drive.google.com/drive/u/0/folders/1gWG42nH9FeOYFH4XX2ZamMob89bnjPnJ" TargetMode="External"/><Relationship Id="rId17" Type="http://schemas.openxmlformats.org/officeDocument/2006/relationships/hyperlink" Target="https://drive.google.com/drive/u/0/folders/1gWG42nH9FeOYFH4XX2ZamMob89bnjPnJ" TargetMode="External"/><Relationship Id="rId16" Type="http://schemas.openxmlformats.org/officeDocument/2006/relationships/hyperlink" Target="https://drive.google.com/drive/u/0/folders/1gWG42nH9FeOYFH4XX2ZamMob89bnjPnJ" TargetMode="External"/><Relationship Id="rId19" Type="http://schemas.openxmlformats.org/officeDocument/2006/relationships/hyperlink" Target="https://drive.google.com/drive/u/0/folders/1gWG42nH9FeOYFH4XX2ZamMob89bnjPnJ" TargetMode="External"/><Relationship Id="rId18" Type="http://schemas.openxmlformats.org/officeDocument/2006/relationships/hyperlink" Target="https://drive.google.com/drive/u/0/folders/1gWG42nH9FeOYFH4XX2ZamMob89bnjPnJ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drive.google.com/drive/folders/15aiBPM6V_DxoPaXMR-j0Tt8cZuPG88Xc" TargetMode="External"/><Relationship Id="rId4" Type="http://schemas.openxmlformats.org/officeDocument/2006/relationships/hyperlink" Target="https://drive.google.com/drive/folders/15aiBPM6V_DxoPaXMR-j0Tt8cZuPG88Xc" TargetMode="External"/><Relationship Id="rId9" Type="http://schemas.openxmlformats.org/officeDocument/2006/relationships/hyperlink" Target="https://drive.google.com/drive/folders/1wpCPD588g3a-chQq469bh0Hw65DHrEHv" TargetMode="External"/><Relationship Id="rId5" Type="http://schemas.openxmlformats.org/officeDocument/2006/relationships/hyperlink" Target="https://drive.google.com/drive/folders/1Q_O6hxigT_zztAcojLDMNJBF-2qen0IY" TargetMode="External"/><Relationship Id="rId6" Type="http://schemas.openxmlformats.org/officeDocument/2006/relationships/hyperlink" Target="https://drive.google.com/drive/folders/1Q_O6hxigT_zztAcojLDMNJBF-2qen0IY" TargetMode="External"/><Relationship Id="rId7" Type="http://schemas.openxmlformats.org/officeDocument/2006/relationships/hyperlink" Target="https://drive.google.com/drive/folders/1_BLgpYyQlbt0cHvmWeBuRHkLM2HR_IYn" TargetMode="External"/><Relationship Id="rId8" Type="http://schemas.openxmlformats.org/officeDocument/2006/relationships/hyperlink" Target="https://drive.google.com/drive/folders/1_BLgpYyQlbt0cHvmWeBuRHkLM2HR_IYn" TargetMode="External"/><Relationship Id="rId11" Type="http://schemas.openxmlformats.org/officeDocument/2006/relationships/hyperlink" Target="https://drive.google.com/drive/folders/1VyJfrgHh6lYOJm0LQz4EHRPFD1uHSJxH" TargetMode="External"/><Relationship Id="rId10" Type="http://schemas.openxmlformats.org/officeDocument/2006/relationships/hyperlink" Target="https://drive.google.com/drive/folders/1wpCPD588g3a-chQq469bh0Hw65DHrEHv" TargetMode="External"/><Relationship Id="rId13" Type="http://schemas.openxmlformats.org/officeDocument/2006/relationships/hyperlink" Target="https://drive.google.com/drive/folders/1HgNyApT6PWeE41Kl66W0eTzRe1LdPZ_U" TargetMode="External"/><Relationship Id="rId12" Type="http://schemas.openxmlformats.org/officeDocument/2006/relationships/hyperlink" Target="https://drive.google.com/drive/folders/1VyJfrgHh6lYOJm0LQz4EHRPFD1uHSJxH" TargetMode="External"/><Relationship Id="rId15" Type="http://schemas.openxmlformats.org/officeDocument/2006/relationships/hyperlink" Target="https://drive.google.com/drive/folders/19Xc_cjpo1m6sjdwRK-F4fCLlp9YjWJtm" TargetMode="External"/><Relationship Id="rId14" Type="http://schemas.openxmlformats.org/officeDocument/2006/relationships/hyperlink" Target="https://drive.google.com/drive/folders/1HgNyApT6PWeE41Kl66W0eTzRe1LdPZ_U" TargetMode="External"/><Relationship Id="rId17" Type="http://schemas.openxmlformats.org/officeDocument/2006/relationships/hyperlink" Target="https://drive.google.com/drive/folders/1s5sKBUQOPV5PYuncC6tU9mt7LU2Rput_" TargetMode="External"/><Relationship Id="rId16" Type="http://schemas.openxmlformats.org/officeDocument/2006/relationships/hyperlink" Target="https://drive.google.com/drive/folders/1oAAc3GnIbOHvTS_d4YSAdDNjEuuJnG4l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drive.google.com/file/d/1ggi0fiVCYARZhMA033748a7io5yhMtzZ/view?usp=sharing" TargetMode="External"/><Relationship Id="rId4" Type="http://schemas.openxmlformats.org/officeDocument/2006/relationships/hyperlink" Target="https://drive.google.com/file/d/1ggi0fiVCYARZhMA033748a7io5yhMtzZ/view?usp=sharing" TargetMode="External"/><Relationship Id="rId9" Type="http://schemas.openxmlformats.org/officeDocument/2006/relationships/hyperlink" Target="https://drive.google.com/drive/u/0/folders/1dzDmOMjNwsA0uY1g_9_cYge7t5-dC_sN" TargetMode="External"/><Relationship Id="rId5" Type="http://schemas.openxmlformats.org/officeDocument/2006/relationships/hyperlink" Target="https://docs.google.com/presentation/d/1nKaciezX_FpqdNd63n_Xmaod99Aj8fTW/edit?usp=drive_link&amp;ouid=111221402645274011756&amp;rtpof=true&amp;sd=true" TargetMode="External"/><Relationship Id="rId6" Type="http://schemas.openxmlformats.org/officeDocument/2006/relationships/hyperlink" Target="https://docs.google.com/presentation/d/1nKaciezX_FpqdNd63n_Xmaod99Aj8fTW/edit?usp=drive_link&amp;ouid=111221402645274011756&amp;rtpof=true&amp;sd=true" TargetMode="External"/><Relationship Id="rId7" Type="http://schemas.openxmlformats.org/officeDocument/2006/relationships/hyperlink" Target="https://docs.google.com/presentation/d/1eedExUZ1P2Jl4hFXMMo7-YsLDGEvdIHl/edit?usp=drive_link&amp;ouid=111221402645274011756&amp;rtpof=true&amp;sd=true" TargetMode="External"/><Relationship Id="rId8" Type="http://schemas.openxmlformats.org/officeDocument/2006/relationships/hyperlink" Target="https://docs.google.com/presentation/d/1eedExUZ1P2Jl4hFXMMo7-YsLDGEvdIHl/edit?usp=drive_link&amp;ouid=111221402645274011756&amp;rtpof=true&amp;sd=true" TargetMode="External"/><Relationship Id="rId11" Type="http://schemas.openxmlformats.org/officeDocument/2006/relationships/hyperlink" Target="https://drive.google.com/file/d/1fMYiYopr_GBxEBHNzVMKLddWC9Z1yFd1/view?usp=drive_link" TargetMode="External"/><Relationship Id="rId10" Type="http://schemas.openxmlformats.org/officeDocument/2006/relationships/hyperlink" Target="https://drive.google.com/file/d/1fMYiYopr_GBxEBHNzVMKLddWC9Z1yFd1/view?usp=drive_link" TargetMode="External"/><Relationship Id="rId13" Type="http://schemas.openxmlformats.org/officeDocument/2006/relationships/hyperlink" Target="https://drive.google.com/drive/folders/1dzDmOMjNwsA0uY1g_9_cYge7t5-dC_sN?usp=drive_link" TargetMode="External"/><Relationship Id="rId12" Type="http://schemas.openxmlformats.org/officeDocument/2006/relationships/hyperlink" Target="https://drive.google.com/drive/folders/1dzDmOMjNwsA0uY1g_9_cYge7t5-dC_sN?usp=drive_link" TargetMode="External"/><Relationship Id="rId15" Type="http://schemas.openxmlformats.org/officeDocument/2006/relationships/hyperlink" Target="https://drive.google.com/drive/folders/1MOKXptl8Qs8a2fwQ999-fjZl-JpVwoLy?usp=drive_link" TargetMode="External"/><Relationship Id="rId14" Type="http://schemas.openxmlformats.org/officeDocument/2006/relationships/hyperlink" Target="https://drive.google.com/drive/folders/1jaq6jRtffdULmX7xVwbm6G59RbEUI4kK?usp=drive_link" TargetMode="External"/><Relationship Id="rId17" Type="http://schemas.openxmlformats.org/officeDocument/2006/relationships/hyperlink" Target="https://drive.google.com/drive/folders/1mt5-5hq_2LPUKKmh7cks4NKBYPyq003S?usp=sharing" TargetMode="External"/><Relationship Id="rId16" Type="http://schemas.openxmlformats.org/officeDocument/2006/relationships/hyperlink" Target="https://drive.google.com/drive/folders/1mt5-5hq_2LPUKKmh7cks4NKBYPyq003S?usp=sharing" TargetMode="External"/><Relationship Id="rId19" Type="http://schemas.openxmlformats.org/officeDocument/2006/relationships/hyperlink" Target="https://aps.dac.gov.in/APY/Public_Report1.aspx" TargetMode="External"/><Relationship Id="rId18" Type="http://schemas.openxmlformats.org/officeDocument/2006/relationships/hyperlink" Target="https://aps.dac.gov.in/APY/Public_Report1.aspx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"/>
          <p:cNvSpPr txBox="1"/>
          <p:nvPr>
            <p:ph type="ctrTitle"/>
          </p:nvPr>
        </p:nvSpPr>
        <p:spPr>
          <a:xfrm>
            <a:off x="318975" y="1299588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Resource Materials</a:t>
            </a:r>
            <a:endParaRPr b="1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73" name="Google Shape;73;p1"/>
          <p:cNvSpPr txBox="1"/>
          <p:nvPr>
            <p:ph idx="1" type="subTitle"/>
          </p:nvPr>
        </p:nvSpPr>
        <p:spPr>
          <a:xfrm>
            <a:off x="318975" y="35809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n-IN" sz="3600">
                <a:latin typeface="Cambria"/>
                <a:ea typeface="Cambria"/>
                <a:cs typeface="Cambria"/>
                <a:sym typeface="Cambria"/>
              </a:rPr>
              <a:t>For Lakhpati Initiative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74" name="Google Shape;7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54975" y="426475"/>
            <a:ext cx="2582525" cy="593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2aa4464a26b_0_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Click on the Link to View</a:t>
            </a:r>
            <a:endParaRPr/>
          </a:p>
        </p:txBody>
      </p:sp>
      <p:sp>
        <p:nvSpPr>
          <p:cNvPr id="80" name="Google Shape;80;g2aa4464a26b_0_0"/>
          <p:cNvSpPr txBox="1"/>
          <p:nvPr>
            <p:ph idx="1" type="body"/>
          </p:nvPr>
        </p:nvSpPr>
        <p:spPr>
          <a:xfrm>
            <a:off x="838200" y="1825625"/>
            <a:ext cx="10515600" cy="5032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Ø</a:t>
            </a:r>
            <a:r>
              <a:rPr lang="en-IN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IN" sz="2300">
                <a:solidFill>
                  <a:srgbClr val="000000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i="1" lang="en-IN" sz="27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Strategy Document for Lakhpati didis</a:t>
            </a:r>
            <a:r>
              <a:rPr i="1" lang="en-IN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N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released on 6</a:t>
            </a:r>
            <a:r>
              <a:rPr baseline="30000" lang="en-IN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</a:t>
            </a:r>
            <a:r>
              <a:rPr lang="en-IN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September,2023</a:t>
            </a:r>
            <a:endParaRPr sz="2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Ø</a:t>
            </a:r>
            <a:r>
              <a:rPr lang="en-IN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IN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Advisory on</a:t>
            </a:r>
            <a:r>
              <a:rPr lang="en-IN" sz="2700">
                <a:solidFill>
                  <a:srgbClr val="000000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1" i="1" lang="en-IN" sz="2600" u="sng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Criteria for identification of Potential Lakhpati Didi</a:t>
            </a:r>
            <a:endParaRPr b="1" i="1" sz="2600" u="sng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Ø</a:t>
            </a:r>
            <a:r>
              <a:rPr lang="en-IN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IN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Advisory for</a:t>
            </a:r>
            <a:r>
              <a:rPr lang="en-IN" sz="2700">
                <a:solidFill>
                  <a:srgbClr val="000000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IN" sz="27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8"/>
              </a:rPr>
              <a:t>identification of Master trainers, CRPs and their training</a:t>
            </a:r>
            <a:endParaRPr sz="2700"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Ø</a:t>
            </a:r>
            <a:r>
              <a:rPr lang="en-IN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IN" sz="2300">
                <a:solidFill>
                  <a:srgbClr val="000000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IN" sz="27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0"/>
              </a:rPr>
              <a:t>Training Session Plan and content</a:t>
            </a:r>
            <a:r>
              <a:rPr lang="en-IN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for Resource Persons</a:t>
            </a:r>
            <a:endParaRPr sz="2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Ø</a:t>
            </a:r>
            <a:r>
              <a:rPr lang="en-IN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IN" sz="2300">
                <a:solidFill>
                  <a:srgbClr val="000000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IN" sz="27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2"/>
              </a:rPr>
              <a:t>Training Session Plan and content</a:t>
            </a:r>
            <a:r>
              <a:rPr lang="en-IN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for Master Trainers</a:t>
            </a:r>
            <a:endParaRPr sz="2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Ø</a:t>
            </a:r>
            <a:r>
              <a:rPr lang="en-IN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IN" sz="27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3"/>
              </a:rPr>
              <a:t>Training Session Plan and content:</a:t>
            </a:r>
            <a:r>
              <a:rPr lang="en-IN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Community Resource Persons</a:t>
            </a:r>
            <a:endParaRPr sz="2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aa4464a26b_0_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Click on the Link to View</a:t>
            </a:r>
            <a:endParaRPr/>
          </a:p>
        </p:txBody>
      </p:sp>
      <p:sp>
        <p:nvSpPr>
          <p:cNvPr id="86" name="Google Shape;86;g2aa4464a26b_0_6"/>
          <p:cNvSpPr txBox="1"/>
          <p:nvPr>
            <p:ph idx="1" type="body"/>
          </p:nvPr>
        </p:nvSpPr>
        <p:spPr>
          <a:xfrm>
            <a:off x="838200" y="1406100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Ø</a:t>
            </a:r>
            <a:r>
              <a:rPr lang="en-IN" sz="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IN" sz="900">
                <a:solidFill>
                  <a:srgbClr val="000000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IN" sz="13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Lakhpati Didi Planning tool</a:t>
            </a:r>
            <a:endParaRPr sz="1300"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Ø</a:t>
            </a:r>
            <a:r>
              <a:rPr lang="en-IN" sz="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IN" sz="900">
                <a:solidFill>
                  <a:srgbClr val="000000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IN" sz="13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6"/>
              </a:rPr>
              <a:t>Advisory on promotion of Producer Groups</a:t>
            </a:r>
            <a:endParaRPr sz="1300"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Ø</a:t>
            </a:r>
            <a:r>
              <a:rPr lang="en-IN" sz="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IN" sz="900">
                <a:solidFill>
                  <a:srgbClr val="000000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IN" sz="13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8"/>
              </a:rPr>
              <a:t>Operational guideline on 10KFPO scheme</a:t>
            </a:r>
            <a:endParaRPr sz="1300"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9144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Ø</a:t>
            </a:r>
            <a:r>
              <a:rPr lang="en-IN" sz="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IN" sz="900">
                <a:solidFill>
                  <a:srgbClr val="000000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IN" sz="13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0"/>
              </a:rPr>
              <a:t>Operational guideline for promotion of PEs</a:t>
            </a:r>
            <a:endParaRPr sz="1300"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Ø</a:t>
            </a:r>
            <a:r>
              <a:rPr lang="en-IN" sz="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IN" sz="900">
                <a:solidFill>
                  <a:srgbClr val="000000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IN" sz="13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2"/>
              </a:rPr>
              <a:t>Master Circular on SVEP</a:t>
            </a:r>
            <a:endParaRPr sz="1300"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Ø</a:t>
            </a:r>
            <a:r>
              <a:rPr lang="en-IN" sz="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IN" sz="900">
                <a:solidFill>
                  <a:srgbClr val="000000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1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IN" sz="13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4"/>
              </a:rPr>
              <a:t>Guideline on OSF</a:t>
            </a:r>
            <a:endParaRPr sz="1300"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Ø</a:t>
            </a:r>
            <a:r>
              <a:rPr lang="en-IN" sz="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IN" sz="900">
                <a:solidFill>
                  <a:srgbClr val="000000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1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IN" sz="13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6"/>
              </a:rPr>
              <a:t>Guideline on MED</a:t>
            </a:r>
            <a:endParaRPr sz="1300"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9144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Ø</a:t>
            </a:r>
            <a:r>
              <a:rPr lang="en-IN" sz="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IN" sz="900">
                <a:solidFill>
                  <a:srgbClr val="000000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1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IN" sz="13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8"/>
              </a:rPr>
              <a:t>Guideline on promoting sectoral clusters </a:t>
            </a:r>
            <a:r>
              <a:rPr lang="en-IN" sz="13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9144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Ø</a:t>
            </a:r>
            <a:r>
              <a:rPr lang="en-IN" sz="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IN" sz="900">
                <a:solidFill>
                  <a:srgbClr val="000000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1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IN" sz="13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0"/>
              </a:rPr>
              <a:t>Guidelines for supporting growth oriented enterprises through incubators</a:t>
            </a:r>
            <a:endParaRPr sz="1300"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Ø</a:t>
            </a:r>
            <a:r>
              <a:rPr lang="en-IN" sz="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I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MGNREGS</a:t>
            </a:r>
            <a:r>
              <a:rPr lang="en-IN" sz="1300">
                <a:solidFill>
                  <a:srgbClr val="000000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2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IN" sz="13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2"/>
              </a:rPr>
              <a:t>Annual master Circular 2022-23.</a:t>
            </a:r>
            <a:endParaRPr sz="1300"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Ø</a:t>
            </a:r>
            <a:r>
              <a:rPr lang="en-IN" sz="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IN" sz="900">
                <a:solidFill>
                  <a:srgbClr val="000000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2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IN" sz="13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4"/>
              </a:rPr>
              <a:t>Joint advisory of Ministry of Rural Development and Ministry of Agriculture and Farmers Welfare</a:t>
            </a:r>
            <a:endParaRPr sz="1300"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Ø</a:t>
            </a:r>
            <a:r>
              <a:rPr lang="en-IN" sz="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I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Intervention note:</a:t>
            </a:r>
            <a:r>
              <a:rPr lang="en-IN" sz="1300">
                <a:solidFill>
                  <a:srgbClr val="000000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2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IN" sz="13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6"/>
              </a:rPr>
              <a:t>A-HELP Programme</a:t>
            </a:r>
            <a:endParaRPr sz="1300"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Ø</a:t>
            </a:r>
            <a:r>
              <a:rPr lang="en-IN" sz="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I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Advisory on PM Matsya Sampada Yojana:</a:t>
            </a:r>
            <a:r>
              <a:rPr lang="en-IN" sz="1300">
                <a:solidFill>
                  <a:srgbClr val="000000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2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IN" sz="13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8"/>
              </a:rPr>
              <a:t>Advisory</a:t>
            </a:r>
            <a:endParaRPr sz="1300"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Ø</a:t>
            </a:r>
            <a:r>
              <a:rPr lang="en-IN" sz="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I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Advisory on</a:t>
            </a:r>
            <a:r>
              <a:rPr lang="en-IN" sz="1300">
                <a:solidFill>
                  <a:srgbClr val="000000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2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1" lang="en-IN" sz="13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0"/>
              </a:rPr>
              <a:t>Aajeevika Register</a:t>
            </a:r>
            <a:endParaRPr b="1" sz="1300"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aa4464a26b_0_1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Click on the Link to View</a:t>
            </a:r>
            <a:endParaRPr/>
          </a:p>
        </p:txBody>
      </p:sp>
      <p:graphicFrame>
        <p:nvGraphicFramePr>
          <p:cNvPr id="92" name="Google Shape;92;g2aa4464a26b_0_12"/>
          <p:cNvGraphicFramePr/>
          <p:nvPr/>
        </p:nvGraphicFramePr>
        <p:xfrm>
          <a:off x="699575" y="1492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{6F4162C9-CE23-43A1-A03F-D6BBBD7272D0}</a:tableStyleId>
              </a:tblPr>
              <a:tblGrid>
                <a:gridCol w="752475"/>
                <a:gridCol w="4333875"/>
              </a:tblGrid>
              <a:tr h="298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-IN" sz="1600"/>
                        <a:t>Sl. No</a:t>
                      </a:r>
                      <a:endParaRPr b="1" sz="1600"/>
                    </a:p>
                  </a:txBody>
                  <a:tcPr marT="91425" marB="91425" marR="68575" marL="6857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-IN" sz="1600"/>
                        <a:t>Name of the theme</a:t>
                      </a:r>
                      <a:endParaRPr b="1" sz="1600"/>
                    </a:p>
                  </a:txBody>
                  <a:tcPr marT="91425" marB="91425" marR="68575" marL="68575"/>
                </a:tc>
              </a:tr>
              <a:tr h="244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900"/>
                        <a:t>1</a:t>
                      </a:r>
                      <a:endParaRPr sz="1900"/>
                    </a:p>
                  </a:txBody>
                  <a:tcPr marT="91425" marB="91425" marR="68575" marL="6857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Farm:</a:t>
                      </a:r>
                      <a:r>
                        <a:rPr lang="en-IN" sz="1600">
                          <a:uFill>
                            <a:noFill/>
                          </a:uFill>
                          <a:hlinkClick r:id="rId3"/>
                        </a:rPr>
                        <a:t> </a:t>
                      </a:r>
                      <a:r>
                        <a:rPr lang="en-IN" sz="1600" u="sng">
                          <a:solidFill>
                            <a:schemeClr val="hlink"/>
                          </a:solidFill>
                          <a:hlinkClick r:id="rId4"/>
                        </a:rPr>
                        <a:t>Agriculture</a:t>
                      </a:r>
                      <a:endParaRPr sz="1600" u="sng">
                        <a:solidFill>
                          <a:schemeClr val="hlink"/>
                        </a:solidFill>
                      </a:endParaRPr>
                    </a:p>
                  </a:txBody>
                  <a:tcPr marT="91425" marB="91425" marR="68575" marL="68575"/>
                </a:tc>
              </a:tr>
              <a:tr h="244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900"/>
                        <a:t>2</a:t>
                      </a:r>
                      <a:endParaRPr sz="1900"/>
                    </a:p>
                  </a:txBody>
                  <a:tcPr marT="91425" marB="91425" marR="68575" marL="6857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Farm:</a:t>
                      </a:r>
                      <a:r>
                        <a:rPr lang="en-IN" sz="1600">
                          <a:uFill>
                            <a:noFill/>
                          </a:uFill>
                          <a:hlinkClick r:id="rId5"/>
                        </a:rPr>
                        <a:t> </a:t>
                      </a:r>
                      <a:r>
                        <a:rPr lang="en-IN" sz="1600" u="sng">
                          <a:solidFill>
                            <a:schemeClr val="hlink"/>
                          </a:solidFill>
                          <a:hlinkClick r:id="rId6"/>
                        </a:rPr>
                        <a:t>Livestock</a:t>
                      </a:r>
                      <a:endParaRPr sz="1600" u="sng">
                        <a:solidFill>
                          <a:schemeClr val="hlink"/>
                        </a:solidFill>
                      </a:endParaRPr>
                    </a:p>
                  </a:txBody>
                  <a:tcPr marT="91425" marB="91425" marR="68575" marL="68575"/>
                </a:tc>
              </a:tr>
              <a:tr h="244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900"/>
                        <a:t>3</a:t>
                      </a:r>
                      <a:endParaRPr sz="1900"/>
                    </a:p>
                  </a:txBody>
                  <a:tcPr marT="91425" marB="91425" marR="68575" marL="6857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Farm:</a:t>
                      </a:r>
                      <a:r>
                        <a:rPr lang="en-IN" sz="1600">
                          <a:uFill>
                            <a:noFill/>
                          </a:uFill>
                          <a:hlinkClick r:id="rId7"/>
                        </a:rPr>
                        <a:t> </a:t>
                      </a:r>
                      <a:r>
                        <a:rPr lang="en-IN" sz="1600" u="sng">
                          <a:solidFill>
                            <a:schemeClr val="hlink"/>
                          </a:solidFill>
                          <a:hlinkClick r:id="rId8"/>
                        </a:rPr>
                        <a:t>NTFP</a:t>
                      </a:r>
                      <a:endParaRPr sz="1600" u="sng">
                        <a:solidFill>
                          <a:schemeClr val="hlink"/>
                        </a:solidFill>
                      </a:endParaRPr>
                    </a:p>
                  </a:txBody>
                  <a:tcPr marT="91425" marB="91425" marR="68575" marL="68575"/>
                </a:tc>
              </a:tr>
              <a:tr h="244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900"/>
                        <a:t>4</a:t>
                      </a:r>
                      <a:endParaRPr sz="1900"/>
                    </a:p>
                  </a:txBody>
                  <a:tcPr marT="91425" marB="91425" marR="68575" marL="6857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Non-Farm:</a:t>
                      </a:r>
                      <a:r>
                        <a:rPr lang="en-IN" sz="1600">
                          <a:uFill>
                            <a:noFill/>
                          </a:uFill>
                          <a:hlinkClick r:id="rId9"/>
                        </a:rPr>
                        <a:t> </a:t>
                      </a:r>
                      <a:r>
                        <a:rPr lang="en-IN" sz="1600" u="sng">
                          <a:solidFill>
                            <a:schemeClr val="hlink"/>
                          </a:solidFill>
                          <a:hlinkClick r:id="rId10"/>
                        </a:rPr>
                        <a:t>Manufacturing</a:t>
                      </a:r>
                      <a:endParaRPr sz="1600" u="sng">
                        <a:solidFill>
                          <a:schemeClr val="hlink"/>
                        </a:solidFill>
                      </a:endParaRPr>
                    </a:p>
                  </a:txBody>
                  <a:tcPr marT="91425" marB="91425" marR="68575" marL="68575"/>
                </a:tc>
              </a:tr>
              <a:tr h="244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900"/>
                        <a:t>5</a:t>
                      </a:r>
                      <a:endParaRPr sz="1900"/>
                    </a:p>
                  </a:txBody>
                  <a:tcPr marT="91425" marB="91425" marR="68575" marL="6857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Non-Farm:</a:t>
                      </a:r>
                      <a:r>
                        <a:rPr lang="en-IN" sz="1600">
                          <a:uFill>
                            <a:noFill/>
                          </a:uFill>
                          <a:hlinkClick r:id="rId11"/>
                        </a:rPr>
                        <a:t> </a:t>
                      </a:r>
                      <a:r>
                        <a:rPr lang="en-IN" sz="1600" u="sng">
                          <a:solidFill>
                            <a:schemeClr val="hlink"/>
                          </a:solidFill>
                          <a:hlinkClick r:id="rId12"/>
                        </a:rPr>
                        <a:t>Trading</a:t>
                      </a:r>
                      <a:endParaRPr sz="1600" u="sng">
                        <a:solidFill>
                          <a:schemeClr val="hlink"/>
                        </a:solidFill>
                      </a:endParaRPr>
                    </a:p>
                  </a:txBody>
                  <a:tcPr marT="91425" marB="91425" marR="68575" marL="68575"/>
                </a:tc>
              </a:tr>
              <a:tr h="244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900"/>
                        <a:t>6</a:t>
                      </a:r>
                      <a:endParaRPr sz="1900"/>
                    </a:p>
                  </a:txBody>
                  <a:tcPr marT="91425" marB="91425" marR="68575" marL="6857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Non-Farm:</a:t>
                      </a:r>
                      <a:r>
                        <a:rPr lang="en-IN" sz="1600">
                          <a:uFill>
                            <a:noFill/>
                          </a:uFill>
                          <a:hlinkClick r:id="rId13"/>
                        </a:rPr>
                        <a:t> </a:t>
                      </a:r>
                      <a:r>
                        <a:rPr lang="en-IN" sz="1600" u="sng">
                          <a:solidFill>
                            <a:schemeClr val="hlink"/>
                          </a:solidFill>
                          <a:hlinkClick r:id="rId14"/>
                        </a:rPr>
                        <a:t>Transportation</a:t>
                      </a:r>
                      <a:endParaRPr sz="1600" u="sng">
                        <a:solidFill>
                          <a:schemeClr val="hlink"/>
                        </a:solidFill>
                      </a:endParaRPr>
                    </a:p>
                  </a:txBody>
                  <a:tcPr marT="91425" marB="91425" marR="68575" marL="68575"/>
                </a:tc>
              </a:tr>
              <a:tr h="244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900"/>
                        <a:t>7</a:t>
                      </a:r>
                      <a:endParaRPr sz="1900"/>
                    </a:p>
                  </a:txBody>
                  <a:tcPr marT="91425" marB="91425" marR="68575" marL="6857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sng">
                          <a:solidFill>
                            <a:schemeClr val="hlink"/>
                          </a:solidFill>
                          <a:hlinkClick r:id="rId15"/>
                        </a:rPr>
                        <a:t>Community Resource persons</a:t>
                      </a:r>
                      <a:endParaRPr sz="1600" u="sng">
                        <a:solidFill>
                          <a:schemeClr val="hlink"/>
                        </a:solidFill>
                      </a:endParaRPr>
                    </a:p>
                  </a:txBody>
                  <a:tcPr marT="91425" marB="91425" marR="68575" marL="68575"/>
                </a:tc>
              </a:tr>
              <a:tr h="244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900"/>
                        <a:t>8</a:t>
                      </a:r>
                      <a:endParaRPr sz="1900"/>
                    </a:p>
                  </a:txBody>
                  <a:tcPr marT="91425" marB="91425" marR="68575" marL="6857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sng">
                          <a:solidFill>
                            <a:schemeClr val="hlink"/>
                          </a:solidFill>
                          <a:hlinkClick r:id="rId16"/>
                        </a:rPr>
                        <a:t>Social Empowerment</a:t>
                      </a:r>
                      <a:endParaRPr sz="1600" u="sng">
                        <a:solidFill>
                          <a:schemeClr val="hlink"/>
                        </a:solidFill>
                      </a:endParaRPr>
                    </a:p>
                  </a:txBody>
                  <a:tcPr marT="91425" marB="91425" marR="68575" marL="68575"/>
                </a:tc>
              </a:tr>
              <a:tr h="244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900"/>
                        <a:t>9</a:t>
                      </a:r>
                      <a:endParaRPr sz="1900"/>
                    </a:p>
                  </a:txBody>
                  <a:tcPr marT="91425" marB="91425" marR="68575" marL="6857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sng">
                          <a:solidFill>
                            <a:schemeClr val="hlink"/>
                          </a:solidFill>
                          <a:hlinkClick r:id="rId17"/>
                        </a:rPr>
                        <a:t>Financial Empowerment</a:t>
                      </a:r>
                      <a:endParaRPr sz="1600" u="sng">
                        <a:solidFill>
                          <a:schemeClr val="hlink"/>
                        </a:solidFill>
                      </a:endParaRPr>
                    </a:p>
                  </a:txBody>
                  <a:tcPr marT="91425" marB="91425" marR="68575" marL="68575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aa4464a26b_0_2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Click on the Link to View</a:t>
            </a:r>
            <a:endParaRPr/>
          </a:p>
        </p:txBody>
      </p:sp>
      <p:sp>
        <p:nvSpPr>
          <p:cNvPr id="98" name="Google Shape;98;g2aa4464a26b_0_21"/>
          <p:cNvSpPr txBox="1"/>
          <p:nvPr/>
        </p:nvSpPr>
        <p:spPr>
          <a:xfrm>
            <a:off x="273600" y="1513900"/>
            <a:ext cx="11472600" cy="51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28600" lvl="0" marL="9017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2000"/>
              <a:t>Ø</a:t>
            </a:r>
            <a:r>
              <a:rPr lang="en-IN" sz="16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IN" sz="1600"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 </a:t>
            </a:r>
            <a:r>
              <a:rPr lang="en-IN" sz="2000" u="sng">
                <a:solidFill>
                  <a:schemeClr val="hlink"/>
                </a:solidFill>
                <a:hlinkClick r:id="rId4"/>
              </a:rPr>
              <a:t>Business Planning-</a:t>
            </a:r>
            <a:r>
              <a:rPr lang="en-IN" sz="2000"/>
              <a:t> Key Concepts and Template from the resource materials developed for FPOs.</a:t>
            </a:r>
            <a:endParaRPr sz="2000"/>
          </a:p>
          <a:p>
            <a:pPr indent="-228600" lvl="0" marL="9017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2000"/>
              <a:t>Ø</a:t>
            </a:r>
            <a:r>
              <a:rPr lang="en-IN" sz="1600"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IN" sz="2000"/>
              <a:t>Presentation on</a:t>
            </a:r>
            <a:r>
              <a:rPr lang="en-IN" sz="2000">
                <a:uFill>
                  <a:noFill/>
                </a:uFill>
                <a:hlinkClick r:id="rId5"/>
              </a:rPr>
              <a:t> </a:t>
            </a:r>
            <a:r>
              <a:rPr lang="en-IN" sz="2000" u="sng">
                <a:solidFill>
                  <a:schemeClr val="hlink"/>
                </a:solidFill>
                <a:hlinkClick r:id="rId6"/>
              </a:rPr>
              <a:t>Basics of Business Planning</a:t>
            </a:r>
            <a:r>
              <a:rPr lang="en-IN" sz="2000"/>
              <a:t>.</a:t>
            </a:r>
            <a:endParaRPr sz="2000"/>
          </a:p>
          <a:p>
            <a:pPr indent="-228600" lvl="0" marL="9017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2000"/>
              <a:t>Ø</a:t>
            </a:r>
            <a:r>
              <a:rPr lang="en-IN" sz="1600"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IN" sz="2000"/>
              <a:t>Presentation on</a:t>
            </a:r>
            <a:r>
              <a:rPr lang="en-IN" sz="2000">
                <a:uFill>
                  <a:noFill/>
                </a:uFill>
                <a:hlinkClick r:id="rId7"/>
              </a:rPr>
              <a:t> </a:t>
            </a:r>
            <a:r>
              <a:rPr lang="en-IN" sz="2000" u="sng">
                <a:solidFill>
                  <a:schemeClr val="hlink"/>
                </a:solidFill>
                <a:hlinkClick r:id="rId8"/>
              </a:rPr>
              <a:t>Digital Marketing</a:t>
            </a:r>
            <a:endParaRPr sz="2000" u="sng">
              <a:solidFill>
                <a:schemeClr val="hlink"/>
              </a:solidFill>
            </a:endParaRPr>
          </a:p>
          <a:p>
            <a:pPr indent="-228600" lvl="0" marL="9017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2000"/>
              <a:t>Ø</a:t>
            </a:r>
            <a:r>
              <a:rPr lang="en-IN" sz="1600"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IN" sz="2000"/>
              <a:t>Movie Repository on Basics of Business Management (</a:t>
            </a:r>
            <a:r>
              <a:rPr lang="en-IN" sz="2000" u="sng">
                <a:solidFill>
                  <a:schemeClr val="hlink"/>
                </a:solidFill>
                <a:hlinkClick r:id="rId9"/>
              </a:rPr>
              <a:t>English</a:t>
            </a:r>
            <a:r>
              <a:rPr lang="en-IN" sz="2000"/>
              <a:t>,</a:t>
            </a:r>
            <a:r>
              <a:rPr lang="en-IN" sz="2000">
                <a:uFill>
                  <a:noFill/>
                </a:uFill>
                <a:hlinkClick r:id="rId10"/>
              </a:rPr>
              <a:t> </a:t>
            </a:r>
            <a:r>
              <a:rPr lang="en-IN" sz="2000" u="sng">
                <a:solidFill>
                  <a:schemeClr val="hlink"/>
                </a:solidFill>
                <a:hlinkClick r:id="rId11"/>
              </a:rPr>
              <a:t>Hindi</a:t>
            </a:r>
            <a:r>
              <a:rPr lang="en-IN" sz="2000"/>
              <a:t>) developed by Kudumbshree.</a:t>
            </a:r>
            <a:endParaRPr sz="2000"/>
          </a:p>
          <a:p>
            <a:pPr indent="-228600" lvl="0" marL="9017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2000"/>
              <a:t>Ø</a:t>
            </a:r>
            <a:r>
              <a:rPr lang="en-IN" sz="1600"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IN" sz="2000"/>
              <a:t>Foundational Modules-</a:t>
            </a:r>
            <a:r>
              <a:rPr lang="en-IN" sz="2000">
                <a:uFill>
                  <a:noFill/>
                </a:uFill>
                <a:hlinkClick r:id="rId12"/>
              </a:rPr>
              <a:t> </a:t>
            </a:r>
            <a:r>
              <a:rPr lang="en-IN" sz="2000" u="sng">
                <a:solidFill>
                  <a:schemeClr val="hlink"/>
                </a:solidFill>
                <a:hlinkClick r:id="rId13"/>
              </a:rPr>
              <a:t>Business management</a:t>
            </a:r>
            <a:endParaRPr sz="2000" u="sng">
              <a:solidFill>
                <a:schemeClr val="hlink"/>
              </a:solidFill>
            </a:endParaRPr>
          </a:p>
          <a:p>
            <a:pPr indent="-228600" lvl="0" marL="9017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2000"/>
              <a:t>Ø</a:t>
            </a:r>
            <a:r>
              <a:rPr lang="en-IN" sz="1600"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IN" sz="2000"/>
              <a:t>Livelihood Models: (</a:t>
            </a:r>
            <a:r>
              <a:rPr lang="en-IN" sz="2000" u="sng">
                <a:solidFill>
                  <a:schemeClr val="hlink"/>
                </a:solidFill>
                <a:hlinkClick r:id="rId14"/>
              </a:rPr>
              <a:t>Farm</a:t>
            </a:r>
            <a:r>
              <a:rPr lang="en-IN" sz="2000"/>
              <a:t>)  (</a:t>
            </a:r>
            <a:r>
              <a:rPr lang="en-IN" sz="2000" u="sng">
                <a:solidFill>
                  <a:schemeClr val="hlink"/>
                </a:solidFill>
                <a:hlinkClick r:id="rId15"/>
              </a:rPr>
              <a:t>Non farm</a:t>
            </a:r>
            <a:r>
              <a:rPr lang="en-IN" sz="2000"/>
              <a:t>)</a:t>
            </a:r>
            <a:endParaRPr sz="2000" u="sng">
              <a:solidFill>
                <a:schemeClr val="hlink"/>
              </a:solidFill>
            </a:endParaRPr>
          </a:p>
          <a:p>
            <a:pPr indent="-228600" lvl="0" marL="9017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2000"/>
              <a:t>Ø</a:t>
            </a:r>
            <a:r>
              <a:rPr lang="en-IN" sz="1600"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IN" sz="2000"/>
              <a:t>Livelihood Models-</a:t>
            </a:r>
            <a:r>
              <a:rPr lang="en-IN" sz="2000">
                <a:uFill>
                  <a:noFill/>
                </a:uFill>
                <a:hlinkClick r:id="rId16"/>
              </a:rPr>
              <a:t> </a:t>
            </a:r>
            <a:r>
              <a:rPr lang="en-IN" sz="2000" u="sng">
                <a:solidFill>
                  <a:schemeClr val="hlink"/>
                </a:solidFill>
                <a:hlinkClick r:id="rId17"/>
              </a:rPr>
              <a:t>NABARD</a:t>
            </a:r>
            <a:endParaRPr sz="2000" u="sng">
              <a:solidFill>
                <a:schemeClr val="hlink"/>
              </a:solidFill>
            </a:endParaRPr>
          </a:p>
          <a:p>
            <a:pPr indent="-228600" lvl="0" marL="9017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sz="2000"/>
              <a:t>Ø</a:t>
            </a:r>
            <a:r>
              <a:rPr lang="en-IN" sz="16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IN" sz="1600"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18"/>
              </a:rPr>
              <a:t> </a:t>
            </a:r>
            <a:r>
              <a:rPr lang="en-IN" sz="2000" u="sng">
                <a:solidFill>
                  <a:schemeClr val="hlink"/>
                </a:solidFill>
                <a:hlinkClick r:id="rId19"/>
              </a:rPr>
              <a:t>Cost of production of various agriculture commodities- Department of Agriculture</a:t>
            </a:r>
            <a:r>
              <a:rPr lang="en-IN" sz="2000"/>
              <a:t>, Ministry of Agriculture and Farmers Welfare</a:t>
            </a:r>
            <a:endParaRPr sz="2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g2a03f7ee081_0_24"/>
          <p:cNvPicPr preferRelativeResize="0"/>
          <p:nvPr/>
        </p:nvPicPr>
        <p:blipFill rotWithShape="1">
          <a:blip r:embed="rId3">
            <a:alphaModFix/>
          </a:blip>
          <a:srcRect b="8037" l="0" r="0" t="0"/>
          <a:stretch/>
        </p:blipFill>
        <p:spPr>
          <a:xfrm>
            <a:off x="952200" y="577575"/>
            <a:ext cx="10321625" cy="561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2023-11-28T08:04:30Z</dcterms:created>
  <dc:creator>Sonal</dc:creator>
</cp:coreProperties>
</file>