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Geo"/>
      <p:regular r:id="rId23"/>
      <p: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Century Gothic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KhZTQsA5MdSjS8nRHDkfEwGMI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Geo-italic.fntdata"/><Relationship Id="rId23" Type="http://schemas.openxmlformats.org/officeDocument/2006/relationships/font" Target="fonts/Ge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CenturyGothic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enturyGothic-italic.fntdata"/><Relationship Id="rId30" Type="http://schemas.openxmlformats.org/officeDocument/2006/relationships/font" Target="fonts/CenturyGothic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CenturyGothic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IN"/>
              <a:t>The facilitator will link the previous responses with this slide and categorized the responses of the participants on the previous slide.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9" name="Google Shape;26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1" name="Google Shape;28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ayout">
  <p:cSld name="Basic Layou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idx="1" type="body"/>
          </p:nvPr>
        </p:nvSpPr>
        <p:spPr>
          <a:xfrm>
            <a:off x="0" y="164638"/>
            <a:ext cx="12192000" cy="768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1"/>
          <p:cNvSpPr txBox="1"/>
          <p:nvPr>
            <p:ph idx="2" type="body"/>
          </p:nvPr>
        </p:nvSpPr>
        <p:spPr>
          <a:xfrm>
            <a:off x="0" y="932723"/>
            <a:ext cx="12192000" cy="384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65645" lvl="1" marL="914400" marR="0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7954" lvl="3" marL="18288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7954" lvl="4" marL="22860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7954" lvl="7" marL="36576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1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1"/>
          <p:cNvSpPr/>
          <p:nvPr/>
        </p:nvSpPr>
        <p:spPr>
          <a:xfrm>
            <a:off x="0" y="0"/>
            <a:ext cx="12192000" cy="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genda Layout">
  <p:cSld name="1_Agenda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/>
          <p:nvPr/>
        </p:nvSpPr>
        <p:spPr>
          <a:xfrm>
            <a:off x="-3472" y="0"/>
            <a:ext cx="211223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:\002-KIMS BUSINESS\007-02-Fullslidesppt-Contents\20161228\02-edu\bulb-item2.png" id="26" name="Google Shape;2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2314" y="3909054"/>
            <a:ext cx="1260665" cy="279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25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spreadsheets/d/12sytH15UkZni43aQvD3J5waHubAG1w-4/edit?usp=sharing&amp;ouid=107469613829008637202&amp;rtpof=true&amp;sd=tru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spreadsheets/d/1LT9ONrnED1pkUJqsmcfzIfuGGLbjSUPN/edit?usp=sharing&amp;ouid=107469613829008637202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279377" y="1814607"/>
            <a:ext cx="7128900" cy="3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5520" u="none" cap="none" strike="noStrike">
                <a:solidFill>
                  <a:srgbClr val="F47C00"/>
                </a:solidFill>
                <a:latin typeface="Cambria"/>
                <a:ea typeface="Cambria"/>
                <a:cs typeface="Cambria"/>
                <a:sym typeface="Cambria"/>
              </a:rPr>
              <a:t>Lakhpati Didi</a:t>
            </a:r>
            <a:r>
              <a:rPr b="1" lang="en-IN" sz="5520">
                <a:solidFill>
                  <a:srgbClr val="F47C00"/>
                </a:solidFill>
                <a:latin typeface="Cambria"/>
                <a:ea typeface="Cambria"/>
                <a:cs typeface="Cambria"/>
                <a:sym typeface="Cambria"/>
              </a:rPr>
              <a:t>: Orientation for VO/CLF</a:t>
            </a:r>
            <a:endParaRPr b="0" i="0" sz="12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8990475" y="5023369"/>
            <a:ext cx="3099268" cy="1842003"/>
          </a:xfrm>
          <a:custGeom>
            <a:rect b="b" l="l" r="r" t="t"/>
            <a:pathLst>
              <a:path extrusionOk="0" h="7258769" w="10760978">
                <a:moveTo>
                  <a:pt x="0" y="0"/>
                </a:moveTo>
                <a:lnTo>
                  <a:pt x="10760978" y="0"/>
                </a:lnTo>
                <a:lnTo>
                  <a:pt x="10760978" y="7258769"/>
                </a:lnTo>
                <a:lnTo>
                  <a:pt x="0" y="725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 rot="2078457">
            <a:off x="44135" y="-42300"/>
            <a:ext cx="2125947" cy="1550050"/>
          </a:xfrm>
          <a:custGeom>
            <a:rect b="b" l="l" r="r" t="t"/>
            <a:pathLst>
              <a:path extrusionOk="0" h="6435461" w="9540441">
                <a:moveTo>
                  <a:pt x="0" y="0"/>
                </a:moveTo>
                <a:lnTo>
                  <a:pt x="9540440" y="0"/>
                </a:lnTo>
                <a:lnTo>
                  <a:pt x="9540440" y="6435461"/>
                </a:lnTo>
                <a:lnTo>
                  <a:pt x="0" y="6435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/>
          <p:nvPr/>
        </p:nvSpPr>
        <p:spPr>
          <a:xfrm>
            <a:off x="7325319" y="1244600"/>
            <a:ext cx="4569588" cy="4952825"/>
          </a:xfrm>
          <a:custGeom>
            <a:rect b="b" l="l" r="r" t="t"/>
            <a:pathLst>
              <a:path extrusionOk="0" h="7429237" w="6854382">
                <a:moveTo>
                  <a:pt x="0" y="0"/>
                </a:moveTo>
                <a:lnTo>
                  <a:pt x="6854382" y="0"/>
                </a:lnTo>
                <a:lnTo>
                  <a:pt x="6854382" y="7429237"/>
                </a:lnTo>
                <a:lnTo>
                  <a:pt x="0" y="7429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6153" l="0" r="0" t="-6154"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8502475" y="150923"/>
            <a:ext cx="3003725" cy="1430909"/>
          </a:xfrm>
          <a:custGeom>
            <a:rect b="b" l="l" r="r" t="t"/>
            <a:pathLst>
              <a:path extrusionOk="0" h="2146363" w="4505588">
                <a:moveTo>
                  <a:pt x="0" y="0"/>
                </a:moveTo>
                <a:lnTo>
                  <a:pt x="4505588" y="0"/>
                </a:lnTo>
                <a:lnTo>
                  <a:pt x="4505588" y="2146362"/>
                </a:lnTo>
                <a:lnTo>
                  <a:pt x="0" y="2146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561218" y="5488175"/>
            <a:ext cx="876327" cy="869955"/>
          </a:xfrm>
          <a:custGeom>
            <a:rect b="b" l="l" r="r" t="t"/>
            <a:pathLst>
              <a:path extrusionOk="0" h="1304932" w="1314491">
                <a:moveTo>
                  <a:pt x="0" y="0"/>
                </a:moveTo>
                <a:lnTo>
                  <a:pt x="1314491" y="0"/>
                </a:lnTo>
                <a:lnTo>
                  <a:pt x="1314491" y="1304931"/>
                </a:lnTo>
                <a:lnTo>
                  <a:pt x="0" y="1304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>
            <a:off x="3315195" y="5358897"/>
            <a:ext cx="3199615" cy="1014211"/>
          </a:xfrm>
          <a:custGeom>
            <a:rect b="b" l="l" r="r" t="t"/>
            <a:pathLst>
              <a:path extrusionOk="0" h="1521317" w="4799423">
                <a:moveTo>
                  <a:pt x="0" y="0"/>
                </a:moveTo>
                <a:lnTo>
                  <a:pt x="4799423" y="0"/>
                </a:lnTo>
                <a:lnTo>
                  <a:pt x="4799423" y="1521317"/>
                </a:lnTo>
                <a:lnTo>
                  <a:pt x="0" y="1521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"/>
          <p:cNvSpPr txBox="1"/>
          <p:nvPr/>
        </p:nvSpPr>
        <p:spPr>
          <a:xfrm>
            <a:off x="8100246" y="1627028"/>
            <a:ext cx="1720000" cy="6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67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Ministry of Rural Development</a:t>
            </a:r>
            <a:endParaRPr b="0" i="0" sz="12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9940837" y="1645655"/>
            <a:ext cx="1720000" cy="316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67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DAY-NRLM</a:t>
            </a:r>
            <a:endParaRPr b="0" i="0" sz="12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10800000">
            <a:off x="488767" y="1313589"/>
            <a:ext cx="4295030" cy="946060"/>
          </a:xfrm>
          <a:custGeom>
            <a:rect b="b" l="l" r="r" t="t"/>
            <a:pathLst>
              <a:path extrusionOk="0" h="2026473" w="6442545">
                <a:moveTo>
                  <a:pt x="0" y="0"/>
                </a:moveTo>
                <a:lnTo>
                  <a:pt x="6442546" y="0"/>
                </a:lnTo>
                <a:lnTo>
                  <a:pt x="6442546" y="2026473"/>
                </a:lnTo>
                <a:lnTo>
                  <a:pt x="0" y="2026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 rot="10800000">
            <a:off x="5010749" y="1035728"/>
            <a:ext cx="6692483" cy="1129972"/>
          </a:xfrm>
          <a:custGeom>
            <a:rect b="b" l="l" r="r" t="t"/>
            <a:pathLst>
              <a:path extrusionOk="0" h="3157635" w="10038725">
                <a:moveTo>
                  <a:pt x="0" y="0"/>
                </a:moveTo>
                <a:lnTo>
                  <a:pt x="10038725" y="0"/>
                </a:lnTo>
                <a:lnTo>
                  <a:pt x="10038725" y="3157636"/>
                </a:lnTo>
                <a:lnTo>
                  <a:pt x="0" y="31576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 rot="10800000">
            <a:off x="518686" y="2600174"/>
            <a:ext cx="9239463" cy="3975024"/>
          </a:xfrm>
          <a:custGeom>
            <a:rect b="b" l="l" r="r" t="t"/>
            <a:pathLst>
              <a:path extrusionOk="0" h="4359347" w="13859195">
                <a:moveTo>
                  <a:pt x="0" y="0"/>
                </a:moveTo>
                <a:lnTo>
                  <a:pt x="13859196" y="0"/>
                </a:lnTo>
                <a:lnTo>
                  <a:pt x="13859196" y="4359347"/>
                </a:lnTo>
                <a:lnTo>
                  <a:pt x="0" y="43593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 txBox="1"/>
          <p:nvPr/>
        </p:nvSpPr>
        <p:spPr>
          <a:xfrm>
            <a:off x="1422201" y="2587856"/>
            <a:ext cx="8379300" cy="52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5666" lvl="0" marL="45720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16"/>
              <a:buFont typeface="Cambria"/>
              <a:buChar char="●"/>
            </a:pPr>
            <a:r>
              <a:rPr b="1" i="0" lang="en-IN" sz="2316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Understanding livelihoods</a:t>
            </a:r>
            <a:endParaRPr/>
          </a:p>
          <a:p>
            <a:pPr indent="-375666" lvl="0" marL="45720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16"/>
              <a:buFont typeface="Cambria"/>
              <a:buChar char="●"/>
            </a:pPr>
            <a:r>
              <a:rPr b="1" i="0" lang="en-IN" sz="2316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Strategy of lakhpati livelihood planning</a:t>
            </a:r>
            <a:endParaRPr/>
          </a:p>
          <a:p>
            <a:pPr indent="-375666" lvl="0" marL="45720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16"/>
              <a:buFont typeface="Cambria"/>
              <a:buChar char="●"/>
            </a:pPr>
            <a:r>
              <a:rPr b="1" i="0" lang="en-IN" sz="2316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Process for livelihood plan</a:t>
            </a:r>
            <a:endParaRPr/>
          </a:p>
          <a:p>
            <a:pPr indent="-375666" lvl="0" marL="45720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16"/>
              <a:buFont typeface="Cambria"/>
              <a:buChar char="●"/>
            </a:pPr>
            <a:r>
              <a:rPr b="1" i="0" lang="en-IN" sz="2316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Steps for livelihoods planning with Didis</a:t>
            </a:r>
            <a:endParaRPr b="1" i="0" sz="2316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75666" lvl="0" marL="45720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16"/>
              <a:buFont typeface="Cambria"/>
              <a:buChar char="●"/>
            </a:pPr>
            <a:r>
              <a:rPr b="1" i="0" lang="en-IN" sz="2316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Point of reference for CRPs during plan preparation</a:t>
            </a:r>
            <a:endParaRPr/>
          </a:p>
          <a:p>
            <a:pPr indent="-375666" lvl="0" marL="45720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16"/>
              <a:buFont typeface="Cambria"/>
              <a:buChar char="●"/>
            </a:pPr>
            <a:r>
              <a:rPr b="1" lang="en-IN" sz="2316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Lakhpati Livelihood </a:t>
            </a:r>
            <a:r>
              <a:rPr b="1" i="0" lang="en-IN" sz="2316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Planning tool</a:t>
            </a:r>
            <a:endParaRPr/>
          </a:p>
          <a:p>
            <a:pPr indent="-375666" lvl="0" marL="45720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16"/>
              <a:buFont typeface="Cambria"/>
              <a:buChar char="●"/>
            </a:pPr>
            <a:r>
              <a:rPr b="1" i="0" lang="en-IN" sz="2316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Role of VO</a:t>
            </a:r>
            <a:endParaRPr/>
          </a:p>
          <a:p>
            <a:pPr indent="-375666" lvl="0" marL="45720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16"/>
              <a:buFont typeface="Cambria"/>
              <a:buChar char="●"/>
            </a:pPr>
            <a:r>
              <a:rPr b="1" i="0" lang="en-IN" sz="2316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Aajeevika register</a:t>
            </a:r>
            <a:endParaRPr/>
          </a:p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6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6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16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13" name="Google Shape;113;p2"/>
          <p:cNvGrpSpPr/>
          <p:nvPr/>
        </p:nvGrpSpPr>
        <p:grpSpPr>
          <a:xfrm>
            <a:off x="577863" y="1574059"/>
            <a:ext cx="609011" cy="652845"/>
            <a:chOff x="0" y="0"/>
            <a:chExt cx="812800" cy="871300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812800" cy="871300"/>
            </a:xfrm>
            <a:custGeom>
              <a:rect b="b" l="l" r="r" t="t"/>
              <a:pathLst>
                <a:path extrusionOk="0" h="871300" w="812800">
                  <a:moveTo>
                    <a:pt x="406400" y="0"/>
                  </a:moveTo>
                  <a:cubicBezTo>
                    <a:pt x="181951" y="0"/>
                    <a:pt x="0" y="195047"/>
                    <a:pt x="0" y="435650"/>
                  </a:cubicBezTo>
                  <a:cubicBezTo>
                    <a:pt x="0" y="676253"/>
                    <a:pt x="181951" y="871300"/>
                    <a:pt x="406400" y="871300"/>
                  </a:cubicBezTo>
                  <a:cubicBezTo>
                    <a:pt x="630849" y="871300"/>
                    <a:pt x="812800" y="676253"/>
                    <a:pt x="812800" y="435650"/>
                  </a:cubicBezTo>
                  <a:cubicBezTo>
                    <a:pt x="812800" y="19504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7221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76200" y="53109"/>
              <a:ext cx="660400" cy="7365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ctr">
                <a:lnSpc>
                  <a:spcPct val="131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5078218" y="1196379"/>
            <a:ext cx="638292" cy="638292"/>
            <a:chOff x="0" y="0"/>
            <a:chExt cx="812800" cy="812800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7221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ctr">
                <a:lnSpc>
                  <a:spcPct val="131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682305" y="4058563"/>
            <a:ext cx="739896" cy="739896"/>
            <a:chOff x="0" y="0"/>
            <a:chExt cx="812800" cy="812800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7221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ctr">
                <a:lnSpc>
                  <a:spcPct val="131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2"/>
          <p:cNvSpPr txBox="1"/>
          <p:nvPr/>
        </p:nvSpPr>
        <p:spPr>
          <a:xfrm>
            <a:off x="1352836" y="1346588"/>
            <a:ext cx="2742800" cy="98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316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Orienting on Lakhpati Didi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5765442" y="1139858"/>
            <a:ext cx="5465000" cy="1475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316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Significance and Role of CRPs in making Didis Lakhpati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38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16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2666201" y="299516"/>
            <a:ext cx="647100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F37221"/>
                </a:solidFill>
                <a:latin typeface="Cambria"/>
                <a:ea typeface="Cambria"/>
                <a:cs typeface="Cambria"/>
                <a:sym typeface="Cambria"/>
              </a:rPr>
              <a:t>TRAINING OBJECTIVES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4830281" y="1231416"/>
            <a:ext cx="9909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9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386983" y="1634760"/>
            <a:ext cx="990800" cy="653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9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564143" y="4150090"/>
            <a:ext cx="990800" cy="653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9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/>
        </p:nvSpPr>
        <p:spPr>
          <a:xfrm>
            <a:off x="437208" y="2670958"/>
            <a:ext cx="6797176" cy="3796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406">
                <a:solidFill>
                  <a:srgbClr val="EA893B"/>
                </a:solidFill>
                <a:latin typeface="Geo"/>
                <a:ea typeface="Geo"/>
                <a:cs typeface="Geo"/>
                <a:sym typeface="Geo"/>
              </a:rPr>
              <a:t>Session 2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406">
                <a:solidFill>
                  <a:srgbClr val="EA893B"/>
                </a:solidFill>
                <a:latin typeface="Geo"/>
                <a:ea typeface="Geo"/>
                <a:cs typeface="Geo"/>
                <a:sym typeface="Geo"/>
              </a:rPr>
              <a:t>INTRODUCTION TO LAKHPATI DIDIs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406">
                <a:solidFill>
                  <a:srgbClr val="EA893B"/>
                </a:solidFill>
                <a:latin typeface="Geo"/>
                <a:ea typeface="Geo"/>
                <a:cs typeface="Geo"/>
                <a:sym typeface="Geo"/>
              </a:rPr>
              <a:t> 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45053" y="5737223"/>
            <a:ext cx="876327" cy="869955"/>
          </a:xfrm>
          <a:custGeom>
            <a:rect b="b" l="l" r="r" t="t"/>
            <a:pathLst>
              <a:path extrusionOk="0" h="1304932" w="1314491">
                <a:moveTo>
                  <a:pt x="0" y="0"/>
                </a:moveTo>
                <a:lnTo>
                  <a:pt x="1314492" y="0"/>
                </a:lnTo>
                <a:lnTo>
                  <a:pt x="1314492" y="1304932"/>
                </a:lnTo>
                <a:lnTo>
                  <a:pt x="0" y="1304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3"/>
          <p:cNvSpPr/>
          <p:nvPr/>
        </p:nvSpPr>
        <p:spPr>
          <a:xfrm>
            <a:off x="9646689" y="793875"/>
            <a:ext cx="1859511" cy="1147055"/>
          </a:xfrm>
          <a:custGeom>
            <a:rect b="b" l="l" r="r" t="t"/>
            <a:pathLst>
              <a:path extrusionOk="0" h="1720582" w="2789266">
                <a:moveTo>
                  <a:pt x="0" y="0"/>
                </a:moveTo>
                <a:lnTo>
                  <a:pt x="2789266" y="0"/>
                </a:lnTo>
                <a:lnTo>
                  <a:pt x="2789266" y="1720581"/>
                </a:lnTo>
                <a:lnTo>
                  <a:pt x="0" y="1720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3"/>
          <p:cNvSpPr/>
          <p:nvPr/>
        </p:nvSpPr>
        <p:spPr>
          <a:xfrm>
            <a:off x="8221638" y="279491"/>
            <a:ext cx="1011641" cy="1610638"/>
          </a:xfrm>
          <a:custGeom>
            <a:rect b="b" l="l" r="r" t="t"/>
            <a:pathLst>
              <a:path extrusionOk="0" h="2415957" w="1517461">
                <a:moveTo>
                  <a:pt x="0" y="0"/>
                </a:moveTo>
                <a:lnTo>
                  <a:pt x="1517461" y="0"/>
                </a:lnTo>
                <a:lnTo>
                  <a:pt x="1517461" y="2415957"/>
                </a:lnTo>
                <a:lnTo>
                  <a:pt x="0" y="2415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3"/>
          <p:cNvSpPr/>
          <p:nvPr/>
        </p:nvSpPr>
        <p:spPr>
          <a:xfrm>
            <a:off x="8897412" y="2169432"/>
            <a:ext cx="3446965" cy="2669985"/>
          </a:xfrm>
          <a:custGeom>
            <a:rect b="b" l="l" r="r" t="t"/>
            <a:pathLst>
              <a:path extrusionOk="0" h="4004978" w="5170448">
                <a:moveTo>
                  <a:pt x="0" y="0"/>
                </a:moveTo>
                <a:lnTo>
                  <a:pt x="5170448" y="0"/>
                </a:lnTo>
                <a:lnTo>
                  <a:pt x="5170448" y="4004978"/>
                </a:lnTo>
                <a:lnTo>
                  <a:pt x="0" y="40049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3"/>
          <p:cNvSpPr/>
          <p:nvPr/>
        </p:nvSpPr>
        <p:spPr>
          <a:xfrm>
            <a:off x="6173129" y="2909310"/>
            <a:ext cx="3129999" cy="2423470"/>
          </a:xfrm>
          <a:custGeom>
            <a:rect b="b" l="l" r="r" t="t"/>
            <a:pathLst>
              <a:path extrusionOk="0" h="3635205" w="4694999">
                <a:moveTo>
                  <a:pt x="0" y="0"/>
                </a:moveTo>
                <a:lnTo>
                  <a:pt x="4694999" y="0"/>
                </a:lnTo>
                <a:lnTo>
                  <a:pt x="4694999" y="3635205"/>
                </a:lnTo>
                <a:lnTo>
                  <a:pt x="0" y="36352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3"/>
          <p:cNvSpPr txBox="1"/>
          <p:nvPr/>
        </p:nvSpPr>
        <p:spPr>
          <a:xfrm>
            <a:off x="7926603" y="1909179"/>
            <a:ext cx="1720087" cy="6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67">
                <a:solidFill>
                  <a:srgbClr val="000000"/>
                </a:solidFill>
                <a:latin typeface="Geo"/>
                <a:ea typeface="Geo"/>
                <a:cs typeface="Geo"/>
                <a:sym typeface="Geo"/>
              </a:rPr>
              <a:t>Ministry of Rural Development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9786113" y="2039355"/>
            <a:ext cx="1720087" cy="316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67">
                <a:solidFill>
                  <a:srgbClr val="000000"/>
                </a:solidFill>
                <a:latin typeface="Geo"/>
                <a:ea typeface="Geo"/>
                <a:cs typeface="Geo"/>
                <a:sym typeface="Geo"/>
              </a:rPr>
              <a:t>DAY-NRLM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"/>
          <p:cNvSpPr/>
          <p:nvPr/>
        </p:nvSpPr>
        <p:spPr>
          <a:xfrm>
            <a:off x="445053" y="2799471"/>
            <a:ext cx="2874922" cy="52050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 txBox="1"/>
          <p:nvPr/>
        </p:nvSpPr>
        <p:spPr>
          <a:xfrm>
            <a:off x="2325183" y="1783067"/>
            <a:ext cx="6306900" cy="28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89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1.Hon’ble PMs announcement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62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89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2.Who is a Lakhpati Didi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62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89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3.Survey Findings in 2022-23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62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89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4.Identification of Potential Lakhpati Didis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62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89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5.Roles and Activities of CRPs</a:t>
            </a:r>
            <a:endParaRPr b="1" sz="2489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47" name="Google Shape;147;p4"/>
          <p:cNvGrpSpPr/>
          <p:nvPr/>
        </p:nvGrpSpPr>
        <p:grpSpPr>
          <a:xfrm>
            <a:off x="2578457" y="239559"/>
            <a:ext cx="6306874" cy="1222123"/>
            <a:chOff x="0" y="-85725"/>
            <a:chExt cx="2491605" cy="482814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2491605" cy="397089"/>
            </a:xfrm>
            <a:custGeom>
              <a:rect b="b" l="l" r="r" t="t"/>
              <a:pathLst>
                <a:path extrusionOk="0" h="397089" w="2491605">
                  <a:moveTo>
                    <a:pt x="0" y="0"/>
                  </a:moveTo>
                  <a:lnTo>
                    <a:pt x="2491605" y="0"/>
                  </a:lnTo>
                  <a:lnTo>
                    <a:pt x="2491605" y="397089"/>
                  </a:lnTo>
                  <a:lnTo>
                    <a:pt x="0" y="397089"/>
                  </a:ln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</p:sp>
        <p:sp>
          <p:nvSpPr>
            <p:cNvPr id="149" name="Google Shape;149;p4"/>
            <p:cNvSpPr txBox="1"/>
            <p:nvPr/>
          </p:nvSpPr>
          <p:spPr>
            <a:xfrm>
              <a:off x="0" y="-85725"/>
              <a:ext cx="2491605" cy="4828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ctr">
                <a:lnSpc>
                  <a:spcPct val="1380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673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WHAT WILL WE DISCUSS?</a:t>
              </a:r>
              <a:endParaRPr sz="93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50" name="Google Shape;150;p4"/>
          <p:cNvSpPr/>
          <p:nvPr/>
        </p:nvSpPr>
        <p:spPr>
          <a:xfrm rot="5400000">
            <a:off x="-2413000" y="2413000"/>
            <a:ext cx="6858000" cy="2032000"/>
          </a:xfrm>
          <a:custGeom>
            <a:rect b="b" l="l" r="r" t="t"/>
            <a:pathLst>
              <a:path extrusionOk="0" h="8061320" w="10657996">
                <a:moveTo>
                  <a:pt x="0" y="0"/>
                </a:moveTo>
                <a:lnTo>
                  <a:pt x="10657996" y="0"/>
                </a:lnTo>
                <a:lnTo>
                  <a:pt x="10657996" y="8061320"/>
                </a:lnTo>
                <a:lnTo>
                  <a:pt x="0" y="8061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4"/>
          <p:cNvSpPr/>
          <p:nvPr/>
        </p:nvSpPr>
        <p:spPr>
          <a:xfrm>
            <a:off x="7615485" y="3751956"/>
            <a:ext cx="4576515" cy="3106045"/>
          </a:xfrm>
          <a:custGeom>
            <a:rect b="b" l="l" r="r" t="t"/>
            <a:pathLst>
              <a:path extrusionOk="0" h="4659067" w="6864772">
                <a:moveTo>
                  <a:pt x="0" y="0"/>
                </a:moveTo>
                <a:lnTo>
                  <a:pt x="6864772" y="0"/>
                </a:lnTo>
                <a:lnTo>
                  <a:pt x="6864772" y="4659067"/>
                </a:lnTo>
                <a:lnTo>
                  <a:pt x="0" y="4659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10290435" y="4020760"/>
            <a:ext cx="1835946" cy="2147299"/>
          </a:xfrm>
          <a:custGeom>
            <a:rect b="b" l="l" r="r" t="t"/>
            <a:pathLst>
              <a:path extrusionOk="0" h="4687320" w="4687320">
                <a:moveTo>
                  <a:pt x="0" y="0"/>
                </a:moveTo>
                <a:lnTo>
                  <a:pt x="4687320" y="0"/>
                </a:lnTo>
                <a:lnTo>
                  <a:pt x="4687320" y="4687320"/>
                </a:lnTo>
                <a:lnTo>
                  <a:pt x="0" y="4687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7" name="Google Shape;157;p5"/>
          <p:cNvGrpSpPr/>
          <p:nvPr/>
        </p:nvGrpSpPr>
        <p:grpSpPr>
          <a:xfrm>
            <a:off x="10520890" y="4347102"/>
            <a:ext cx="1390073" cy="1390073"/>
            <a:chOff x="0" y="0"/>
            <a:chExt cx="812800" cy="812800"/>
          </a:xfrm>
        </p:grpSpPr>
        <p:sp>
          <p:nvSpPr>
            <p:cNvPr id="158" name="Google Shape;158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5"/>
          <p:cNvSpPr/>
          <p:nvPr/>
        </p:nvSpPr>
        <p:spPr>
          <a:xfrm>
            <a:off x="61859" y="1463955"/>
            <a:ext cx="2626575" cy="2270525"/>
          </a:xfrm>
          <a:custGeom>
            <a:rect b="b" l="l" r="r" t="t"/>
            <a:pathLst>
              <a:path extrusionOk="0" h="4687320" w="4687320">
                <a:moveTo>
                  <a:pt x="0" y="0"/>
                </a:moveTo>
                <a:lnTo>
                  <a:pt x="4687320" y="0"/>
                </a:lnTo>
                <a:lnTo>
                  <a:pt x="4687320" y="4687319"/>
                </a:lnTo>
                <a:lnTo>
                  <a:pt x="0" y="46873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1" name="Google Shape;161;p5"/>
          <p:cNvGrpSpPr/>
          <p:nvPr/>
        </p:nvGrpSpPr>
        <p:grpSpPr>
          <a:xfrm>
            <a:off x="-165385" y="789393"/>
            <a:ext cx="3949011" cy="3041660"/>
            <a:chOff x="-167588" y="-42759"/>
            <a:chExt cx="904188" cy="812800"/>
          </a:xfrm>
        </p:grpSpPr>
        <p:sp>
          <p:nvSpPr>
            <p:cNvPr id="162" name="Google Shape;162;p5"/>
            <p:cNvSpPr/>
            <p:nvPr/>
          </p:nvSpPr>
          <p:spPr>
            <a:xfrm>
              <a:off x="-167588" y="-42759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5"/>
          <p:cNvSpPr/>
          <p:nvPr/>
        </p:nvSpPr>
        <p:spPr>
          <a:xfrm>
            <a:off x="4878819" y="958035"/>
            <a:ext cx="1139474" cy="1889733"/>
          </a:xfrm>
          <a:custGeom>
            <a:rect b="b" l="l" r="r" t="t"/>
            <a:pathLst>
              <a:path extrusionOk="0" h="2444877" w="1474216">
                <a:moveTo>
                  <a:pt x="1394587" y="1366393"/>
                </a:moveTo>
                <a:lnTo>
                  <a:pt x="395351" y="2365883"/>
                </a:lnTo>
                <a:cubicBezTo>
                  <a:pt x="315849" y="2444877"/>
                  <a:pt x="186944" y="2444877"/>
                  <a:pt x="107315" y="2365883"/>
                </a:cubicBezTo>
                <a:lnTo>
                  <a:pt x="0" y="2258441"/>
                </a:lnTo>
                <a:lnTo>
                  <a:pt x="891286" y="1366393"/>
                </a:lnTo>
                <a:cubicBezTo>
                  <a:pt x="970788" y="1286891"/>
                  <a:pt x="970788" y="1157859"/>
                  <a:pt x="891286" y="1078357"/>
                </a:cubicBezTo>
                <a:lnTo>
                  <a:pt x="0" y="186944"/>
                </a:lnTo>
                <a:lnTo>
                  <a:pt x="107442" y="79502"/>
                </a:lnTo>
                <a:cubicBezTo>
                  <a:pt x="186944" y="0"/>
                  <a:pt x="315849" y="0"/>
                  <a:pt x="395478" y="79502"/>
                </a:cubicBezTo>
                <a:lnTo>
                  <a:pt x="1394714" y="1078357"/>
                </a:lnTo>
                <a:cubicBezTo>
                  <a:pt x="1474216" y="1157859"/>
                  <a:pt x="1474216" y="1286891"/>
                  <a:pt x="1394714" y="1366393"/>
                </a:cubicBezTo>
                <a:close/>
              </a:path>
            </a:pathLst>
          </a:custGeom>
          <a:solidFill>
            <a:srgbClr val="EA893B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002553" y="1615263"/>
            <a:ext cx="338027" cy="637321"/>
          </a:xfrm>
          <a:custGeom>
            <a:rect b="b" l="l" r="r" t="t"/>
            <a:pathLst>
              <a:path extrusionOk="0" h="842137" w="446659">
                <a:moveTo>
                  <a:pt x="350393" y="246126"/>
                </a:moveTo>
                <a:lnTo>
                  <a:pt x="165354" y="60960"/>
                </a:lnTo>
                <a:cubicBezTo>
                  <a:pt x="104394" y="0"/>
                  <a:pt x="0" y="42926"/>
                  <a:pt x="0" y="129413"/>
                </a:cubicBezTo>
                <a:lnTo>
                  <a:pt x="0" y="712724"/>
                </a:lnTo>
                <a:cubicBezTo>
                  <a:pt x="0" y="799211"/>
                  <a:pt x="104394" y="842137"/>
                  <a:pt x="165354" y="781177"/>
                </a:cubicBezTo>
                <a:lnTo>
                  <a:pt x="350393" y="596138"/>
                </a:lnTo>
                <a:cubicBezTo>
                  <a:pt x="446659" y="499237"/>
                  <a:pt x="446659" y="342519"/>
                  <a:pt x="350393" y="246126"/>
                </a:cubicBezTo>
                <a:close/>
              </a:path>
            </a:pathLst>
          </a:custGeom>
          <a:solidFill>
            <a:srgbClr val="EA893B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271770" y="1013274"/>
            <a:ext cx="6733477" cy="1778854"/>
          </a:xfrm>
          <a:custGeom>
            <a:rect b="b" l="l" r="r" t="t"/>
            <a:pathLst>
              <a:path extrusionOk="0" h="1963166" w="7431151">
                <a:moveTo>
                  <a:pt x="6464935" y="0"/>
                </a:moveTo>
                <a:lnTo>
                  <a:pt x="0" y="0"/>
                </a:lnTo>
                <a:lnTo>
                  <a:pt x="837819" y="837565"/>
                </a:lnTo>
                <a:cubicBezTo>
                  <a:pt x="877316" y="877062"/>
                  <a:pt x="897636" y="929386"/>
                  <a:pt x="897636" y="981583"/>
                </a:cubicBezTo>
                <a:cubicBezTo>
                  <a:pt x="897636" y="1033780"/>
                  <a:pt x="877951" y="1085596"/>
                  <a:pt x="837819" y="1125601"/>
                </a:cubicBezTo>
                <a:lnTo>
                  <a:pt x="635" y="1963166"/>
                </a:lnTo>
                <a:lnTo>
                  <a:pt x="6464427" y="1963166"/>
                </a:lnTo>
                <a:lnTo>
                  <a:pt x="7431151" y="981583"/>
                </a:lnTo>
                <a:lnTo>
                  <a:pt x="6464935" y="0"/>
                </a:lnTo>
                <a:close/>
              </a:path>
            </a:pathLst>
          </a:custGeom>
          <a:solidFill>
            <a:srgbClr val="EE8837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9118299" y="3145669"/>
            <a:ext cx="1207883" cy="2003183"/>
          </a:xfrm>
          <a:custGeom>
            <a:rect b="b" l="l" r="r" t="t"/>
            <a:pathLst>
              <a:path extrusionOk="0" h="2444877" w="1474216">
                <a:moveTo>
                  <a:pt x="78994" y="1078484"/>
                </a:moveTo>
                <a:lnTo>
                  <a:pt x="1078611" y="78994"/>
                </a:lnTo>
                <a:cubicBezTo>
                  <a:pt x="1158240" y="0"/>
                  <a:pt x="1287145" y="0"/>
                  <a:pt x="1366774" y="78994"/>
                </a:cubicBezTo>
                <a:lnTo>
                  <a:pt x="1474216" y="186436"/>
                </a:lnTo>
                <a:lnTo>
                  <a:pt x="582549" y="1078484"/>
                </a:lnTo>
                <a:cubicBezTo>
                  <a:pt x="502920" y="1157986"/>
                  <a:pt x="502920" y="1287018"/>
                  <a:pt x="582549" y="1366520"/>
                </a:cubicBezTo>
                <a:lnTo>
                  <a:pt x="1474216" y="2257933"/>
                </a:lnTo>
                <a:lnTo>
                  <a:pt x="1366774" y="2365375"/>
                </a:lnTo>
                <a:cubicBezTo>
                  <a:pt x="1287145" y="2444877"/>
                  <a:pt x="1158240" y="2444877"/>
                  <a:pt x="1078611" y="2365375"/>
                </a:cubicBezTo>
                <a:lnTo>
                  <a:pt x="78994" y="1366012"/>
                </a:lnTo>
                <a:cubicBezTo>
                  <a:pt x="0" y="1286510"/>
                  <a:pt x="0" y="1158113"/>
                  <a:pt x="78994" y="1078484"/>
                </a:cubicBezTo>
                <a:close/>
              </a:path>
            </a:pathLst>
          </a:custGeom>
          <a:solidFill>
            <a:srgbClr val="EE8837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9743242" y="3859170"/>
            <a:ext cx="352485" cy="663738"/>
          </a:xfrm>
          <a:custGeom>
            <a:rect b="b" l="l" r="r" t="t"/>
            <a:pathLst>
              <a:path extrusionOk="0" h="842264" w="447294">
                <a:moveTo>
                  <a:pt x="96901" y="596138"/>
                </a:moveTo>
                <a:lnTo>
                  <a:pt x="281940" y="781304"/>
                </a:lnTo>
                <a:cubicBezTo>
                  <a:pt x="342900" y="842264"/>
                  <a:pt x="447294" y="799338"/>
                  <a:pt x="447294" y="712851"/>
                </a:cubicBezTo>
                <a:lnTo>
                  <a:pt x="447294" y="129413"/>
                </a:lnTo>
                <a:cubicBezTo>
                  <a:pt x="447294" y="42926"/>
                  <a:pt x="342900" y="0"/>
                  <a:pt x="281940" y="60960"/>
                </a:cubicBezTo>
                <a:lnTo>
                  <a:pt x="96901" y="246126"/>
                </a:lnTo>
                <a:cubicBezTo>
                  <a:pt x="0" y="343027"/>
                  <a:pt x="0" y="499237"/>
                  <a:pt x="96901" y="596138"/>
                </a:cubicBezTo>
                <a:close/>
              </a:path>
            </a:pathLst>
          </a:custGeom>
          <a:solidFill>
            <a:srgbClr val="F47C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2689305" y="3190193"/>
            <a:ext cx="7211336" cy="1904216"/>
          </a:xfrm>
          <a:custGeom>
            <a:rect b="b" l="l" r="r" t="t"/>
            <a:pathLst>
              <a:path extrusionOk="0" h="1963166" w="7434580">
                <a:moveTo>
                  <a:pt x="967105" y="1963166"/>
                </a:moveTo>
                <a:lnTo>
                  <a:pt x="7434580" y="1963166"/>
                </a:lnTo>
                <a:lnTo>
                  <a:pt x="6596380" y="1125601"/>
                </a:lnTo>
                <a:cubicBezTo>
                  <a:pt x="6556883" y="1086104"/>
                  <a:pt x="6536563" y="1033780"/>
                  <a:pt x="6536563" y="981583"/>
                </a:cubicBezTo>
                <a:cubicBezTo>
                  <a:pt x="6536563" y="929386"/>
                  <a:pt x="6556375" y="877570"/>
                  <a:pt x="6596380" y="837565"/>
                </a:cubicBezTo>
                <a:lnTo>
                  <a:pt x="7434072" y="0"/>
                </a:lnTo>
                <a:lnTo>
                  <a:pt x="967105" y="0"/>
                </a:lnTo>
                <a:lnTo>
                  <a:pt x="0" y="980948"/>
                </a:lnTo>
                <a:lnTo>
                  <a:pt x="967105" y="1963039"/>
                </a:lnTo>
                <a:close/>
              </a:path>
            </a:pathLst>
          </a:custGeom>
          <a:solidFill>
            <a:srgbClr val="EA893B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167579" y="1391889"/>
            <a:ext cx="776795" cy="852769"/>
          </a:xfrm>
          <a:custGeom>
            <a:rect b="b" l="l" r="r" t="t"/>
            <a:pathLst>
              <a:path extrusionOk="0" h="1279154" w="1165193">
                <a:moveTo>
                  <a:pt x="0" y="0"/>
                </a:moveTo>
                <a:lnTo>
                  <a:pt x="1165193" y="0"/>
                </a:lnTo>
                <a:lnTo>
                  <a:pt x="1165193" y="1279154"/>
                </a:lnTo>
                <a:lnTo>
                  <a:pt x="0" y="1279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5"/>
          <p:cNvSpPr/>
          <p:nvPr/>
        </p:nvSpPr>
        <p:spPr>
          <a:xfrm>
            <a:off x="3235628" y="3697428"/>
            <a:ext cx="874841" cy="844619"/>
          </a:xfrm>
          <a:custGeom>
            <a:rect b="b" l="l" r="r" t="t"/>
            <a:pathLst>
              <a:path extrusionOk="0" h="1266929" w="1312262">
                <a:moveTo>
                  <a:pt x="0" y="0"/>
                </a:moveTo>
                <a:lnTo>
                  <a:pt x="1312262" y="0"/>
                </a:lnTo>
                <a:lnTo>
                  <a:pt x="1312262" y="1266930"/>
                </a:lnTo>
                <a:lnTo>
                  <a:pt x="0" y="1266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5"/>
          <p:cNvSpPr/>
          <p:nvPr/>
        </p:nvSpPr>
        <p:spPr>
          <a:xfrm>
            <a:off x="2446194" y="1281682"/>
            <a:ext cx="929133" cy="929133"/>
          </a:xfrm>
          <a:custGeom>
            <a:rect b="b" l="l" r="r" t="t"/>
            <a:pathLst>
              <a:path extrusionOk="0" h="1393700" w="1393700">
                <a:moveTo>
                  <a:pt x="0" y="0"/>
                </a:moveTo>
                <a:lnTo>
                  <a:pt x="1393700" y="0"/>
                </a:lnTo>
                <a:lnTo>
                  <a:pt x="1393700" y="1393700"/>
                </a:lnTo>
                <a:lnTo>
                  <a:pt x="0" y="1393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5"/>
          <p:cNvSpPr txBox="1"/>
          <p:nvPr/>
        </p:nvSpPr>
        <p:spPr>
          <a:xfrm>
            <a:off x="-436020" y="1744394"/>
            <a:ext cx="3263626" cy="1768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164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Lakhpati </a:t>
            </a:r>
            <a:endParaRPr b="1" sz="4164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3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164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Didi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7042150" y="1187078"/>
            <a:ext cx="4947400" cy="1637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533">
                <a:solidFill>
                  <a:srgbClr val="FDFBFB"/>
                </a:solidFill>
                <a:latin typeface="Cambria"/>
                <a:ea typeface="Cambria"/>
                <a:cs typeface="Cambria"/>
                <a:sym typeface="Cambria"/>
              </a:rPr>
              <a:t>SHG Member with annual household income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533">
                <a:solidFill>
                  <a:srgbClr val="FDFBFB"/>
                </a:solidFill>
                <a:latin typeface="Cambria"/>
                <a:ea typeface="Cambria"/>
                <a:cs typeface="Cambria"/>
                <a:sym typeface="Cambria"/>
              </a:rPr>
              <a:t> more than 1 lakh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4208485" y="3321683"/>
            <a:ext cx="5109600" cy="2378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8">
                <a:solidFill>
                  <a:srgbClr val="FDFBFB"/>
                </a:solidFill>
                <a:latin typeface="Cambria"/>
                <a:ea typeface="Cambria"/>
                <a:cs typeface="Cambria"/>
                <a:sym typeface="Cambria"/>
              </a:rPr>
              <a:t>Average Monthly Income of ₹10,000 or more sustained for 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8">
                <a:solidFill>
                  <a:srgbClr val="FDFBFB"/>
                </a:solidFill>
                <a:latin typeface="Cambria"/>
                <a:ea typeface="Cambria"/>
                <a:cs typeface="Cambria"/>
                <a:sym typeface="Cambria"/>
              </a:rPr>
              <a:t>at least four Agricultural Seasons/Business cycles 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8">
              <a:solidFill>
                <a:srgbClr val="FDFBF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/>
          <p:nvPr/>
        </p:nvSpPr>
        <p:spPr>
          <a:xfrm>
            <a:off x="6801631" y="398263"/>
            <a:ext cx="5140828" cy="4796383"/>
          </a:xfrm>
          <a:custGeom>
            <a:rect b="b" l="l" r="r" t="t"/>
            <a:pathLst>
              <a:path extrusionOk="0" h="7194575" w="7711242">
                <a:moveTo>
                  <a:pt x="0" y="0"/>
                </a:moveTo>
                <a:lnTo>
                  <a:pt x="7711242" y="0"/>
                </a:lnTo>
                <a:lnTo>
                  <a:pt x="7711242" y="7194575"/>
                </a:lnTo>
                <a:lnTo>
                  <a:pt x="0" y="7194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645" l="-838" r="-946" t="0"/>
            </a:stretch>
          </a:blipFill>
          <a:ln>
            <a:noFill/>
          </a:ln>
        </p:spPr>
      </p:sp>
      <p:grpSp>
        <p:nvGrpSpPr>
          <p:cNvPr id="181" name="Google Shape;181;p6"/>
          <p:cNvGrpSpPr/>
          <p:nvPr/>
        </p:nvGrpSpPr>
        <p:grpSpPr>
          <a:xfrm>
            <a:off x="0" y="155871"/>
            <a:ext cx="5137699" cy="1209375"/>
            <a:chOff x="0" y="-85725"/>
            <a:chExt cx="2029708" cy="477778"/>
          </a:xfrm>
        </p:grpSpPr>
        <p:sp>
          <p:nvSpPr>
            <p:cNvPr id="182" name="Google Shape;182;p6"/>
            <p:cNvSpPr/>
            <p:nvPr/>
          </p:nvSpPr>
          <p:spPr>
            <a:xfrm>
              <a:off x="0" y="0"/>
              <a:ext cx="2029708" cy="392053"/>
            </a:xfrm>
            <a:custGeom>
              <a:rect b="b" l="l" r="r" t="t"/>
              <a:pathLst>
                <a:path extrusionOk="0" h="392053" w="2029708">
                  <a:moveTo>
                    <a:pt x="0" y="0"/>
                  </a:moveTo>
                  <a:lnTo>
                    <a:pt x="2029708" y="0"/>
                  </a:lnTo>
                  <a:lnTo>
                    <a:pt x="2029708" y="392053"/>
                  </a:lnTo>
                  <a:lnTo>
                    <a:pt x="0" y="392053"/>
                  </a:ln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</p:sp>
        <p:sp>
          <p:nvSpPr>
            <p:cNvPr id="183" name="Google Shape;183;p6"/>
            <p:cNvSpPr txBox="1"/>
            <p:nvPr/>
          </p:nvSpPr>
          <p:spPr>
            <a:xfrm>
              <a:off x="0" y="-85725"/>
              <a:ext cx="2029708" cy="4777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ctr">
                <a:lnSpc>
                  <a:spcPct val="1380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673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LAKHPATI SURVEY 2022-23</a:t>
              </a:r>
              <a:endParaRPr sz="93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pic>
        <p:nvPicPr>
          <p:cNvPr id="184" name="Google Shape;18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989" y="2129361"/>
            <a:ext cx="954960" cy="954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871" y="2348599"/>
            <a:ext cx="7224449" cy="442563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"/>
          <p:cNvSpPr txBox="1"/>
          <p:nvPr/>
        </p:nvSpPr>
        <p:spPr>
          <a:xfrm>
            <a:off x="9372045" y="3936729"/>
            <a:ext cx="2828400" cy="459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133">
                <a:solidFill>
                  <a:srgbClr val="F47C00"/>
                </a:solidFill>
                <a:latin typeface="Cambria"/>
                <a:ea typeface="Cambria"/>
                <a:cs typeface="Cambria"/>
                <a:sym typeface="Cambria"/>
              </a:rPr>
              <a:t>Lakhpati Didis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324214" y="1676014"/>
            <a:ext cx="4571000" cy="53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6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9 Crore SHG Households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1493703" y="2341007"/>
            <a:ext cx="1985200" cy="1068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8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8.34 Cr Surveyed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7"/>
          <p:cNvGrpSpPr/>
          <p:nvPr/>
        </p:nvGrpSpPr>
        <p:grpSpPr>
          <a:xfrm>
            <a:off x="2879313" y="191331"/>
            <a:ext cx="5514147" cy="1260897"/>
            <a:chOff x="0" y="-85725"/>
            <a:chExt cx="2178429" cy="498132"/>
          </a:xfrm>
        </p:grpSpPr>
        <p:sp>
          <p:nvSpPr>
            <p:cNvPr id="194" name="Google Shape;194;p7"/>
            <p:cNvSpPr/>
            <p:nvPr/>
          </p:nvSpPr>
          <p:spPr>
            <a:xfrm>
              <a:off x="0" y="0"/>
              <a:ext cx="2178429" cy="412407"/>
            </a:xfrm>
            <a:custGeom>
              <a:rect b="b" l="l" r="r" t="t"/>
              <a:pathLst>
                <a:path extrusionOk="0" h="412407" w="2178429">
                  <a:moveTo>
                    <a:pt x="0" y="0"/>
                  </a:moveTo>
                  <a:lnTo>
                    <a:pt x="2178429" y="0"/>
                  </a:lnTo>
                  <a:lnTo>
                    <a:pt x="2178429" y="412407"/>
                  </a:lnTo>
                  <a:lnTo>
                    <a:pt x="0" y="412407"/>
                  </a:ln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</p:sp>
        <p:sp>
          <p:nvSpPr>
            <p:cNvPr id="195" name="Google Shape;195;p7"/>
            <p:cNvSpPr txBox="1"/>
            <p:nvPr/>
          </p:nvSpPr>
          <p:spPr>
            <a:xfrm>
              <a:off x="0" y="-85725"/>
              <a:ext cx="2178429" cy="498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ctr">
                <a:lnSpc>
                  <a:spcPct val="138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807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POTENTIAL LAKHPATI DIDI</a:t>
              </a:r>
              <a:endParaRPr sz="93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96" name="Google Shape;196;p7"/>
          <p:cNvSpPr/>
          <p:nvPr/>
        </p:nvSpPr>
        <p:spPr>
          <a:xfrm rot="10800000">
            <a:off x="346939" y="1369635"/>
            <a:ext cx="1819708" cy="572381"/>
          </a:xfrm>
          <a:custGeom>
            <a:rect b="b" l="l" r="r" t="t"/>
            <a:pathLst>
              <a:path extrusionOk="0" h="858571" w="2729562">
                <a:moveTo>
                  <a:pt x="0" y="0"/>
                </a:moveTo>
                <a:lnTo>
                  <a:pt x="2729562" y="0"/>
                </a:lnTo>
                <a:lnTo>
                  <a:pt x="2729562" y="858571"/>
                </a:lnTo>
                <a:lnTo>
                  <a:pt x="0" y="858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7"/>
          <p:cNvSpPr/>
          <p:nvPr/>
        </p:nvSpPr>
        <p:spPr>
          <a:xfrm rot="10800000">
            <a:off x="521594" y="3732608"/>
            <a:ext cx="2357720" cy="741610"/>
          </a:xfrm>
          <a:custGeom>
            <a:rect b="b" l="l" r="r" t="t"/>
            <a:pathLst>
              <a:path extrusionOk="0" h="1111026" w="3532165">
                <a:moveTo>
                  <a:pt x="0" y="0"/>
                </a:moveTo>
                <a:lnTo>
                  <a:pt x="3532164" y="0"/>
                </a:lnTo>
                <a:lnTo>
                  <a:pt x="3532164" y="1111026"/>
                </a:lnTo>
                <a:lnTo>
                  <a:pt x="0" y="11110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7"/>
          <p:cNvSpPr txBox="1"/>
          <p:nvPr/>
        </p:nvSpPr>
        <p:spPr>
          <a:xfrm>
            <a:off x="524537" y="1447546"/>
            <a:ext cx="1430400" cy="452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CRITERIA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346939" y="2062448"/>
            <a:ext cx="11845000" cy="1297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6826" lvl="1" marL="433652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2"/>
              <a:buFont typeface="Cambria"/>
              <a:buChar char="•"/>
            </a:pPr>
            <a:r>
              <a:rPr b="1" i="0" lang="en-IN" sz="2008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SHGs who have completed minimum 2 years</a:t>
            </a:r>
            <a:endParaRPr b="0" i="0" sz="933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16826" lvl="1" marL="433652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2"/>
              <a:buFont typeface="Cambria"/>
              <a:buChar char="•"/>
            </a:pPr>
            <a:r>
              <a:rPr b="1" i="0" lang="en-IN" sz="2008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SHGs who have availed CIF</a:t>
            </a:r>
            <a:endParaRPr b="0" i="0" sz="933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16826" lvl="1" marL="433652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2"/>
              <a:buFont typeface="Cambria"/>
              <a:buChar char="•"/>
            </a:pPr>
            <a:r>
              <a:rPr b="1" i="0" lang="en-IN" sz="2008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SHGs who are the beneficiaries of livelihood intervention from DAY-NRLM</a:t>
            </a:r>
            <a:endParaRPr b="0" i="0" sz="933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346939" y="4468882"/>
            <a:ext cx="11845000" cy="1297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6824" lvl="1" marL="433651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2"/>
              <a:buFont typeface="Cambria"/>
              <a:buChar char="•"/>
            </a:pPr>
            <a:r>
              <a:rPr b="1" i="0" lang="en-IN" sz="2008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Already Lakhpati Didi may also need handholding for some time, Max 25% of such Didis can be supported</a:t>
            </a:r>
            <a:endParaRPr b="0" i="0" sz="933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16826" lvl="1" marL="433652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2"/>
              <a:buFont typeface="Cambria"/>
              <a:buChar char="•"/>
            </a:pPr>
            <a:r>
              <a:rPr b="1" i="0" lang="en-IN" sz="2008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CRPs to be linked with each identified Lakhpati Didi who will be ensuring the transformation</a:t>
            </a:r>
            <a:endParaRPr b="0" i="0" sz="933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524537" y="3778002"/>
            <a:ext cx="2269200" cy="452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SUGGESTIONS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8"/>
          <p:cNvGrpSpPr/>
          <p:nvPr/>
        </p:nvGrpSpPr>
        <p:grpSpPr>
          <a:xfrm>
            <a:off x="2600107" y="234335"/>
            <a:ext cx="7433689" cy="1260563"/>
            <a:chOff x="0" y="-42864"/>
            <a:chExt cx="2936766" cy="498000"/>
          </a:xfrm>
        </p:grpSpPr>
        <p:sp>
          <p:nvSpPr>
            <p:cNvPr id="207" name="Google Shape;207;p8"/>
            <p:cNvSpPr/>
            <p:nvPr/>
          </p:nvSpPr>
          <p:spPr>
            <a:xfrm>
              <a:off x="0" y="0"/>
              <a:ext cx="2936766" cy="412407"/>
            </a:xfrm>
            <a:custGeom>
              <a:rect b="b" l="l" r="r" t="t"/>
              <a:pathLst>
                <a:path extrusionOk="0" h="412407" w="2936766">
                  <a:moveTo>
                    <a:pt x="0" y="0"/>
                  </a:moveTo>
                  <a:lnTo>
                    <a:pt x="2936766" y="0"/>
                  </a:lnTo>
                  <a:lnTo>
                    <a:pt x="2936766" y="412407"/>
                  </a:lnTo>
                  <a:lnTo>
                    <a:pt x="0" y="412407"/>
                  </a:lnTo>
                  <a:close/>
                </a:path>
              </a:pathLst>
            </a:custGeom>
            <a:solidFill>
              <a:srgbClr val="F47C00"/>
            </a:solidFill>
            <a:ln>
              <a:noFill/>
            </a:ln>
          </p:spPr>
        </p:sp>
        <p:sp>
          <p:nvSpPr>
            <p:cNvPr id="208" name="Google Shape;208;p8"/>
            <p:cNvSpPr txBox="1"/>
            <p:nvPr/>
          </p:nvSpPr>
          <p:spPr>
            <a:xfrm>
              <a:off x="0" y="-42864"/>
              <a:ext cx="29367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ctr">
                <a:lnSpc>
                  <a:spcPct val="138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807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CRP: ROLE AS PILLARS OF CONTINUOUS SUPPORT</a:t>
              </a:r>
              <a:endParaRPr sz="93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209" name="Google Shape;209;p8"/>
          <p:cNvSpPr/>
          <p:nvPr/>
        </p:nvSpPr>
        <p:spPr>
          <a:xfrm>
            <a:off x="8926812" y="1396901"/>
            <a:ext cx="2470881" cy="4858458"/>
          </a:xfrm>
          <a:custGeom>
            <a:rect b="b" l="l" r="r" t="t"/>
            <a:pathLst>
              <a:path extrusionOk="0" h="7984744" w="4060825">
                <a:moveTo>
                  <a:pt x="2590419" y="540893"/>
                </a:moveTo>
                <a:cubicBezTo>
                  <a:pt x="2430399" y="647573"/>
                  <a:pt x="2239899" y="700913"/>
                  <a:pt x="2034286" y="700913"/>
                </a:cubicBezTo>
                <a:cubicBezTo>
                  <a:pt x="1828673" y="700913"/>
                  <a:pt x="1638173" y="647573"/>
                  <a:pt x="1470533" y="540893"/>
                </a:cubicBezTo>
                <a:cubicBezTo>
                  <a:pt x="876173" y="182880"/>
                  <a:pt x="441833" y="0"/>
                  <a:pt x="0" y="0"/>
                </a:cubicBezTo>
                <a:cubicBezTo>
                  <a:pt x="0" y="7984744"/>
                  <a:pt x="0" y="7984744"/>
                  <a:pt x="0" y="7984744"/>
                </a:cubicBezTo>
                <a:cubicBezTo>
                  <a:pt x="4060825" y="7984744"/>
                  <a:pt x="4060825" y="7984744"/>
                  <a:pt x="4060825" y="7984744"/>
                </a:cubicBezTo>
                <a:cubicBezTo>
                  <a:pt x="4060825" y="0"/>
                  <a:pt x="4060825" y="0"/>
                  <a:pt x="4060825" y="0"/>
                </a:cubicBezTo>
                <a:cubicBezTo>
                  <a:pt x="3626612" y="0"/>
                  <a:pt x="3184652" y="182880"/>
                  <a:pt x="2590419" y="540893"/>
                </a:cubicBezTo>
                <a:close/>
              </a:path>
            </a:pathLst>
          </a:custGeom>
          <a:solidFill>
            <a:srgbClr val="F4C303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457699" y="1345458"/>
            <a:ext cx="2469103" cy="4858458"/>
          </a:xfrm>
          <a:custGeom>
            <a:rect b="b" l="l" r="r" t="t"/>
            <a:pathLst>
              <a:path extrusionOk="0" h="7984744" w="4057904">
                <a:moveTo>
                  <a:pt x="2588514" y="540893"/>
                </a:moveTo>
                <a:cubicBezTo>
                  <a:pt x="2421001" y="647573"/>
                  <a:pt x="2230628" y="700913"/>
                  <a:pt x="2025142" y="700913"/>
                </a:cubicBezTo>
                <a:cubicBezTo>
                  <a:pt x="1819656" y="700913"/>
                  <a:pt x="1629283" y="647573"/>
                  <a:pt x="1469390" y="540893"/>
                </a:cubicBezTo>
                <a:cubicBezTo>
                  <a:pt x="875538" y="182880"/>
                  <a:pt x="433959" y="0"/>
                  <a:pt x="0" y="0"/>
                </a:cubicBezTo>
                <a:cubicBezTo>
                  <a:pt x="0" y="7984744"/>
                  <a:pt x="0" y="7984744"/>
                  <a:pt x="0" y="7984744"/>
                </a:cubicBezTo>
                <a:cubicBezTo>
                  <a:pt x="4057904" y="7984744"/>
                  <a:pt x="4057904" y="7984744"/>
                  <a:pt x="4057904" y="7984744"/>
                </a:cubicBezTo>
                <a:cubicBezTo>
                  <a:pt x="4057904" y="0"/>
                  <a:pt x="4057904" y="0"/>
                  <a:pt x="4057904" y="0"/>
                </a:cubicBezTo>
                <a:cubicBezTo>
                  <a:pt x="3616325" y="0"/>
                  <a:pt x="3174746" y="182880"/>
                  <a:pt x="2588514" y="540893"/>
                </a:cubicBezTo>
                <a:close/>
              </a:path>
            </a:pathLst>
          </a:custGeom>
          <a:solidFill>
            <a:srgbClr val="F47C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227943" y="1396901"/>
            <a:ext cx="3229740" cy="4858458"/>
          </a:xfrm>
          <a:custGeom>
            <a:rect b="b" l="l" r="r" t="t"/>
            <a:pathLst>
              <a:path extrusionOk="0" h="7984744" w="5307990">
                <a:moveTo>
                  <a:pt x="3379575" y="540893"/>
                </a:moveTo>
                <a:cubicBezTo>
                  <a:pt x="3170869" y="647573"/>
                  <a:pt x="2922378" y="700913"/>
                  <a:pt x="2653995" y="700913"/>
                </a:cubicBezTo>
                <a:cubicBezTo>
                  <a:pt x="2385612" y="700913"/>
                  <a:pt x="2137121" y="647573"/>
                  <a:pt x="1928415" y="540893"/>
                </a:cubicBezTo>
                <a:cubicBezTo>
                  <a:pt x="1153104" y="182880"/>
                  <a:pt x="576552" y="0"/>
                  <a:pt x="0" y="0"/>
                </a:cubicBezTo>
                <a:cubicBezTo>
                  <a:pt x="0" y="7984744"/>
                  <a:pt x="0" y="7984744"/>
                  <a:pt x="0" y="7984744"/>
                </a:cubicBezTo>
                <a:cubicBezTo>
                  <a:pt x="5307990" y="7984744"/>
                  <a:pt x="5307990" y="7984744"/>
                  <a:pt x="5307990" y="7984744"/>
                </a:cubicBezTo>
                <a:cubicBezTo>
                  <a:pt x="5307990" y="0"/>
                  <a:pt x="5307990" y="0"/>
                  <a:pt x="5307990" y="0"/>
                </a:cubicBezTo>
                <a:cubicBezTo>
                  <a:pt x="4731439" y="0"/>
                  <a:pt x="4154887" y="182880"/>
                  <a:pt x="3379575" y="540893"/>
                </a:cubicBezTo>
                <a:close/>
              </a:path>
            </a:pathLst>
          </a:custGeom>
          <a:solidFill>
            <a:srgbClr val="F4C303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758831" y="1396901"/>
            <a:ext cx="2469103" cy="4858458"/>
          </a:xfrm>
          <a:custGeom>
            <a:rect b="b" l="l" r="r" t="t"/>
            <a:pathLst>
              <a:path extrusionOk="0" h="7984744" w="4057904">
                <a:moveTo>
                  <a:pt x="2588514" y="540893"/>
                </a:moveTo>
                <a:cubicBezTo>
                  <a:pt x="2428621" y="647573"/>
                  <a:pt x="2238248" y="700913"/>
                  <a:pt x="2032762" y="700913"/>
                </a:cubicBezTo>
                <a:cubicBezTo>
                  <a:pt x="1827276" y="700913"/>
                  <a:pt x="1636903" y="647573"/>
                  <a:pt x="1469390" y="540893"/>
                </a:cubicBezTo>
                <a:cubicBezTo>
                  <a:pt x="875538" y="182880"/>
                  <a:pt x="441579" y="0"/>
                  <a:pt x="0" y="0"/>
                </a:cubicBezTo>
                <a:cubicBezTo>
                  <a:pt x="0" y="7984744"/>
                  <a:pt x="0" y="7984744"/>
                  <a:pt x="0" y="7984744"/>
                </a:cubicBezTo>
                <a:cubicBezTo>
                  <a:pt x="4057904" y="7984744"/>
                  <a:pt x="4057904" y="7984744"/>
                  <a:pt x="4057904" y="7984744"/>
                </a:cubicBezTo>
                <a:cubicBezTo>
                  <a:pt x="4057904" y="0"/>
                  <a:pt x="4057904" y="0"/>
                  <a:pt x="4057904" y="0"/>
                </a:cubicBezTo>
                <a:cubicBezTo>
                  <a:pt x="3623945" y="0"/>
                  <a:pt x="3182366" y="182880"/>
                  <a:pt x="2588514" y="540893"/>
                </a:cubicBezTo>
                <a:close/>
              </a:path>
            </a:pathLst>
          </a:custGeom>
          <a:solidFill>
            <a:srgbClr val="F47C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799694" y="2129185"/>
            <a:ext cx="2364337" cy="429879"/>
          </a:xfrm>
          <a:custGeom>
            <a:rect b="b" l="l" r="r" t="t"/>
            <a:pathLst>
              <a:path extrusionOk="0" h="644819" w="3546506">
                <a:moveTo>
                  <a:pt x="0" y="0"/>
                </a:moveTo>
                <a:lnTo>
                  <a:pt x="3546507" y="0"/>
                </a:lnTo>
                <a:lnTo>
                  <a:pt x="3546507" y="644820"/>
                </a:lnTo>
                <a:lnTo>
                  <a:pt x="0" y="64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8"/>
          <p:cNvSpPr/>
          <p:nvPr/>
        </p:nvSpPr>
        <p:spPr>
          <a:xfrm>
            <a:off x="3378935" y="2134501"/>
            <a:ext cx="3002564" cy="545921"/>
          </a:xfrm>
          <a:custGeom>
            <a:rect b="b" l="l" r="r" t="t"/>
            <a:pathLst>
              <a:path extrusionOk="0" h="818881" w="4503846">
                <a:moveTo>
                  <a:pt x="0" y="0"/>
                </a:moveTo>
                <a:lnTo>
                  <a:pt x="4503846" y="0"/>
                </a:lnTo>
                <a:lnTo>
                  <a:pt x="4503846" y="818881"/>
                </a:lnTo>
                <a:lnTo>
                  <a:pt x="0" y="8188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8"/>
          <p:cNvSpPr/>
          <p:nvPr/>
        </p:nvSpPr>
        <p:spPr>
          <a:xfrm>
            <a:off x="9002082" y="2144319"/>
            <a:ext cx="2294487" cy="417179"/>
          </a:xfrm>
          <a:custGeom>
            <a:rect b="b" l="l" r="r" t="t"/>
            <a:pathLst>
              <a:path extrusionOk="0" h="625769" w="3441731">
                <a:moveTo>
                  <a:pt x="0" y="0"/>
                </a:moveTo>
                <a:lnTo>
                  <a:pt x="3441732" y="0"/>
                </a:lnTo>
                <a:lnTo>
                  <a:pt x="3441732" y="625769"/>
                </a:lnTo>
                <a:lnTo>
                  <a:pt x="0" y="625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8"/>
          <p:cNvSpPr/>
          <p:nvPr/>
        </p:nvSpPr>
        <p:spPr>
          <a:xfrm>
            <a:off x="6670063" y="2050879"/>
            <a:ext cx="2072558" cy="889503"/>
          </a:xfrm>
          <a:custGeom>
            <a:rect b="b" l="l" r="r" t="t"/>
            <a:pathLst>
              <a:path extrusionOk="0" h="1334255" w="3108837">
                <a:moveTo>
                  <a:pt x="0" y="0"/>
                </a:moveTo>
                <a:lnTo>
                  <a:pt x="3108837" y="0"/>
                </a:lnTo>
                <a:lnTo>
                  <a:pt x="3108837" y="1334255"/>
                </a:lnTo>
                <a:lnTo>
                  <a:pt x="0" y="13342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754" r="-753" t="-4071"/>
            </a:stretch>
          </a:blipFill>
          <a:ln>
            <a:noFill/>
          </a:ln>
        </p:spPr>
      </p:sp>
      <p:sp>
        <p:nvSpPr>
          <p:cNvPr id="217" name="Google Shape;217;p8"/>
          <p:cNvSpPr txBox="1"/>
          <p:nvPr/>
        </p:nvSpPr>
        <p:spPr>
          <a:xfrm>
            <a:off x="1002481" y="2049483"/>
            <a:ext cx="1946000" cy="574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667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Facilitator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3458413" y="2121801"/>
            <a:ext cx="2743400" cy="574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667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Troubleshooter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6670063" y="2017515"/>
            <a:ext cx="1946000" cy="1149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667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Capacity Builder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0" name="Google Shape;220;p8"/>
          <p:cNvSpPr txBox="1"/>
          <p:nvPr/>
        </p:nvSpPr>
        <p:spPr>
          <a:xfrm>
            <a:off x="9112549" y="2109101"/>
            <a:ext cx="2060800" cy="574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667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Monitoring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1063497" y="2610492"/>
            <a:ext cx="1923200" cy="4079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67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Personalized guidance, Plan preparation tailored to each member and collation.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67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Connect with schemes, progs, institutions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7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3874391" y="2825750"/>
            <a:ext cx="1599000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Navigating through challenges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6843547" y="3106844"/>
            <a:ext cx="1772600" cy="1838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13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Enhancing skills and knowledge of members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9301462" y="2902282"/>
            <a:ext cx="1895800" cy="3216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13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 recording and reporting,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13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Continual oversight, course correction</a:t>
            </a:r>
            <a:endParaRPr sz="9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33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 txBox="1"/>
          <p:nvPr>
            <p:ph idx="1" type="body"/>
          </p:nvPr>
        </p:nvSpPr>
        <p:spPr>
          <a:xfrm>
            <a:off x="0" y="164638"/>
            <a:ext cx="12192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800"/>
              <a:buFont typeface="Arial"/>
              <a:buNone/>
            </a:pPr>
            <a:r>
              <a:rPr b="1" lang="en-IN" sz="4500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</a:rPr>
              <a:t>Understanding Lakhpati Livelihoods </a:t>
            </a:r>
            <a:endParaRPr b="1" sz="4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661550" y="932650"/>
            <a:ext cx="103302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6875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Char char="●"/>
            </a:pPr>
            <a:r>
              <a:rPr b="0" i="0" lang="en-IN" sz="265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 set of </a:t>
            </a:r>
            <a:r>
              <a:rPr b="1" i="0" lang="en-IN" sz="2650" u="none" cap="none" strike="noStrike">
                <a:solidFill>
                  <a:srgbClr val="32AEB8"/>
                </a:solidFill>
                <a:latin typeface="Georgia"/>
                <a:ea typeface="Georgia"/>
                <a:cs typeface="Georgia"/>
                <a:sym typeface="Georgia"/>
              </a:rPr>
              <a:t>economic activities</a:t>
            </a:r>
            <a:r>
              <a:rPr b="0" i="0" lang="en-IN" sz="265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self-employment and/or wage-employment/ manufacturing/business, others</a:t>
            </a:r>
            <a:endParaRPr b="0" i="0" sz="26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6875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Char char="●"/>
            </a:pPr>
            <a:r>
              <a:rPr b="0" i="0" lang="en-IN" sz="265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By using one’s </a:t>
            </a:r>
            <a:r>
              <a:rPr b="1" i="0" lang="en-IN" sz="2650" u="none" cap="none" strike="noStrike">
                <a:solidFill>
                  <a:srgbClr val="32AEB8"/>
                </a:solidFill>
                <a:latin typeface="Georgia"/>
                <a:ea typeface="Georgia"/>
                <a:cs typeface="Georgia"/>
                <a:sym typeface="Georgia"/>
              </a:rPr>
              <a:t>endowments</a:t>
            </a:r>
            <a:r>
              <a:rPr b="0" i="0" lang="en-IN" sz="265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(human and material)</a:t>
            </a:r>
            <a:endParaRPr b="0" i="0" sz="26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6875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Char char="●"/>
            </a:pPr>
            <a:r>
              <a:rPr b="0" i="0" lang="en-IN" sz="265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to </a:t>
            </a:r>
            <a:r>
              <a:rPr b="1" i="0" lang="en-IN" sz="2650" u="none" cap="none" strike="noStrike">
                <a:solidFill>
                  <a:srgbClr val="32AEB8"/>
                </a:solidFill>
                <a:latin typeface="Georgia"/>
                <a:ea typeface="Georgia"/>
                <a:cs typeface="Georgia"/>
                <a:sym typeface="Georgia"/>
              </a:rPr>
              <a:t>generate</a:t>
            </a:r>
            <a:r>
              <a:rPr b="0" i="0" lang="en-IN" sz="265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adequate </a:t>
            </a:r>
            <a:r>
              <a:rPr b="1" i="0" lang="en-IN" sz="2650" u="none" cap="none" strike="noStrike">
                <a:solidFill>
                  <a:srgbClr val="32AEB8"/>
                </a:solidFill>
                <a:latin typeface="Georgia"/>
                <a:ea typeface="Georgia"/>
                <a:cs typeface="Georgia"/>
                <a:sym typeface="Georgia"/>
              </a:rPr>
              <a:t>resources</a:t>
            </a:r>
            <a:r>
              <a:rPr b="0" i="0" lang="en-IN" sz="265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(cash and non-cash)</a:t>
            </a:r>
            <a:endParaRPr b="0" i="0" sz="26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6875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Char char="●"/>
            </a:pPr>
            <a:r>
              <a:rPr b="0" i="0" lang="en-IN" sz="265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meeting the </a:t>
            </a:r>
            <a:r>
              <a:rPr b="1" i="0" lang="en-IN" sz="2650" u="none" cap="none" strike="noStrike">
                <a:solidFill>
                  <a:srgbClr val="32AEB8"/>
                </a:solidFill>
                <a:latin typeface="Georgia"/>
                <a:ea typeface="Georgia"/>
                <a:cs typeface="Georgia"/>
                <a:sym typeface="Georgia"/>
              </a:rPr>
              <a:t>requirements of self and the household</a:t>
            </a:r>
            <a:r>
              <a:rPr b="0" i="0" lang="en-IN" sz="265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</a:t>
            </a:r>
            <a:endParaRPr b="0" i="0" sz="26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6875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Arial"/>
              <a:buChar char="●"/>
            </a:pPr>
            <a:r>
              <a:rPr b="1" i="0" lang="en-IN" sz="2650" u="none" cap="none" strike="noStrike">
                <a:solidFill>
                  <a:srgbClr val="32AEB8"/>
                </a:solidFill>
                <a:latin typeface="Georgia"/>
                <a:ea typeface="Georgia"/>
                <a:cs typeface="Georgia"/>
                <a:sym typeface="Georgia"/>
              </a:rPr>
              <a:t>carried out repeatedly </a:t>
            </a:r>
            <a:r>
              <a:rPr b="0" i="0" lang="en-IN" sz="265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and as such become a way of life. </a:t>
            </a:r>
            <a:endParaRPr b="0" i="0" sz="265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661550" y="4147450"/>
            <a:ext cx="9655800" cy="20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Ideally</a:t>
            </a:r>
            <a:endParaRPr b="0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Livelihood keeps a person meaningfully occupied</a:t>
            </a:r>
            <a:endParaRPr b="0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 a sustainable manner</a:t>
            </a:r>
            <a:endParaRPr b="0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With Dignity</a:t>
            </a:r>
            <a:endParaRPr b="0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1632850" y="1483017"/>
            <a:ext cx="8412900" cy="1328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Strategy for Lakhpati HH Livelihoods planning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 txBox="1"/>
          <p:nvPr>
            <p:ph idx="1" type="body"/>
          </p:nvPr>
        </p:nvSpPr>
        <p:spPr>
          <a:xfrm>
            <a:off x="0" y="307352"/>
            <a:ext cx="121920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4800"/>
              <a:buNone/>
            </a:pPr>
            <a:r>
              <a:rPr b="1" lang="en-IN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5A Framework : </a:t>
            </a:r>
            <a:r>
              <a:rPr lang="en-IN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</a:t>
            </a:r>
            <a:r>
              <a:rPr b="1" lang="en-IN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IN" sz="2800"/>
              <a:t>Assessment tool to </a:t>
            </a:r>
            <a:r>
              <a:rPr lang="en-IN" sz="2800"/>
              <a:t>assist</a:t>
            </a:r>
            <a:r>
              <a:rPr lang="en-IN" sz="2800"/>
              <a:t> in the  selection 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4800"/>
              <a:buNone/>
            </a:pPr>
            <a:r>
              <a:rPr lang="en-IN" sz="2800"/>
              <a:t>                          of livelihood by HH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11"/>
          <p:cNvSpPr txBox="1"/>
          <p:nvPr>
            <p:ph idx="2" type="body"/>
          </p:nvPr>
        </p:nvSpPr>
        <p:spPr>
          <a:xfrm>
            <a:off x="0" y="932752"/>
            <a:ext cx="12192000" cy="56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b="1" lang="en-I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Ability (or Skill): </a:t>
            </a:r>
            <a:r>
              <a:rPr lang="en-I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Refers to the skills, knowledge, and physical capability of individuals or communities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b="1" lang="en-I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Access: </a:t>
            </a:r>
            <a:r>
              <a:rPr lang="en-I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Involves the availability and reachability of resources, services, and opportunities. This includes access to markets, information, technology, infrastructure, and financial services.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b="1" lang="en-I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Assets:</a:t>
            </a:r>
            <a:r>
              <a:rPr lang="en-I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Assets can be tangible, like land, equipment, livestock, or money, and intangible, such as social networks, reputation, or skills. 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b="1" lang="en-I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Attitude:</a:t>
            </a:r>
            <a:r>
              <a:rPr lang="en-I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It includes aspects like willingness to take risks, openness to change, resilience in the face of adversity, and the overall outlook towards life and work.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b="1" lang="en-I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Affiliation: </a:t>
            </a:r>
            <a:r>
              <a:rPr lang="en-I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refers to the social and institutional relationships and networks that people are part of. Affiliations can influence decision-making and power dynamics within communities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867"/>
              <a:buNone/>
            </a:pPr>
            <a:r>
              <a:t/>
            </a:r>
            <a:endParaRPr sz="2367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1184564" y="1"/>
            <a:ext cx="1007435" cy="104263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2"/>
          <p:cNvSpPr txBox="1"/>
          <p:nvPr/>
        </p:nvSpPr>
        <p:spPr>
          <a:xfrm>
            <a:off x="2180492" y="92399"/>
            <a:ext cx="928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I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Outside Support Possible out of 5‘A’s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p12"/>
          <p:cNvGrpSpPr/>
          <p:nvPr/>
        </p:nvGrpSpPr>
        <p:grpSpPr>
          <a:xfrm>
            <a:off x="4186875" y="889489"/>
            <a:ext cx="6188496" cy="5025533"/>
            <a:chOff x="1049749" y="2454440"/>
            <a:chExt cx="4444481" cy="3938505"/>
          </a:xfrm>
        </p:grpSpPr>
        <p:sp>
          <p:nvSpPr>
            <p:cNvPr id="255" name="Google Shape;255;p12"/>
            <p:cNvSpPr/>
            <p:nvPr/>
          </p:nvSpPr>
          <p:spPr>
            <a:xfrm>
              <a:off x="1049749" y="2663953"/>
              <a:ext cx="2435100" cy="2292300"/>
            </a:xfrm>
            <a:prstGeom prst="ellipse">
              <a:avLst/>
            </a:prstGeom>
            <a:solidFill>
              <a:schemeClr val="accent1">
                <a:alpha val="32156"/>
              </a:schemeClr>
            </a:solidFill>
            <a:ln cap="flat" cmpd="sng" w="25400">
              <a:solidFill>
                <a:srgbClr val="247E8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IN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Assets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IN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(Equipment, Infrastructure)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3059130" y="2454440"/>
              <a:ext cx="2435100" cy="2292300"/>
            </a:xfrm>
            <a:prstGeom prst="ellipse">
              <a:avLst/>
            </a:prstGeom>
            <a:solidFill>
              <a:schemeClr val="accent1">
                <a:alpha val="32156"/>
              </a:schemeClr>
            </a:solidFill>
            <a:ln cap="flat" cmpd="sng" w="25400">
              <a:solidFill>
                <a:srgbClr val="247E8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IN" sz="3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Skill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IN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(Training, Capacity Building/ Exposure etc)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2"/>
            <p:cNvSpPr/>
            <p:nvPr/>
          </p:nvSpPr>
          <p:spPr>
            <a:xfrm>
              <a:off x="2089691" y="4100645"/>
              <a:ext cx="2435100" cy="2292300"/>
            </a:xfrm>
            <a:prstGeom prst="ellipse">
              <a:avLst/>
            </a:prstGeom>
            <a:solidFill>
              <a:schemeClr val="accent1">
                <a:alpha val="32156"/>
              </a:schemeClr>
            </a:solidFill>
            <a:ln cap="flat" cmpd="sng" w="25400">
              <a:solidFill>
                <a:srgbClr val="247E8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IN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b="1" i="0" lang="en-IN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Market and Finance</a:t>
              </a:r>
              <a:r>
                <a:rPr b="0" i="0" lang="en-IN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– Loan/ Subsidy etc))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8" name="Google Shape;258;p12"/>
          <p:cNvSpPr/>
          <p:nvPr/>
        </p:nvSpPr>
        <p:spPr>
          <a:xfrm>
            <a:off x="2062575" y="1262025"/>
            <a:ext cx="21243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9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Assets: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●"/>
            </a:pPr>
            <a:r>
              <a:rPr lang="en-IN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="0" i="0" lang="en-IN" sz="19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hysical </a:t>
            </a:r>
            <a:r>
              <a:rPr lang="en-IN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Infra supporting livelihoods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●"/>
            </a:pPr>
            <a:r>
              <a:rPr lang="en-IN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Natural and other Assets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9025523" y="3779572"/>
            <a:ext cx="30480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9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Skills: </a:t>
            </a:r>
            <a:endParaRPr b="1" i="0" sz="19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●"/>
            </a:pPr>
            <a:r>
              <a:rPr lang="en-IN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Ability to take the LH activity up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○"/>
            </a:pPr>
            <a:r>
              <a:rPr b="0" i="0" lang="en-IN" sz="19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Knowledge</a:t>
            </a:r>
            <a:endParaRPr b="0" i="0" sz="19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○"/>
            </a:pPr>
            <a:r>
              <a:rPr b="0" i="0" lang="en-IN" sz="19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Skills</a:t>
            </a:r>
            <a:endParaRPr b="0" i="0" sz="19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2062575" y="3907850"/>
            <a:ext cx="3915300" cy="22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9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Access:</a:t>
            </a:r>
            <a:r>
              <a:rPr b="0" i="0" lang="en-IN" sz="19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●"/>
            </a:pPr>
            <a:r>
              <a:rPr lang="en-IN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 </a:t>
            </a:r>
            <a:r>
              <a:rPr b="0" i="0" lang="en-IN" sz="19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Finance loan, schemes, </a:t>
            </a:r>
            <a:endParaRPr b="0" i="0" sz="19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●"/>
            </a:pPr>
            <a:r>
              <a:rPr lang="en-IN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 Information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●"/>
            </a:pPr>
            <a:r>
              <a:rPr b="0" i="0" lang="en-IN" sz="19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 Market </a:t>
            </a:r>
            <a:endParaRPr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1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○"/>
            </a:pPr>
            <a:r>
              <a:rPr b="0" i="0" lang="en-IN" sz="19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Direct Access</a:t>
            </a:r>
            <a:endParaRPr b="0" i="0" sz="19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9250" lvl="1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mbria"/>
              <a:buChar char="○"/>
            </a:pPr>
            <a:r>
              <a:rPr b="0" i="0" lang="en-IN" sz="19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Aggregation through PG/PE/FPO etc</a:t>
            </a:r>
            <a:endParaRPr b="0" i="0" sz="19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"/>
          <p:cNvSpPr/>
          <p:nvPr/>
        </p:nvSpPr>
        <p:spPr>
          <a:xfrm>
            <a:off x="228967" y="1632769"/>
            <a:ext cx="11870800" cy="3406519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-457189" lvl="0" marL="45718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IN" sz="2667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Orientation of CLF, VO on Lakhpati Livelihood and their Role</a:t>
            </a:r>
            <a:endParaRPr sz="2667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189" lvl="0" marL="45718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IN" sz="2667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CRP training by Master trainer</a:t>
            </a:r>
            <a:endParaRPr sz="2667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189" lvl="0" marL="45718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IN" sz="2667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SHG members orientation by Lakhpati CRP </a:t>
            </a:r>
            <a:endParaRPr sz="2133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189" lvl="0" marL="45718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IN" sz="2667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Identified Lakhpati Didi’s Livelihood Profile and Plan preparation using identified tools (digitization support by e-CRP)</a:t>
            </a:r>
            <a:endParaRPr sz="2667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189" lvl="0" marL="45718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IN" sz="2667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Consolidation of Plans - SHG, VO and CLF wise</a:t>
            </a:r>
            <a:endParaRPr sz="2667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189" lvl="0" marL="45718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IN" sz="2667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Analysis of Plans</a:t>
            </a:r>
            <a:endParaRPr sz="2667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189" lvl="0" marL="45718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IN" sz="2667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Facilitation for funding and resource support</a:t>
            </a:r>
            <a:endParaRPr sz="21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3"/>
          <p:cNvSpPr txBox="1"/>
          <p:nvPr>
            <p:ph type="title"/>
          </p:nvPr>
        </p:nvSpPr>
        <p:spPr>
          <a:xfrm>
            <a:off x="301013" y="392302"/>
            <a:ext cx="11590000" cy="820633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37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for Lakhpati Livelihood Planning </a:t>
            </a:r>
            <a:endParaRPr b="1" sz="49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/>
          <p:nvPr/>
        </p:nvSpPr>
        <p:spPr>
          <a:xfrm>
            <a:off x="160669" y="1213015"/>
            <a:ext cx="11870800" cy="5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491054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AutoNum type="arabicPeriod"/>
            </a:pPr>
            <a:r>
              <a:rPr lang="en-IN" sz="2933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Orientation/Trg of identified SHG members - by CRP at VO meeting</a:t>
            </a:r>
            <a:endParaRPr sz="2933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91054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AutoNum type="arabicPeriod"/>
            </a:pPr>
            <a:r>
              <a:rPr lang="en-IN" sz="2933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date and time for preparing Livelihood Plans of Lakhpati Didis- decided during this orientation meeting</a:t>
            </a:r>
            <a:endParaRPr sz="2933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91054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AutoNum type="arabicPeriod"/>
            </a:pPr>
            <a:r>
              <a:rPr lang="en-IN" sz="2933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CRP interact with Lakhpati Didis for preparing the Livelihood Plans using the planning tool</a:t>
            </a:r>
            <a:endParaRPr b="1" sz="2933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91054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AutoNum type="arabicPeriod"/>
            </a:pPr>
            <a:r>
              <a:rPr lang="en-IN" sz="2933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Sections in the LH Planning template:  </a:t>
            </a:r>
            <a:endParaRPr sz="26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91053" lvl="0" marL="2438339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entury Gothic"/>
              <a:buAutoNum type="alphaLcPeriod"/>
            </a:pPr>
            <a:r>
              <a:rPr lang="en-IN" sz="2933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Profile Section</a:t>
            </a:r>
            <a:endParaRPr sz="2933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91053" lvl="0" marL="2438339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entury Gothic"/>
              <a:buAutoNum type="alphaLcPeriod"/>
            </a:pPr>
            <a:r>
              <a:rPr lang="en-IN" sz="2933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Livelihood activity(ies) identification</a:t>
            </a:r>
            <a:endParaRPr sz="2933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91053" lvl="0" marL="2438339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entury Gothic"/>
              <a:buAutoNum type="alphaLcPeriod"/>
            </a:pPr>
            <a:r>
              <a:rPr lang="en-IN" sz="2933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Support required for identified Livelihood Activities</a:t>
            </a:r>
            <a:endParaRPr b="1" sz="2933">
              <a:solidFill>
                <a:srgbClr val="E0301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2" name="Google Shape;272;p14"/>
          <p:cNvSpPr txBox="1"/>
          <p:nvPr>
            <p:ph type="title"/>
          </p:nvPr>
        </p:nvSpPr>
        <p:spPr>
          <a:xfrm>
            <a:off x="301013" y="392302"/>
            <a:ext cx="11590000" cy="759078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3333">
                <a:latin typeface="Arial"/>
                <a:ea typeface="Arial"/>
                <a:cs typeface="Arial"/>
                <a:sym typeface="Arial"/>
              </a:rPr>
              <a:t>Steps for Livelihood Planning with Lakhpati Didis</a:t>
            </a:r>
            <a:endParaRPr b="1" sz="45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 txBox="1"/>
          <p:nvPr>
            <p:ph type="ctrTitle"/>
          </p:nvPr>
        </p:nvSpPr>
        <p:spPr>
          <a:xfrm>
            <a:off x="1631852" y="2307101"/>
            <a:ext cx="9036148" cy="32215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IN" sz="3600" u="sng">
                <a:solidFill>
                  <a:schemeClr val="hlink"/>
                </a:solidFill>
                <a:hlinkClick r:id="rId3"/>
              </a:rPr>
              <a:t>https://docs.google.com/spreadsheets/d/12sytH15UkZni43aQvD3J5waHubAG1w-4/edit?usp=sharing&amp;ouid=107469613829008637202&amp;rtpof=true&amp;sd=true</a:t>
            </a:r>
            <a:br>
              <a:rPr lang="en-IN" sz="3600" u="sng"/>
            </a:br>
            <a:endParaRPr sz="3600" u="sng"/>
          </a:p>
        </p:txBody>
      </p:sp>
      <p:sp>
        <p:nvSpPr>
          <p:cNvPr id="278" name="Google Shape;278;p15"/>
          <p:cNvSpPr txBox="1"/>
          <p:nvPr>
            <p:ph idx="1" type="subTitle"/>
          </p:nvPr>
        </p:nvSpPr>
        <p:spPr>
          <a:xfrm>
            <a:off x="1524000" y="49307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lang="en-IN" sz="7200"/>
              <a:t>Planning tool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"/>
          <p:cNvSpPr/>
          <p:nvPr/>
        </p:nvSpPr>
        <p:spPr>
          <a:xfrm>
            <a:off x="160600" y="954332"/>
            <a:ext cx="11870800" cy="56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465655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AutoNum type="arabicPeriod"/>
            </a:pPr>
            <a:r>
              <a:rPr lang="en-IN" sz="2667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Lakhpati Didi must discuss and decide the livelihood activity/ activities  in consultation with her family</a:t>
            </a:r>
            <a:endParaRPr sz="2667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74120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AutoNum type="arabicPeriod"/>
            </a:pPr>
            <a:r>
              <a:rPr lang="en-IN" sz="2667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existing assets, skills and resources available with the Lakhpati Didi HH must be discussed for each identified activity</a:t>
            </a:r>
            <a:endParaRPr sz="2667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74120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AutoNum type="arabicPeriod"/>
            </a:pPr>
            <a:r>
              <a:rPr lang="en-IN" sz="2667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economics (cost - benefit) of each identified activity must be understood by the Didi</a:t>
            </a:r>
            <a:endParaRPr sz="2667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74120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AutoNum type="arabicPeriod"/>
            </a:pPr>
            <a:r>
              <a:rPr lang="en-IN" sz="2667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CRP must discuss the associated risks (Production risk, market risk, etc) with the SHG HH before finalising the activity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74120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Century Gothic"/>
              <a:buAutoNum type="arabicPeriod"/>
            </a:pPr>
            <a:r>
              <a:rPr lang="en-IN" sz="2667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resources / support required for the identified activities from outside must be identified by Lakhpati Didi and noted by the CRP in the tool</a:t>
            </a:r>
            <a:endParaRPr sz="2667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74120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Century Gothic"/>
              <a:buAutoNum type="arabicPeriod"/>
            </a:pPr>
            <a:r>
              <a:rPr lang="en-IN" sz="2667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 materials and Reference Documents must be readily available with the CRP during Plan Preparation.</a:t>
            </a:r>
            <a:endParaRPr sz="2667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33">
              <a:solidFill>
                <a:srgbClr val="E0301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4" name="Google Shape;284;p16"/>
          <p:cNvSpPr txBox="1"/>
          <p:nvPr>
            <p:ph type="title"/>
          </p:nvPr>
        </p:nvSpPr>
        <p:spPr>
          <a:xfrm>
            <a:off x="301013" y="87502"/>
            <a:ext cx="11590000" cy="759078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3333">
                <a:latin typeface="Arial"/>
                <a:ea typeface="Arial"/>
                <a:cs typeface="Arial"/>
                <a:sym typeface="Arial"/>
              </a:rPr>
              <a:t>Points of Reference for CRP During Plan Preparation </a:t>
            </a:r>
            <a:endParaRPr b="1" sz="45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"/>
          <p:cNvSpPr txBox="1"/>
          <p:nvPr>
            <p:ph type="title"/>
          </p:nvPr>
        </p:nvSpPr>
        <p:spPr>
          <a:xfrm>
            <a:off x="838200" y="365126"/>
            <a:ext cx="10515600" cy="605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IN" sz="3859">
                <a:latin typeface="Century Gothic"/>
                <a:ea typeface="Century Gothic"/>
                <a:cs typeface="Century Gothic"/>
                <a:sym typeface="Century Gothic"/>
              </a:rPr>
              <a:t>Role of VO/CLF</a:t>
            </a:r>
            <a:endParaRPr sz="3859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0" name="Google Shape;290;p17"/>
          <p:cNvSpPr txBox="1"/>
          <p:nvPr>
            <p:ph idx="1" type="body"/>
          </p:nvPr>
        </p:nvSpPr>
        <p:spPr>
          <a:xfrm>
            <a:off x="838200" y="1266092"/>
            <a:ext cx="10515600" cy="4910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170307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Char char="•"/>
            </a:pPr>
            <a:r>
              <a:rPr lang="en-IN" sz="2520">
                <a:latin typeface="Century Gothic"/>
                <a:ea typeface="Century Gothic"/>
                <a:cs typeface="Century Gothic"/>
                <a:sym typeface="Century Gothic"/>
              </a:rPr>
              <a:t>Orientation of SHG members in facilitation  of CRP</a:t>
            </a:r>
            <a:endParaRPr sz="196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0307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Char char="•"/>
            </a:pPr>
            <a:r>
              <a:rPr lang="en-IN" sz="2520">
                <a:latin typeface="Century Gothic"/>
                <a:ea typeface="Century Gothic"/>
                <a:cs typeface="Century Gothic"/>
                <a:sym typeface="Century Gothic"/>
              </a:rPr>
              <a:t>Fix time and date of meeting at SHG household and follow up </a:t>
            </a:r>
            <a:endParaRPr sz="196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0307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Char char="•"/>
            </a:pPr>
            <a:r>
              <a:rPr lang="en-IN" sz="2520">
                <a:latin typeface="Century Gothic"/>
                <a:ea typeface="Century Gothic"/>
                <a:cs typeface="Century Gothic"/>
                <a:sym typeface="Century Gothic"/>
              </a:rPr>
              <a:t>Collated data of SHG household planning will be viewed and follow up action on the same through</a:t>
            </a:r>
            <a:endParaRPr sz="196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0307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Char char="❑"/>
            </a:pPr>
            <a:r>
              <a:rPr lang="en-IN" sz="2520">
                <a:latin typeface="Century Gothic"/>
                <a:ea typeface="Century Gothic"/>
                <a:cs typeface="Century Gothic"/>
                <a:sym typeface="Century Gothic"/>
              </a:rPr>
              <a:t> convergence with line department/GP</a:t>
            </a:r>
            <a:endParaRPr sz="196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0307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Char char="❑"/>
            </a:pPr>
            <a:r>
              <a:rPr lang="en-IN" sz="2520">
                <a:latin typeface="Century Gothic"/>
                <a:ea typeface="Century Gothic"/>
                <a:cs typeface="Century Gothic"/>
                <a:sym typeface="Century Gothic"/>
              </a:rPr>
              <a:t>Financing for the project through CIF/bank linkage(different schemes like interest subvention, Mudra etc. </a:t>
            </a:r>
            <a:endParaRPr sz="196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0307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Char char="❑"/>
            </a:pPr>
            <a:r>
              <a:rPr lang="en-IN" sz="2520">
                <a:latin typeface="Century Gothic"/>
                <a:ea typeface="Century Gothic"/>
                <a:cs typeface="Century Gothic"/>
                <a:sym typeface="Century Gothic"/>
              </a:rPr>
              <a:t>Skill enhancement/capacity building with the support of expert agencies</a:t>
            </a:r>
            <a:endParaRPr sz="252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0307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Century Gothic"/>
              <a:buChar char="❑"/>
            </a:pPr>
            <a:r>
              <a:rPr lang="en-IN" sz="2520">
                <a:latin typeface="Century Gothic"/>
                <a:ea typeface="Century Gothic"/>
                <a:cs typeface="Century Gothic"/>
                <a:sym typeface="Century Gothic"/>
              </a:rPr>
              <a:t>Market linkage for individual/producer collectives</a:t>
            </a:r>
            <a:endParaRPr sz="252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0307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Char char="•"/>
            </a:pPr>
            <a:r>
              <a:rPr lang="en-IN" sz="2520">
                <a:latin typeface="Century Gothic"/>
                <a:ea typeface="Century Gothic"/>
                <a:cs typeface="Century Gothic"/>
                <a:sym typeface="Century Gothic"/>
              </a:rPr>
              <a:t>Follow up of the progress in planned activity at SHG household through Aajeevika register with facilitation from CRPand support from SRLM</a:t>
            </a:r>
            <a:endParaRPr sz="196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7747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6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7747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6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"/>
          <p:cNvSpPr txBox="1"/>
          <p:nvPr>
            <p:ph type="ctrTitle"/>
          </p:nvPr>
        </p:nvSpPr>
        <p:spPr>
          <a:xfrm>
            <a:off x="1524000" y="1122363"/>
            <a:ext cx="9144000" cy="10159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Aajeevika Register</a:t>
            </a:r>
            <a:endParaRPr/>
          </a:p>
        </p:txBody>
      </p:sp>
      <p:sp>
        <p:nvSpPr>
          <p:cNvPr id="296" name="Google Shape;296;p18"/>
          <p:cNvSpPr txBox="1"/>
          <p:nvPr>
            <p:ph idx="1" type="subTitle"/>
          </p:nvPr>
        </p:nvSpPr>
        <p:spPr>
          <a:xfrm>
            <a:off x="1524000" y="4009292"/>
            <a:ext cx="9144000" cy="1248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u="sng">
                <a:solidFill>
                  <a:schemeClr val="hlink"/>
                </a:solidFill>
                <a:hlinkClick r:id="rId3"/>
              </a:rPr>
              <a:t>https://docs.google.com/spreadsheets/d/1LT9ONrnED1pkUJqsmcfzIfuGGLbjSUPN/edit?usp=sharing&amp;ouid=107469613829008637202&amp;rtpof=true&amp;sd=true</a:t>
            </a:r>
            <a:endParaRPr u="sng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u="sn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2023-12-28T05:44:35Z</dcterms:created>
  <dc:creator>AANYA DHYANI</dc:creator>
</cp:coreProperties>
</file>