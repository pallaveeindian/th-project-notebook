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Sniglet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OVkIvwDl5zQCRTbqH92gk/ZWs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nigle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1565325e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61565325e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261565325e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710c9e988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710c9e988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26710c9e988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710c9e98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710c9e98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6710c9e98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075d0b42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26075d0b4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26075d0b42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8"/>
          <p:cNvSpPr/>
          <p:nvPr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8"/>
          <p:cNvSpPr txBox="1"/>
          <p:nvPr>
            <p:ph idx="1" type="body"/>
          </p:nvPr>
        </p:nvSpPr>
        <p:spPr>
          <a:xfrm>
            <a:off x="442912" y="2103120"/>
            <a:ext cx="11306175" cy="40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AutoNum type="arabicPeriod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68"/>
          <p:cNvSpPr txBox="1"/>
          <p:nvPr>
            <p:ph type="title"/>
          </p:nvPr>
        </p:nvSpPr>
        <p:spPr>
          <a:xfrm>
            <a:off x="442913" y="432000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6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6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Layout">
  <p:cSld name="1_Agenda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/>
          <p:nvPr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2.png" id="23" name="Google Shape;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14" y="3909054"/>
            <a:ext cx="1260665" cy="279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9"/>
          <p:cNvSpPr txBox="1"/>
          <p:nvPr>
            <p:ph idx="1" type="body"/>
          </p:nvPr>
        </p:nvSpPr>
        <p:spPr>
          <a:xfrm>
            <a:off x="839788" y="1885361"/>
            <a:ext cx="5157787" cy="430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9"/>
          <p:cNvSpPr txBox="1"/>
          <p:nvPr>
            <p:ph idx="2" type="body"/>
          </p:nvPr>
        </p:nvSpPr>
        <p:spPr>
          <a:xfrm>
            <a:off x="6172200" y="1885361"/>
            <a:ext cx="5183188" cy="4304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6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69"/>
          <p:cNvSpPr txBox="1"/>
          <p:nvPr/>
        </p:nvSpPr>
        <p:spPr>
          <a:xfrm>
            <a:off x="200025" y="666750"/>
            <a:ext cx="495300" cy="4676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asic Layout">
  <p:cSld name="4_Basic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3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Big Image">
    <p:bg>
      <p:bgPr>
        <a:solidFill>
          <a:srgbClr val="2A95B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ene_trans.png" id="34" name="Google Shape;3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19050">
              <a:srgbClr val="000000">
                <a:alpha val="22352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/>
          <p:nvPr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2.png" id="38" name="Google Shape;3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645" y="1250975"/>
            <a:ext cx="2112235" cy="4687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002-KIMS BUSINESS\007-02-Fullslidesppt-Contents\20161228\02-edu\bulb-item.png" id="39" name="Google Shape;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646" y="1250975"/>
            <a:ext cx="1056117" cy="4687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asic Layout">
  <p:cSld name="3_Basic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/>
          <p:nvPr/>
        </p:nvSpPr>
        <p:spPr>
          <a:xfrm>
            <a:off x="0" y="4533123"/>
            <a:ext cx="12192000" cy="2324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2"/>
          <p:cNvSpPr/>
          <p:nvPr/>
        </p:nvSpPr>
        <p:spPr>
          <a:xfrm>
            <a:off x="5391415" y="3813043"/>
            <a:ext cx="1440160" cy="1440160"/>
          </a:xfrm>
          <a:prstGeom prst="ellipse">
            <a:avLst/>
          </a:prstGeom>
          <a:solidFill>
            <a:schemeClr val="accent1"/>
          </a:solidFill>
          <a:ln cap="flat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.png" id="45" name="Google Shape;4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7409" y="4013590"/>
            <a:ext cx="468171" cy="1039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Contents Layout">
  <p:cSld name="Images and Contents Layou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191344" y="123479"/>
            <a:ext cx="11809312" cy="6611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idx="2" type="body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1867"/>
              <a:buFont typeface="Arial"/>
              <a:buNone/>
              <a:defRPr b="0" i="0" sz="18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4"/>
          <p:cNvSpPr/>
          <p:nvPr>
            <p:ph idx="3" type="pic"/>
          </p:nvPr>
        </p:nvSpPr>
        <p:spPr>
          <a:xfrm>
            <a:off x="0" y="1797032"/>
            <a:ext cx="2880320" cy="249606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4"/>
          <p:cNvSpPr/>
          <p:nvPr>
            <p:ph idx="4" type="pic"/>
          </p:nvPr>
        </p:nvSpPr>
        <p:spPr>
          <a:xfrm>
            <a:off x="3103893" y="1797032"/>
            <a:ext cx="2880320" cy="249606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34"/>
          <p:cNvSpPr/>
          <p:nvPr>
            <p:ph idx="5" type="pic"/>
          </p:nvPr>
        </p:nvSpPr>
        <p:spPr>
          <a:xfrm>
            <a:off x="6207787" y="1797032"/>
            <a:ext cx="2880320" cy="249606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" name="Google Shape;53;p34"/>
          <p:cNvSpPr/>
          <p:nvPr>
            <p:ph idx="6" type="pic"/>
          </p:nvPr>
        </p:nvSpPr>
        <p:spPr>
          <a:xfrm>
            <a:off x="9311680" y="1797032"/>
            <a:ext cx="2880320" cy="249606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34"/>
          <p:cNvSpPr/>
          <p:nvPr/>
        </p:nvSpPr>
        <p:spPr>
          <a:xfrm>
            <a:off x="0" y="4293096"/>
            <a:ext cx="2880000" cy="2112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4"/>
          <p:cNvSpPr/>
          <p:nvPr/>
        </p:nvSpPr>
        <p:spPr>
          <a:xfrm>
            <a:off x="3104000" y="4293096"/>
            <a:ext cx="2880000" cy="2112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4"/>
          <p:cNvSpPr/>
          <p:nvPr/>
        </p:nvSpPr>
        <p:spPr>
          <a:xfrm>
            <a:off x="6208000" y="4293096"/>
            <a:ext cx="2880000" cy="2112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4"/>
          <p:cNvSpPr/>
          <p:nvPr/>
        </p:nvSpPr>
        <p:spPr>
          <a:xfrm>
            <a:off x="9312000" y="4293096"/>
            <a:ext cx="2880000" cy="2112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s and Contents Layout">
  <p:cSld name="1_Images and Contents Layou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/>
          <p:nvPr/>
        </p:nvSpPr>
        <p:spPr>
          <a:xfrm>
            <a:off x="0" y="3909485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2" name="Google Shape;6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7701" y="1508787"/>
            <a:ext cx="9640360" cy="490324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/>
          <p:nvPr>
            <p:ph idx="3" type="pic"/>
          </p:nvPr>
        </p:nvSpPr>
        <p:spPr>
          <a:xfrm>
            <a:off x="6017974" y="2168343"/>
            <a:ext cx="4620289" cy="341680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" name="Google Shape;64;p35"/>
          <p:cNvSpPr/>
          <p:nvPr/>
        </p:nvSpPr>
        <p:spPr>
          <a:xfrm>
            <a:off x="623392" y="4485118"/>
            <a:ext cx="4032448" cy="13441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and Contents Layout">
  <p:cSld name="2_Images and Contents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idx="1" type="body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6"/>
          <p:cNvSpPr txBox="1"/>
          <p:nvPr>
            <p:ph idx="2" type="body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6"/>
          <p:cNvSpPr/>
          <p:nvPr/>
        </p:nvSpPr>
        <p:spPr>
          <a:xfrm>
            <a:off x="0" y="2346339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Fullppt\PNG이미지\핸드폰2.png" id="69" name="Google Shape;6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44" y="1389641"/>
            <a:ext cx="3825696" cy="463284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6"/>
          <p:cNvSpPr/>
          <p:nvPr>
            <p:ph idx="3" type="pic"/>
          </p:nvPr>
        </p:nvSpPr>
        <p:spPr>
          <a:xfrm>
            <a:off x="9840416" y="1566977"/>
            <a:ext cx="1344149" cy="340813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" name="Google Shape;71;p36"/>
          <p:cNvSpPr/>
          <p:nvPr>
            <p:ph idx="4" type="pic"/>
          </p:nvPr>
        </p:nvSpPr>
        <p:spPr>
          <a:xfrm>
            <a:off x="7524359" y="1681512"/>
            <a:ext cx="2206355" cy="340813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s and Contents Layout">
  <p:cSld name="4_Images and Contents Layou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/>
          <p:nvPr>
            <p:ph idx="2" type="pic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" name="Google Shape;74;p37"/>
          <p:cNvSpPr/>
          <p:nvPr/>
        </p:nvSpPr>
        <p:spPr>
          <a:xfrm>
            <a:off x="6480043" y="0"/>
            <a:ext cx="4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7"/>
          <p:cNvSpPr/>
          <p:nvPr/>
        </p:nvSpPr>
        <p:spPr>
          <a:xfrm>
            <a:off x="6528043" y="1749000"/>
            <a:ext cx="240000" cy="3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mages and Contents Layout">
  <p:cSld name="5_Images and Contents Layout">
    <p:bg>
      <p:bgPr>
        <a:solidFill>
          <a:schemeClr val="accen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/>
          <p:nvPr>
            <p:ph idx="2" type="pic"/>
          </p:nvPr>
        </p:nvSpPr>
        <p:spPr>
          <a:xfrm>
            <a:off x="0" y="-1"/>
            <a:ext cx="12192000" cy="4102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Images and Contents Layout">
  <p:cSld name="6_Images and Contents Lay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idx="1" type="body"/>
          </p:nvPr>
        </p:nvSpPr>
        <p:spPr>
          <a:xfrm>
            <a:off x="4175787" y="242176"/>
            <a:ext cx="8016213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39"/>
          <p:cNvSpPr txBox="1"/>
          <p:nvPr>
            <p:ph idx="2" type="body"/>
          </p:nvPr>
        </p:nvSpPr>
        <p:spPr>
          <a:xfrm>
            <a:off x="4175787" y="1010261"/>
            <a:ext cx="8016213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9"/>
          <p:cNvSpPr/>
          <p:nvPr>
            <p:ph idx="3" type="pic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2" name="Google Shape;82;p39"/>
          <p:cNvSpPr/>
          <p:nvPr>
            <p:ph idx="4" type="pic"/>
          </p:nvPr>
        </p:nvSpPr>
        <p:spPr>
          <a:xfrm>
            <a:off x="4195293" y="1508787"/>
            <a:ext cx="4079776" cy="53492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s and Contents Layout">
  <p:cSld name="3_Images and Contents Lay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/>
          <p:nvPr/>
        </p:nvSpPr>
        <p:spPr>
          <a:xfrm>
            <a:off x="0" y="548680"/>
            <a:ext cx="8592277" cy="5760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0"/>
          <p:cNvSpPr/>
          <p:nvPr>
            <p:ph idx="2" type="pic"/>
          </p:nvPr>
        </p:nvSpPr>
        <p:spPr>
          <a:xfrm>
            <a:off x="180829" y="260650"/>
            <a:ext cx="2592288" cy="63367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6" name="Google Shape;86;p40"/>
          <p:cNvSpPr/>
          <p:nvPr>
            <p:ph idx="3" type="pic"/>
          </p:nvPr>
        </p:nvSpPr>
        <p:spPr>
          <a:xfrm>
            <a:off x="2965139" y="260650"/>
            <a:ext cx="2592288" cy="63367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40"/>
          <p:cNvSpPr/>
          <p:nvPr>
            <p:ph idx="4" type="pic"/>
          </p:nvPr>
        </p:nvSpPr>
        <p:spPr>
          <a:xfrm>
            <a:off x="5749448" y="260650"/>
            <a:ext cx="2592288" cy="63367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Images and Contents Layout">
  <p:cSld name="7_Images and Contents Layout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/>
          <p:nvPr>
            <p:ph idx="2" type="pic"/>
          </p:nvPr>
        </p:nvSpPr>
        <p:spPr>
          <a:xfrm>
            <a:off x="8592277" y="356659"/>
            <a:ext cx="2880000" cy="28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" name="Google Shape;90;p41"/>
          <p:cNvSpPr/>
          <p:nvPr>
            <p:ph idx="3" type="pic"/>
          </p:nvPr>
        </p:nvSpPr>
        <p:spPr>
          <a:xfrm>
            <a:off x="8592277" y="3621021"/>
            <a:ext cx="2880000" cy="28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1" name="Google Shape;91;p41"/>
          <p:cNvSpPr/>
          <p:nvPr>
            <p:ph idx="4" type="pic"/>
          </p:nvPr>
        </p:nvSpPr>
        <p:spPr>
          <a:xfrm>
            <a:off x="5314951" y="356659"/>
            <a:ext cx="2880000" cy="28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" name="Google Shape;92;p41"/>
          <p:cNvSpPr/>
          <p:nvPr>
            <p:ph idx="5" type="pic"/>
          </p:nvPr>
        </p:nvSpPr>
        <p:spPr>
          <a:xfrm>
            <a:off x="5314951" y="3621021"/>
            <a:ext cx="2880000" cy="28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Images and Contents Layout">
  <p:cSld name="8_Images and Contents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2"/>
          <p:cNvSpPr txBox="1"/>
          <p:nvPr>
            <p:ph idx="1" type="body"/>
          </p:nvPr>
        </p:nvSpPr>
        <p:spPr>
          <a:xfrm>
            <a:off x="527381" y="4389107"/>
            <a:ext cx="11664619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42"/>
          <p:cNvSpPr txBox="1"/>
          <p:nvPr>
            <p:ph idx="2" type="body"/>
          </p:nvPr>
        </p:nvSpPr>
        <p:spPr>
          <a:xfrm>
            <a:off x="527381" y="5157192"/>
            <a:ext cx="11664619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42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2"/>
          <p:cNvSpPr/>
          <p:nvPr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2"/>
          <p:cNvSpPr/>
          <p:nvPr>
            <p:ph idx="3" type="pic"/>
          </p:nvPr>
        </p:nvSpPr>
        <p:spPr>
          <a:xfrm>
            <a:off x="623392" y="452669"/>
            <a:ext cx="4416171" cy="374409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9" name="Google Shape;99;p42"/>
          <p:cNvSpPr/>
          <p:nvPr>
            <p:ph idx="4" type="pic"/>
          </p:nvPr>
        </p:nvSpPr>
        <p:spPr>
          <a:xfrm>
            <a:off x="5327915" y="452669"/>
            <a:ext cx="6240693" cy="17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0" name="Google Shape;100;p42"/>
          <p:cNvSpPr/>
          <p:nvPr>
            <p:ph idx="5" type="pic"/>
          </p:nvPr>
        </p:nvSpPr>
        <p:spPr>
          <a:xfrm>
            <a:off x="5327915" y="2420765"/>
            <a:ext cx="1920000" cy="17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42"/>
          <p:cNvSpPr/>
          <p:nvPr>
            <p:ph idx="6" type="pic"/>
          </p:nvPr>
        </p:nvSpPr>
        <p:spPr>
          <a:xfrm>
            <a:off x="7488261" y="2420765"/>
            <a:ext cx="1920000" cy="17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2" name="Google Shape;102;p42"/>
          <p:cNvSpPr/>
          <p:nvPr>
            <p:ph idx="7" type="pic"/>
          </p:nvPr>
        </p:nvSpPr>
        <p:spPr>
          <a:xfrm>
            <a:off x="9648608" y="2420765"/>
            <a:ext cx="1920000" cy="17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pes sets layout">
  <p:cSld name="shapes sets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 txBox="1"/>
          <p:nvPr>
            <p:ph idx="1" type="body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sets layout">
  <p:cSld name="icon sets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4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44"/>
          <p:cNvSpPr/>
          <p:nvPr/>
        </p:nvSpPr>
        <p:spPr>
          <a:xfrm>
            <a:off x="472011" y="1508786"/>
            <a:ext cx="3799787" cy="4865561"/>
          </a:xfrm>
          <a:prstGeom prst="roundRect">
            <a:avLst>
              <a:gd fmla="val 39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4"/>
          <p:cNvSpPr/>
          <p:nvPr/>
        </p:nvSpPr>
        <p:spPr>
          <a:xfrm>
            <a:off x="709243" y="1796667"/>
            <a:ext cx="144693" cy="4320631"/>
          </a:xfrm>
          <a:prstGeom prst="roundRect">
            <a:avLst>
              <a:gd fmla="val 50000" name="adj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4"/>
          <p:cNvSpPr/>
          <p:nvPr/>
        </p:nvSpPr>
        <p:spPr>
          <a:xfrm rot="5400000">
            <a:off x="3456857" y="1650935"/>
            <a:ext cx="669775" cy="669775"/>
          </a:xfrm>
          <a:prstGeom prst="halfFrame">
            <a:avLst>
              <a:gd fmla="val 23728" name="adj1"/>
              <a:gd fmla="val 24642" name="adj2"/>
            </a:avLst>
          </a:prstGeom>
          <a:solidFill>
            <a:schemeClr val="lt1">
              <a:alpha val="2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Image Full">
  <p:cSld name="Quote 1 Image Full">
    <p:bg>
      <p:bgPr>
        <a:solidFill>
          <a:srgbClr val="DEDED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0" y="1143000"/>
            <a:ext cx="4572000" cy="4572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6"/>
          <p:cNvSpPr/>
          <p:nvPr/>
        </p:nvSpPr>
        <p:spPr>
          <a:xfrm>
            <a:off x="442913" y="1623703"/>
            <a:ext cx="871539" cy="679451"/>
          </a:xfrm>
          <a:custGeom>
            <a:rect b="b" l="l" r="r" t="t"/>
            <a:pathLst>
              <a:path extrusionOk="0" h="1424" w="1811">
                <a:moveTo>
                  <a:pt x="1757" y="1424"/>
                </a:moveTo>
                <a:lnTo>
                  <a:pt x="1757" y="1424"/>
                </a:lnTo>
                <a:lnTo>
                  <a:pt x="1099" y="1424"/>
                </a:lnTo>
                <a:lnTo>
                  <a:pt x="1099" y="953"/>
                </a:lnTo>
                <a:cubicBezTo>
                  <a:pt x="1099" y="761"/>
                  <a:pt x="1115" y="610"/>
                  <a:pt x="1149" y="501"/>
                </a:cubicBezTo>
                <a:cubicBezTo>
                  <a:pt x="1183" y="392"/>
                  <a:pt x="1245" y="293"/>
                  <a:pt x="1337" y="206"/>
                </a:cubicBezTo>
                <a:cubicBezTo>
                  <a:pt x="1428" y="118"/>
                  <a:pt x="1543" y="50"/>
                  <a:pt x="1682" y="0"/>
                </a:cubicBezTo>
                <a:lnTo>
                  <a:pt x="1811" y="271"/>
                </a:lnTo>
                <a:cubicBezTo>
                  <a:pt x="1680" y="315"/>
                  <a:pt x="1586" y="376"/>
                  <a:pt x="1529" y="454"/>
                </a:cubicBezTo>
                <a:cubicBezTo>
                  <a:pt x="1472" y="532"/>
                  <a:pt x="1442" y="636"/>
                  <a:pt x="1439" y="766"/>
                </a:cubicBezTo>
                <a:lnTo>
                  <a:pt x="1757" y="766"/>
                </a:lnTo>
                <a:lnTo>
                  <a:pt x="1757" y="1424"/>
                </a:lnTo>
                <a:close/>
                <a:moveTo>
                  <a:pt x="658" y="1424"/>
                </a:moveTo>
                <a:lnTo>
                  <a:pt x="658" y="1424"/>
                </a:lnTo>
                <a:lnTo>
                  <a:pt x="0" y="1424"/>
                </a:lnTo>
                <a:lnTo>
                  <a:pt x="0" y="953"/>
                </a:lnTo>
                <a:cubicBezTo>
                  <a:pt x="0" y="763"/>
                  <a:pt x="16" y="612"/>
                  <a:pt x="50" y="502"/>
                </a:cubicBezTo>
                <a:cubicBezTo>
                  <a:pt x="83" y="392"/>
                  <a:pt x="146" y="293"/>
                  <a:pt x="236" y="206"/>
                </a:cubicBezTo>
                <a:cubicBezTo>
                  <a:pt x="327" y="118"/>
                  <a:pt x="442" y="50"/>
                  <a:pt x="583" y="0"/>
                </a:cubicBezTo>
                <a:lnTo>
                  <a:pt x="712" y="271"/>
                </a:lnTo>
                <a:cubicBezTo>
                  <a:pt x="581" y="315"/>
                  <a:pt x="487" y="376"/>
                  <a:pt x="430" y="454"/>
                </a:cubicBezTo>
                <a:cubicBezTo>
                  <a:pt x="373" y="532"/>
                  <a:pt x="342" y="636"/>
                  <a:pt x="339" y="766"/>
                </a:cubicBezTo>
                <a:lnTo>
                  <a:pt x="658" y="766"/>
                </a:lnTo>
                <a:lnTo>
                  <a:pt x="658" y="1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442914" y="432001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  <a:defRPr b="0" i="0" sz="32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442914" y="2103437"/>
            <a:ext cx="11306175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442912" y="6355080"/>
            <a:ext cx="5473701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953">
          <p15:clr>
            <a:srgbClr val="F26B43"/>
          </p15:clr>
        </p15:guide>
        <p15:guide id="5" pos="3727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726">
          <p15:clr>
            <a:srgbClr val="F26B43"/>
          </p15:clr>
        </p15:guide>
        <p15:guide id="8" pos="2502">
          <p15:clr>
            <a:srgbClr val="F26B43"/>
          </p15:clr>
        </p15:guide>
        <p15:guide id="9" pos="4952">
          <p15:clr>
            <a:srgbClr val="F26B43"/>
          </p15:clr>
        </p15:guide>
        <p15:guide id="10" pos="5177">
          <p15:clr>
            <a:srgbClr val="F26B43"/>
          </p15:clr>
        </p15:guide>
        <p15:guide id="11" orient="horz" pos="816">
          <p15:clr>
            <a:srgbClr val="F26B43"/>
          </p15:clr>
        </p15:guide>
        <p15:guide id="12" orient="horz" pos="2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6TMfYGKZ3vzyRXJJ9xiGKo0tzLmpbv7b/edit?usp=sharing&amp;ouid=107469613829008637202&amp;rtpof=true&amp;sd=tru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2sytH15UkZni43aQvD3J5waHubAG1w-4/edit?usp=sharing&amp;ouid=111221402645274011756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1565325e1_0_1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g261565325e1_0_1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g261565325e1_0_1"/>
          <p:cNvSpPr txBox="1"/>
          <p:nvPr>
            <p:ph idx="12" type="sldNum"/>
          </p:nvPr>
        </p:nvSpPr>
        <p:spPr>
          <a:xfrm>
            <a:off x="10426700" y="6492875"/>
            <a:ext cx="17653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261565325e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4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61565325e1_0_1"/>
          <p:cNvSpPr/>
          <p:nvPr/>
        </p:nvSpPr>
        <p:spPr>
          <a:xfrm>
            <a:off x="812700" y="1686850"/>
            <a:ext cx="4219200" cy="35937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47E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chemeClr val="lt1"/>
                </a:solidFill>
              </a:rPr>
              <a:t>Session -12</a:t>
            </a:r>
            <a:endParaRPr sz="27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>
                <a:solidFill>
                  <a:schemeClr val="lt1"/>
                </a:solidFill>
              </a:rPr>
              <a:t>Lakhpati Household Livelihood Planning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710c9e988_1_1"/>
          <p:cNvSpPr txBox="1"/>
          <p:nvPr>
            <p:ph idx="1" type="body"/>
          </p:nvPr>
        </p:nvSpPr>
        <p:spPr>
          <a:xfrm>
            <a:off x="48725" y="2405188"/>
            <a:ext cx="12192000" cy="768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None/>
            </a:pPr>
            <a:r>
              <a:rPr lang="en-IN"/>
              <a:t>Day-1</a:t>
            </a:r>
            <a:endParaRPr/>
          </a:p>
        </p:txBody>
      </p:sp>
      <p:sp>
        <p:nvSpPr>
          <p:cNvPr id="139" name="Google Shape;139;g26710c9e988_1_1"/>
          <p:cNvSpPr txBox="1"/>
          <p:nvPr>
            <p:ph idx="2" type="body"/>
          </p:nvPr>
        </p:nvSpPr>
        <p:spPr>
          <a:xfrm>
            <a:off x="0" y="932723"/>
            <a:ext cx="12192000" cy="38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7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idx="1" type="body"/>
          </p:nvPr>
        </p:nvSpPr>
        <p:spPr>
          <a:xfrm>
            <a:off x="442912" y="1083213"/>
            <a:ext cx="11306175" cy="5093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/>
              <a:t>Lakhpati concept(why &amp; what)</a:t>
            </a:r>
            <a:endParaRPr/>
          </a:p>
          <a:p>
            <a:pPr indent="-4064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/>
              <a:t>Strategy for Lakhpati SHG household livelihood planning</a:t>
            </a:r>
            <a:endParaRPr/>
          </a:p>
          <a:p>
            <a:pPr indent="-4064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/>
              <a:t>Role play for understanding livelihood planning processes</a:t>
            </a:r>
            <a:endParaRPr/>
          </a:p>
          <a:p>
            <a:pPr indent="-4064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/>
              <a:t>Demonstration on the livelihood planning template to be filled by household and sharing its hard copy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p1"/>
          <p:cNvSpPr txBox="1"/>
          <p:nvPr>
            <p:ph type="title"/>
          </p:nvPr>
        </p:nvSpPr>
        <p:spPr>
          <a:xfrm>
            <a:off x="442913" y="432001"/>
            <a:ext cx="11306175" cy="65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3200"/>
              <a:t>Points for discussions with SHG households</a:t>
            </a:r>
            <a:endParaRPr/>
          </a:p>
        </p:txBody>
      </p:sp>
      <p:sp>
        <p:nvSpPr>
          <p:cNvPr id="146" name="Google Shape;146;p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3179298" y="1505243"/>
            <a:ext cx="797638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Lakhpati concept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442912" y="2103120"/>
            <a:ext cx="11306175" cy="40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/>
              <a:t>NRLM Mission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50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/>
              <a:t>“To reduce poverty by enabling the poor households to access gainful self-employment and skilled wage employment opportunities, resulting in an appreciable improvement in their livelihoods on a sustainable basis, through building strong grassroots institutions of the poor.”</a:t>
            </a:r>
            <a:endParaRPr/>
          </a:p>
        </p:txBody>
      </p:sp>
      <p:sp>
        <p:nvSpPr>
          <p:cNvPr id="157" name="Google Shape;157;p4"/>
          <p:cNvSpPr txBox="1"/>
          <p:nvPr>
            <p:ph type="title"/>
          </p:nvPr>
        </p:nvSpPr>
        <p:spPr>
          <a:xfrm>
            <a:off x="560092" y="608204"/>
            <a:ext cx="11306175" cy="615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/>
              <a:t>Mission statement of NRLM</a:t>
            </a:r>
            <a:endParaRPr/>
          </a:p>
        </p:txBody>
      </p:sp>
      <p:sp>
        <p:nvSpPr>
          <p:cNvPr id="158" name="Google Shape;158;p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978819" y="3275112"/>
            <a:ext cx="50361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  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442912" y="2103120"/>
            <a:ext cx="11306175" cy="40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200"/>
              <a:t>Today 10 crore women are involved in women self-help groups and if you go to a village with women self-help groups, you will find bank didis, Anganwadi didis with and didis who distribute medicines. And now my dream is to create a base of 2 crore lakhpati didis in the villages.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 txBox="1"/>
          <p:nvPr>
            <p:ph type="title"/>
          </p:nvPr>
        </p:nvSpPr>
        <p:spPr>
          <a:xfrm>
            <a:off x="442913" y="432000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IN" sz="3200"/>
              <a:t>Hon’ble Prime Minister on the 77th Independence Day:</a:t>
            </a:r>
            <a:br>
              <a:rPr lang="en-IN" sz="3200"/>
            </a:br>
            <a:r>
              <a:rPr b="1" lang="en-IN"/>
              <a:t> (15th August, 2023)  </a:t>
            </a:r>
            <a:br>
              <a:rPr lang="en-IN"/>
            </a:br>
            <a:br>
              <a:rPr lang="en-IN"/>
            </a:br>
            <a:endParaRPr/>
          </a:p>
        </p:txBody>
      </p:sp>
      <p:sp>
        <p:nvSpPr>
          <p:cNvPr id="177" name="Google Shape;177;p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>
            <p:ph idx="2" type="pic"/>
          </p:nvPr>
        </p:nvSpPr>
        <p:spPr>
          <a:xfrm>
            <a:off x="0" y="7620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5" name="Google Shape;185;p10"/>
          <p:cNvSpPr txBox="1"/>
          <p:nvPr>
            <p:ph idx="1" type="body"/>
          </p:nvPr>
        </p:nvSpPr>
        <p:spPr>
          <a:xfrm>
            <a:off x="51114" y="1142999"/>
            <a:ext cx="5210203" cy="5215597"/>
          </a:xfrm>
          <a:prstGeom prst="rect">
            <a:avLst/>
          </a:prstGeom>
          <a:solidFill>
            <a:srgbClr val="38B6A1"/>
          </a:solidFill>
          <a:ln>
            <a:noFill/>
          </a:ln>
        </p:spPr>
        <p:txBody>
          <a:bodyPr anchorCtr="0" anchor="t" bIns="180000" lIns="438900" spcFirstLastPara="1" rIns="252000" wrap="square" tIns="14400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lang="en-IN" sz="5400"/>
              <a:t>Strategy for livelihoods planning</a:t>
            </a:r>
            <a:endParaRPr/>
          </a:p>
        </p:txBody>
      </p:sp>
      <p:sp>
        <p:nvSpPr>
          <p:cNvPr id="186" name="Google Shape;186;p10"/>
          <p:cNvSpPr txBox="1"/>
          <p:nvPr>
            <p:ph idx="12" type="sldNum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1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5261317" y="1617784"/>
            <a:ext cx="5795889" cy="4681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Session will cover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livelihood activities of SHG household, (1)Enhance productivity in different activities by adopting GMP/SoPs  or (2)scaling up of existing activities or (3)diversifying into new livelihood activities or a combination thereof.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idx="1" type="body"/>
          </p:nvPr>
        </p:nvSpPr>
        <p:spPr>
          <a:xfrm>
            <a:off x="442912" y="2103120"/>
            <a:ext cx="11306175" cy="4073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/>
              <a:t>Role play script: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800"/>
          </a:p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https://docs.google.com/document/d/16TMfYGKZ3vzyRXJJ9xiGKo0tzLmpbv7b/edit?usp=sharing&amp;ouid=107469613829008637202&amp;rtpof=true&amp;sd=true</a:t>
            </a:r>
            <a:endParaRPr sz="3800"/>
          </a:p>
          <a:p>
            <a:pPr indent="0" lvl="0" marL="50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442913" y="432000"/>
            <a:ext cx="11306175" cy="138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IN" sz="3200"/>
              <a:t>Group  activity on diversification of livelihoods portfolio of SHG household</a:t>
            </a:r>
            <a:endParaRPr b="1"/>
          </a:p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710c9e988_0_1"/>
          <p:cNvSpPr txBox="1"/>
          <p:nvPr>
            <p:ph idx="1" type="body"/>
          </p:nvPr>
        </p:nvSpPr>
        <p:spPr>
          <a:xfrm>
            <a:off x="442912" y="2103120"/>
            <a:ext cx="11306100" cy="407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https://docs.google.com/spreadsheets/d/12sytH15UkZni43aQvD3J5waHubAG1w-4/edit?usp=sharing&amp;ouid=111221402645274011756&amp;rtpof=true&amp;sd=true</a:t>
            </a:r>
            <a:endParaRPr sz="3900"/>
          </a:p>
        </p:txBody>
      </p:sp>
      <p:sp>
        <p:nvSpPr>
          <p:cNvPr id="201" name="Google Shape;201;g26710c9e988_0_1"/>
          <p:cNvSpPr txBox="1"/>
          <p:nvPr>
            <p:ph type="title"/>
          </p:nvPr>
        </p:nvSpPr>
        <p:spPr>
          <a:xfrm>
            <a:off x="442925" y="432000"/>
            <a:ext cx="11306100" cy="8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/>
              <a:t>Livelihood planning template</a:t>
            </a:r>
            <a:endParaRPr sz="3200"/>
          </a:p>
        </p:txBody>
      </p:sp>
      <p:sp>
        <p:nvSpPr>
          <p:cNvPr id="202" name="Google Shape;202;g26710c9e988_0_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075d0b429_0_0"/>
          <p:cNvSpPr txBox="1"/>
          <p:nvPr>
            <p:ph idx="1" type="body"/>
          </p:nvPr>
        </p:nvSpPr>
        <p:spPr>
          <a:xfrm>
            <a:off x="-173750" y="138213"/>
            <a:ext cx="12192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4800"/>
              <a:buNone/>
            </a:pPr>
            <a:r>
              <a:rPr lang="en-IN"/>
              <a:t>Day-2</a:t>
            </a:r>
            <a:endParaRPr/>
          </a:p>
        </p:txBody>
      </p:sp>
      <p:sp>
        <p:nvSpPr>
          <p:cNvPr id="209" name="Google Shape;209;g26075d0b429_0_0"/>
          <p:cNvSpPr txBox="1"/>
          <p:nvPr/>
        </p:nvSpPr>
        <p:spPr>
          <a:xfrm>
            <a:off x="53875" y="1247525"/>
            <a:ext cx="11933400" cy="51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/>
              <a:t>One day </a:t>
            </a:r>
            <a:r>
              <a:rPr lang="en-IN" sz="3200"/>
              <a:t>Orientation of SHG HouseHolds with common activity by the domain experts/exposure visit to existing models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901600" y="2846356"/>
            <a:ext cx="10388800" cy="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8000"/>
              <a:buFont typeface="Bookman Old Style"/>
              <a:buNone/>
            </a:pPr>
            <a:r>
              <a:rPr b="0" i="0" lang="en-IN" sz="8000" u="none" cap="none" strike="noStrike">
                <a:solidFill>
                  <a:srgbClr val="F3F3F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b="0" i="0" sz="8000" u="none" cap="none" strike="noStrike">
              <a:solidFill>
                <a:srgbClr val="F3F3F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19050">
              <a:srgbClr val="000000">
                <a:alpha val="22352"/>
              </a:srgbClr>
            </a:outerShdw>
          </a:effectLst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wC">
  <a:themeElements>
    <a:clrScheme name="PwC Colors">
      <a:dk1>
        <a:srgbClr val="000000"/>
      </a:dk1>
      <a:lt1>
        <a:srgbClr val="FFFFFF"/>
      </a:lt1>
      <a:dk2>
        <a:srgbClr val="7D7D7D"/>
      </a:dk2>
      <a:lt2>
        <a:srgbClr val="DEDEDE"/>
      </a:lt2>
      <a:accent1>
        <a:srgbClr val="D04A02"/>
      </a:accent1>
      <a:accent2>
        <a:srgbClr val="FFB600"/>
      </a:accent2>
      <a:accent3>
        <a:srgbClr val="E0301E"/>
      </a:accent3>
      <a:accent4>
        <a:srgbClr val="EB8C00"/>
      </a:accent4>
      <a:accent5>
        <a:srgbClr val="DB536A"/>
      </a:accent5>
      <a:accent6>
        <a:srgbClr val="464646"/>
      </a:accent6>
      <a:hlink>
        <a:srgbClr val="D04A02"/>
      </a:hlink>
      <a:folHlink>
        <a:srgbClr val="DB53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ntents Slide Master">
  <a:themeElements>
    <a:clrScheme name="ALLPPT-COLOR-A19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2022-07-01T06:37:46Z</dcterms:created>
  <dc:creator>Sonal</dc:creator>
</cp:coreProperties>
</file>