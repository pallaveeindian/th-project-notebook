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PT Sans Narrow"/>
      <p:regular r:id="rId27"/>
      <p:bold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mFCPHAg6A/CmjzcAl3ThPbodO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TSansNarrow-bold.fntdata"/><Relationship Id="rId27" Type="http://schemas.openxmlformats.org/officeDocument/2006/relationships/font" Target="fonts/PTSansNarrow-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OpenSans-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OpenSans-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aba98fb69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aba98fb6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35a013436aa57d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435a013436aa57d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435a013436aa57d9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35a013436aa57d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aba98fb69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aba98fb69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10c85f05f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a10c85f05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a10c85f05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a10c85f05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a03f7ee081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a03f7ee08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03f7ee08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a03f7ee08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g29fca9523d5_1_465"/>
          <p:cNvCxnSpPr/>
          <p:nvPr/>
        </p:nvCxnSpPr>
        <p:spPr>
          <a:xfrm>
            <a:off x="9343647" y="4235850"/>
            <a:ext cx="7497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g29fca9523d5_1_465"/>
          <p:cNvCxnSpPr/>
          <p:nvPr/>
        </p:nvCxnSpPr>
        <p:spPr>
          <a:xfrm>
            <a:off x="2100047" y="4211002"/>
            <a:ext cx="7497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g29fca9523d5_1_465"/>
          <p:cNvGrpSpPr/>
          <p:nvPr/>
        </p:nvGrpSpPr>
        <p:grpSpPr>
          <a:xfrm>
            <a:off x="1338859" y="1362666"/>
            <a:ext cx="9515557" cy="203195"/>
            <a:chOff x="1346429" y="1011300"/>
            <a:chExt cx="6452100" cy="152400"/>
          </a:xfrm>
        </p:grpSpPr>
        <p:cxnSp>
          <p:nvCxnSpPr>
            <p:cNvPr id="13" name="Google Shape;13;g29fca9523d5_1_465"/>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g29fca9523d5_1_465"/>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g29fca9523d5_1_465"/>
          <p:cNvGrpSpPr/>
          <p:nvPr/>
        </p:nvGrpSpPr>
        <p:grpSpPr>
          <a:xfrm>
            <a:off x="1338868" y="5292001"/>
            <a:ext cx="9515557" cy="203195"/>
            <a:chOff x="1346435" y="3969088"/>
            <a:chExt cx="6452100" cy="152400"/>
          </a:xfrm>
        </p:grpSpPr>
        <p:cxnSp>
          <p:nvCxnSpPr>
            <p:cNvPr id="16" name="Google Shape;16;g29fca9523d5_1_465"/>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g29fca9523d5_1_465"/>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g29fca9523d5_1_465"/>
          <p:cNvSpPr txBox="1"/>
          <p:nvPr>
            <p:ph type="ctrTitle"/>
          </p:nvPr>
        </p:nvSpPr>
        <p:spPr>
          <a:xfrm>
            <a:off x="1338867" y="2335685"/>
            <a:ext cx="9515700" cy="13632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9" name="Google Shape;19;g29fca9523d5_1_465"/>
          <p:cNvSpPr txBox="1"/>
          <p:nvPr>
            <p:ph idx="1" type="subTitle"/>
          </p:nvPr>
        </p:nvSpPr>
        <p:spPr>
          <a:xfrm>
            <a:off x="2849633" y="3800052"/>
            <a:ext cx="64941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20" name="Google Shape;20;g29fca9523d5_1_46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g29fca9523d5_1_477"/>
          <p:cNvSpPr/>
          <p:nvPr/>
        </p:nvSpPr>
        <p:spPr>
          <a:xfrm>
            <a:off x="-67" y="3429200"/>
            <a:ext cx="12192000" cy="34287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 name="Google Shape;23;g29fca9523d5_1_477"/>
          <p:cNvSpPr txBox="1"/>
          <p:nvPr>
            <p:ph type="title"/>
          </p:nvPr>
        </p:nvSpPr>
        <p:spPr>
          <a:xfrm>
            <a:off x="415600" y="1086400"/>
            <a:ext cx="11428500" cy="12561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a:lvl1pPr>
            <a:lvl2pPr lvl="1" algn="ctr">
              <a:spcBef>
                <a:spcPts val="0"/>
              </a:spcBef>
              <a:spcAft>
                <a:spcPts val="0"/>
              </a:spcAft>
              <a:buSzPts val="4800"/>
              <a:buNone/>
              <a:defRPr/>
            </a:lvl2pPr>
            <a:lvl3pPr lvl="2" algn="ctr">
              <a:spcBef>
                <a:spcPts val="0"/>
              </a:spcBef>
              <a:spcAft>
                <a:spcPts val="0"/>
              </a:spcAft>
              <a:buSzPts val="4800"/>
              <a:buNone/>
              <a:defRPr/>
            </a:lvl3pPr>
            <a:lvl4pPr lvl="3" algn="ctr">
              <a:spcBef>
                <a:spcPts val="0"/>
              </a:spcBef>
              <a:spcAft>
                <a:spcPts val="0"/>
              </a:spcAft>
              <a:buSzPts val="4800"/>
              <a:buNone/>
              <a:defRPr/>
            </a:lvl4pPr>
            <a:lvl5pPr lvl="4" algn="ctr">
              <a:spcBef>
                <a:spcPts val="0"/>
              </a:spcBef>
              <a:spcAft>
                <a:spcPts val="0"/>
              </a:spcAft>
              <a:buSzPts val="4800"/>
              <a:buNone/>
              <a:defRPr/>
            </a:lvl5pPr>
            <a:lvl6pPr lvl="5" algn="ctr">
              <a:spcBef>
                <a:spcPts val="0"/>
              </a:spcBef>
              <a:spcAft>
                <a:spcPts val="0"/>
              </a:spcAft>
              <a:buSzPts val="4800"/>
              <a:buNone/>
              <a:defRPr/>
            </a:lvl6pPr>
            <a:lvl7pPr lvl="6" algn="ctr">
              <a:spcBef>
                <a:spcPts val="0"/>
              </a:spcBef>
              <a:spcAft>
                <a:spcPts val="0"/>
              </a:spcAft>
              <a:buSzPts val="4800"/>
              <a:buNone/>
              <a:defRPr/>
            </a:lvl7pPr>
            <a:lvl8pPr lvl="7" algn="ctr">
              <a:spcBef>
                <a:spcPts val="0"/>
              </a:spcBef>
              <a:spcAft>
                <a:spcPts val="0"/>
              </a:spcAft>
              <a:buSzPts val="4800"/>
              <a:buNone/>
              <a:defRPr/>
            </a:lvl8pPr>
            <a:lvl9pPr lvl="8" algn="ctr">
              <a:spcBef>
                <a:spcPts val="0"/>
              </a:spcBef>
              <a:spcAft>
                <a:spcPts val="0"/>
              </a:spcAft>
              <a:buSzPts val="4800"/>
              <a:buNone/>
              <a:defRPr/>
            </a:lvl9pPr>
          </a:lstStyle>
          <a:p/>
        </p:txBody>
      </p:sp>
      <p:sp>
        <p:nvSpPr>
          <p:cNvPr id="24" name="Google Shape;24;g29fca9523d5_1_47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g29fca9523d5_1_481"/>
          <p:cNvSpPr/>
          <p:nvPr/>
        </p:nvSpPr>
        <p:spPr>
          <a:xfrm>
            <a:off x="-100" y="6727600"/>
            <a:ext cx="12192000" cy="1305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29fca9523d5_1_481"/>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8" name="Google Shape;28;g29fca9523d5_1_481"/>
          <p:cNvSpPr txBox="1"/>
          <p:nvPr>
            <p:ph idx="1" type="body"/>
          </p:nvPr>
        </p:nvSpPr>
        <p:spPr>
          <a:xfrm>
            <a:off x="415600" y="1688433"/>
            <a:ext cx="11360700" cy="44037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9" name="Google Shape;29;g29fca9523d5_1_48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g29fca9523d5_1_486"/>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2" name="Google Shape;32;g29fca9523d5_1_486"/>
          <p:cNvSpPr txBox="1"/>
          <p:nvPr>
            <p:ph idx="1" type="body"/>
          </p:nvPr>
        </p:nvSpPr>
        <p:spPr>
          <a:xfrm>
            <a:off x="415600" y="1688233"/>
            <a:ext cx="5333100" cy="4403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3" name="Google Shape;33;g29fca9523d5_1_486"/>
          <p:cNvSpPr txBox="1"/>
          <p:nvPr>
            <p:ph idx="2" type="body"/>
          </p:nvPr>
        </p:nvSpPr>
        <p:spPr>
          <a:xfrm>
            <a:off x="6443200" y="1688233"/>
            <a:ext cx="5333100" cy="44037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4" name="Google Shape;34;g29fca9523d5_1_48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g29fca9523d5_1_491"/>
          <p:cNvSpPr txBox="1"/>
          <p:nvPr>
            <p:ph type="title"/>
          </p:nvPr>
        </p:nvSpPr>
        <p:spPr>
          <a:xfrm>
            <a:off x="415600" y="593367"/>
            <a:ext cx="11360700" cy="9432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 name="Google Shape;37;g29fca9523d5_1_4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g29fca9523d5_1_494"/>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0" name="Google Shape;40;g29fca9523d5_1_494"/>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1" name="Google Shape;41;g29fca9523d5_1_49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g29fca9523d5_1_498"/>
          <p:cNvSpPr txBox="1"/>
          <p:nvPr>
            <p:ph type="title"/>
          </p:nvPr>
        </p:nvSpPr>
        <p:spPr>
          <a:xfrm>
            <a:off x="653667" y="701800"/>
            <a:ext cx="74847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dk2"/>
              </a:buClr>
              <a:buSzPts val="7200"/>
              <a:buNone/>
              <a:defRPr b="0" sz="7200">
                <a:solidFill>
                  <a:schemeClr val="dk2"/>
                </a:solidFill>
              </a:defRPr>
            </a:lvl1pPr>
            <a:lvl2pPr lvl="1">
              <a:spcBef>
                <a:spcPts val="0"/>
              </a:spcBef>
              <a:spcAft>
                <a:spcPts val="0"/>
              </a:spcAft>
              <a:buClr>
                <a:schemeClr val="dk2"/>
              </a:buClr>
              <a:buSzPts val="7200"/>
              <a:buNone/>
              <a:defRPr b="0" sz="7200">
                <a:solidFill>
                  <a:schemeClr val="dk2"/>
                </a:solidFill>
              </a:defRPr>
            </a:lvl2pPr>
            <a:lvl3pPr lvl="2">
              <a:spcBef>
                <a:spcPts val="0"/>
              </a:spcBef>
              <a:spcAft>
                <a:spcPts val="0"/>
              </a:spcAft>
              <a:buClr>
                <a:schemeClr val="dk2"/>
              </a:buClr>
              <a:buSzPts val="7200"/>
              <a:buNone/>
              <a:defRPr b="0" sz="7200">
                <a:solidFill>
                  <a:schemeClr val="dk2"/>
                </a:solidFill>
              </a:defRPr>
            </a:lvl3pPr>
            <a:lvl4pPr lvl="3">
              <a:spcBef>
                <a:spcPts val="0"/>
              </a:spcBef>
              <a:spcAft>
                <a:spcPts val="0"/>
              </a:spcAft>
              <a:buClr>
                <a:schemeClr val="dk2"/>
              </a:buClr>
              <a:buSzPts val="7200"/>
              <a:buNone/>
              <a:defRPr b="0" sz="7200">
                <a:solidFill>
                  <a:schemeClr val="dk2"/>
                </a:solidFill>
              </a:defRPr>
            </a:lvl4pPr>
            <a:lvl5pPr lvl="4">
              <a:spcBef>
                <a:spcPts val="0"/>
              </a:spcBef>
              <a:spcAft>
                <a:spcPts val="0"/>
              </a:spcAft>
              <a:buClr>
                <a:schemeClr val="dk2"/>
              </a:buClr>
              <a:buSzPts val="7200"/>
              <a:buNone/>
              <a:defRPr b="0" sz="7200">
                <a:solidFill>
                  <a:schemeClr val="dk2"/>
                </a:solidFill>
              </a:defRPr>
            </a:lvl5pPr>
            <a:lvl6pPr lvl="5">
              <a:spcBef>
                <a:spcPts val="0"/>
              </a:spcBef>
              <a:spcAft>
                <a:spcPts val="0"/>
              </a:spcAft>
              <a:buClr>
                <a:schemeClr val="dk2"/>
              </a:buClr>
              <a:buSzPts val="7200"/>
              <a:buNone/>
              <a:defRPr b="0" sz="7200">
                <a:solidFill>
                  <a:schemeClr val="dk2"/>
                </a:solidFill>
              </a:defRPr>
            </a:lvl6pPr>
            <a:lvl7pPr lvl="6">
              <a:spcBef>
                <a:spcPts val="0"/>
              </a:spcBef>
              <a:spcAft>
                <a:spcPts val="0"/>
              </a:spcAft>
              <a:buClr>
                <a:schemeClr val="dk2"/>
              </a:buClr>
              <a:buSzPts val="7200"/>
              <a:buNone/>
              <a:defRPr b="0" sz="7200">
                <a:solidFill>
                  <a:schemeClr val="dk2"/>
                </a:solidFill>
              </a:defRPr>
            </a:lvl7pPr>
            <a:lvl8pPr lvl="7">
              <a:spcBef>
                <a:spcPts val="0"/>
              </a:spcBef>
              <a:spcAft>
                <a:spcPts val="0"/>
              </a:spcAft>
              <a:buClr>
                <a:schemeClr val="dk2"/>
              </a:buClr>
              <a:buSzPts val="7200"/>
              <a:buNone/>
              <a:defRPr b="0" sz="7200">
                <a:solidFill>
                  <a:schemeClr val="dk2"/>
                </a:solidFill>
              </a:defRPr>
            </a:lvl8pPr>
            <a:lvl9pPr lvl="8">
              <a:spcBef>
                <a:spcPts val="0"/>
              </a:spcBef>
              <a:spcAft>
                <a:spcPts val="0"/>
              </a:spcAft>
              <a:buClr>
                <a:schemeClr val="dk2"/>
              </a:buClr>
              <a:buSzPts val="7200"/>
              <a:buNone/>
              <a:defRPr b="0" sz="7200">
                <a:solidFill>
                  <a:schemeClr val="dk2"/>
                </a:solidFill>
              </a:defRPr>
            </a:lvl9pPr>
          </a:lstStyle>
          <a:p/>
        </p:txBody>
      </p:sp>
      <p:sp>
        <p:nvSpPr>
          <p:cNvPr id="44" name="Google Shape;44;g29fca9523d5_1_49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29fca9523d5_1_501"/>
          <p:cNvSpPr/>
          <p:nvPr/>
        </p:nvSpPr>
        <p:spPr>
          <a:xfrm>
            <a:off x="6096000" y="0"/>
            <a:ext cx="60960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7" name="Google Shape;47;g29fca9523d5_1_501"/>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g29fca9523d5_1_501"/>
          <p:cNvSpPr txBox="1"/>
          <p:nvPr>
            <p:ph type="title"/>
          </p:nvPr>
        </p:nvSpPr>
        <p:spPr>
          <a:xfrm>
            <a:off x="354000" y="1386233"/>
            <a:ext cx="5393700" cy="2234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9" name="Google Shape;49;g29fca9523d5_1_501"/>
          <p:cNvSpPr txBox="1"/>
          <p:nvPr>
            <p:ph idx="1" type="subTitle"/>
          </p:nvPr>
        </p:nvSpPr>
        <p:spPr>
          <a:xfrm>
            <a:off x="354000" y="36358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0" name="Google Shape;50;g29fca9523d5_1_501"/>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51" name="Google Shape;51;g29fca9523d5_1_50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29fca9523d5_1_508"/>
          <p:cNvSpPr txBox="1"/>
          <p:nvPr>
            <p:ph idx="1" type="body"/>
          </p:nvPr>
        </p:nvSpPr>
        <p:spPr>
          <a:xfrm>
            <a:off x="415600" y="56409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3200"/>
              <a:buFont typeface="PT Sans Narrow"/>
              <a:buNone/>
              <a:defRPr sz="3200">
                <a:latin typeface="PT Sans Narrow"/>
                <a:ea typeface="PT Sans Narrow"/>
                <a:cs typeface="PT Sans Narrow"/>
                <a:sym typeface="PT Sans Narrow"/>
              </a:defRPr>
            </a:lvl1pPr>
          </a:lstStyle>
          <a:p/>
        </p:txBody>
      </p:sp>
      <p:sp>
        <p:nvSpPr>
          <p:cNvPr id="54" name="Google Shape;54;g29fca9523d5_1_50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g29fca9523d5_1_511"/>
          <p:cNvSpPr/>
          <p:nvPr/>
        </p:nvSpPr>
        <p:spPr>
          <a:xfrm>
            <a:off x="-10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29fca9523d5_1_511"/>
          <p:cNvSpPr txBox="1"/>
          <p:nvPr>
            <p:ph hasCustomPrompt="1" type="title"/>
          </p:nvPr>
        </p:nvSpPr>
        <p:spPr>
          <a:xfrm>
            <a:off x="415600" y="1739800"/>
            <a:ext cx="11360700" cy="20511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accent3"/>
              </a:buClr>
              <a:buSzPts val="17300"/>
              <a:buNone/>
              <a:defRPr sz="17300">
                <a:solidFill>
                  <a:schemeClr val="accent3"/>
                </a:solidFill>
              </a:defRPr>
            </a:lvl1pPr>
            <a:lvl2pPr lvl="1" algn="ctr">
              <a:spcBef>
                <a:spcPts val="0"/>
              </a:spcBef>
              <a:spcAft>
                <a:spcPts val="0"/>
              </a:spcAft>
              <a:buClr>
                <a:schemeClr val="accent3"/>
              </a:buClr>
              <a:buSzPts val="17300"/>
              <a:buNone/>
              <a:defRPr sz="17300">
                <a:solidFill>
                  <a:schemeClr val="accent3"/>
                </a:solidFill>
              </a:defRPr>
            </a:lvl2pPr>
            <a:lvl3pPr lvl="2" algn="ctr">
              <a:spcBef>
                <a:spcPts val="0"/>
              </a:spcBef>
              <a:spcAft>
                <a:spcPts val="0"/>
              </a:spcAft>
              <a:buClr>
                <a:schemeClr val="accent3"/>
              </a:buClr>
              <a:buSzPts val="17300"/>
              <a:buNone/>
              <a:defRPr sz="17300">
                <a:solidFill>
                  <a:schemeClr val="accent3"/>
                </a:solidFill>
              </a:defRPr>
            </a:lvl3pPr>
            <a:lvl4pPr lvl="3" algn="ctr">
              <a:spcBef>
                <a:spcPts val="0"/>
              </a:spcBef>
              <a:spcAft>
                <a:spcPts val="0"/>
              </a:spcAft>
              <a:buClr>
                <a:schemeClr val="accent3"/>
              </a:buClr>
              <a:buSzPts val="17300"/>
              <a:buNone/>
              <a:defRPr sz="17300">
                <a:solidFill>
                  <a:schemeClr val="accent3"/>
                </a:solidFill>
              </a:defRPr>
            </a:lvl4pPr>
            <a:lvl5pPr lvl="4" algn="ctr">
              <a:spcBef>
                <a:spcPts val="0"/>
              </a:spcBef>
              <a:spcAft>
                <a:spcPts val="0"/>
              </a:spcAft>
              <a:buClr>
                <a:schemeClr val="accent3"/>
              </a:buClr>
              <a:buSzPts val="17300"/>
              <a:buNone/>
              <a:defRPr sz="17300">
                <a:solidFill>
                  <a:schemeClr val="accent3"/>
                </a:solidFill>
              </a:defRPr>
            </a:lvl5pPr>
            <a:lvl6pPr lvl="5" algn="ctr">
              <a:spcBef>
                <a:spcPts val="0"/>
              </a:spcBef>
              <a:spcAft>
                <a:spcPts val="0"/>
              </a:spcAft>
              <a:buClr>
                <a:schemeClr val="accent3"/>
              </a:buClr>
              <a:buSzPts val="17300"/>
              <a:buNone/>
              <a:defRPr sz="17300">
                <a:solidFill>
                  <a:schemeClr val="accent3"/>
                </a:solidFill>
              </a:defRPr>
            </a:lvl6pPr>
            <a:lvl7pPr lvl="6" algn="ctr">
              <a:spcBef>
                <a:spcPts val="0"/>
              </a:spcBef>
              <a:spcAft>
                <a:spcPts val="0"/>
              </a:spcAft>
              <a:buClr>
                <a:schemeClr val="accent3"/>
              </a:buClr>
              <a:buSzPts val="17300"/>
              <a:buNone/>
              <a:defRPr sz="17300">
                <a:solidFill>
                  <a:schemeClr val="accent3"/>
                </a:solidFill>
              </a:defRPr>
            </a:lvl7pPr>
            <a:lvl8pPr lvl="7" algn="ctr">
              <a:spcBef>
                <a:spcPts val="0"/>
              </a:spcBef>
              <a:spcAft>
                <a:spcPts val="0"/>
              </a:spcAft>
              <a:buClr>
                <a:schemeClr val="accent3"/>
              </a:buClr>
              <a:buSzPts val="17300"/>
              <a:buNone/>
              <a:defRPr sz="17300">
                <a:solidFill>
                  <a:schemeClr val="accent3"/>
                </a:solidFill>
              </a:defRPr>
            </a:lvl8pPr>
            <a:lvl9pPr lvl="8" algn="ctr">
              <a:spcBef>
                <a:spcPts val="0"/>
              </a:spcBef>
              <a:spcAft>
                <a:spcPts val="0"/>
              </a:spcAft>
              <a:buClr>
                <a:schemeClr val="accent3"/>
              </a:buClr>
              <a:buSzPts val="17300"/>
              <a:buNone/>
              <a:defRPr sz="17300">
                <a:solidFill>
                  <a:schemeClr val="accent3"/>
                </a:solidFill>
              </a:defRPr>
            </a:lvl9pPr>
          </a:lstStyle>
          <a:p>
            <a:r>
              <a:t>xx%</a:t>
            </a:r>
          </a:p>
        </p:txBody>
      </p:sp>
      <p:sp>
        <p:nvSpPr>
          <p:cNvPr id="58" name="Google Shape;58;g29fca9523d5_1_511"/>
          <p:cNvSpPr txBox="1"/>
          <p:nvPr>
            <p:ph idx="1" type="body"/>
          </p:nvPr>
        </p:nvSpPr>
        <p:spPr>
          <a:xfrm>
            <a:off x="415600" y="39942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9" name="Google Shape;59;g29fca9523d5_1_5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g29fca9523d5_1_51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g29fca9523d5_1_5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p:txBody>
      </p:sp>
      <p:sp>
        <p:nvSpPr>
          <p:cNvPr id="64" name="Google Shape;64;g29fca9523d5_1_5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1600"/>
              </a:spcBef>
              <a:spcAft>
                <a:spcPts val="0"/>
              </a:spcAft>
              <a:buClr>
                <a:schemeClr val="dk1"/>
              </a:buClr>
              <a:buSzPts val="1800"/>
              <a:buChar char="○"/>
              <a:defRPr/>
            </a:lvl2pPr>
            <a:lvl3pPr indent="-342900" lvl="2" marL="1371600" rtl="0" algn="l">
              <a:lnSpc>
                <a:spcPct val="90000"/>
              </a:lnSpc>
              <a:spcBef>
                <a:spcPts val="1600"/>
              </a:spcBef>
              <a:spcAft>
                <a:spcPts val="0"/>
              </a:spcAft>
              <a:buClr>
                <a:schemeClr val="dk1"/>
              </a:buClr>
              <a:buSzPts val="1800"/>
              <a:buChar char="■"/>
              <a:defRPr/>
            </a:lvl3pPr>
            <a:lvl4pPr indent="-342900" lvl="3" marL="1828800" rtl="0" algn="l">
              <a:lnSpc>
                <a:spcPct val="90000"/>
              </a:lnSpc>
              <a:spcBef>
                <a:spcPts val="1600"/>
              </a:spcBef>
              <a:spcAft>
                <a:spcPts val="0"/>
              </a:spcAft>
              <a:buClr>
                <a:schemeClr val="dk1"/>
              </a:buClr>
              <a:buSzPts val="1800"/>
              <a:buChar char="●"/>
              <a:defRPr/>
            </a:lvl4pPr>
            <a:lvl5pPr indent="-342900" lvl="4" marL="2286000" rtl="0" algn="l">
              <a:lnSpc>
                <a:spcPct val="90000"/>
              </a:lnSpc>
              <a:spcBef>
                <a:spcPts val="1600"/>
              </a:spcBef>
              <a:spcAft>
                <a:spcPts val="0"/>
              </a:spcAft>
              <a:buClr>
                <a:schemeClr val="dk1"/>
              </a:buClr>
              <a:buSzPts val="1800"/>
              <a:buChar char="○"/>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65" name="Google Shape;65;g29fca9523d5_1_5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g29fca9523d5_1_5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g29fca9523d5_1_5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g29fca9523d5_1_461"/>
          <p:cNvSpPr txBox="1"/>
          <p:nvPr>
            <p:ph type="title"/>
          </p:nvPr>
        </p:nvSpPr>
        <p:spPr>
          <a:xfrm>
            <a:off x="415600" y="593367"/>
            <a:ext cx="11360700" cy="9432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4800"/>
              <a:buFont typeface="PT Sans Narrow"/>
              <a:buNone/>
              <a:defRPr b="1" sz="4800">
                <a:solidFill>
                  <a:schemeClr val="accent1"/>
                </a:solidFill>
                <a:latin typeface="PT Sans Narrow"/>
                <a:ea typeface="PT Sans Narrow"/>
                <a:cs typeface="PT Sans Narrow"/>
                <a:sym typeface="PT Sans Narrow"/>
              </a:defRPr>
            </a:lvl9pPr>
          </a:lstStyle>
          <a:p/>
        </p:txBody>
      </p:sp>
      <p:sp>
        <p:nvSpPr>
          <p:cNvPr id="7" name="Google Shape;7;g29fca9523d5_1_461"/>
          <p:cNvSpPr txBox="1"/>
          <p:nvPr>
            <p:ph idx="1" type="body"/>
          </p:nvPr>
        </p:nvSpPr>
        <p:spPr>
          <a:xfrm>
            <a:off x="415600" y="1688433"/>
            <a:ext cx="11360700" cy="44037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Open Sans"/>
              <a:buChar char="●"/>
              <a:defRPr sz="2400">
                <a:solidFill>
                  <a:schemeClr val="dk2"/>
                </a:solidFill>
                <a:latin typeface="Open Sans"/>
                <a:ea typeface="Open Sans"/>
                <a:cs typeface="Open Sans"/>
                <a:sym typeface="Open Sans"/>
              </a:defRPr>
            </a:lvl1pPr>
            <a:lvl2pPr indent="-349250" lvl="1" marL="9144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indent="-349250" lvl="2" marL="13716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indent="-349250" lvl="3" marL="18288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indent="-349250" lvl="4" marL="22860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indent="-349250" lvl="5" marL="27432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indent="-349250" lvl="6" marL="32004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indent="-349250" lvl="7" marL="36576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indent="-349250" lvl="8" marL="4114800">
              <a:lnSpc>
                <a:spcPct val="115000"/>
              </a:lnSpc>
              <a:spcBef>
                <a:spcPts val="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9pPr>
          </a:lstStyle>
          <a:p/>
        </p:txBody>
      </p:sp>
      <p:sp>
        <p:nvSpPr>
          <p:cNvPr id="8" name="Google Shape;8;g29fca9523d5_1_46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Open Sans"/>
                <a:ea typeface="Open Sans"/>
                <a:cs typeface="Open Sans"/>
                <a:sym typeface="Open Sans"/>
              </a:defRPr>
            </a:lvl1pPr>
            <a:lvl2pPr lvl="1" algn="r">
              <a:buNone/>
              <a:defRPr sz="1300">
                <a:solidFill>
                  <a:schemeClr val="dk2"/>
                </a:solidFill>
                <a:latin typeface="Open Sans"/>
                <a:ea typeface="Open Sans"/>
                <a:cs typeface="Open Sans"/>
                <a:sym typeface="Open Sans"/>
              </a:defRPr>
            </a:lvl2pPr>
            <a:lvl3pPr lvl="2" algn="r">
              <a:buNone/>
              <a:defRPr sz="1300">
                <a:solidFill>
                  <a:schemeClr val="dk2"/>
                </a:solidFill>
                <a:latin typeface="Open Sans"/>
                <a:ea typeface="Open Sans"/>
                <a:cs typeface="Open Sans"/>
                <a:sym typeface="Open Sans"/>
              </a:defRPr>
            </a:lvl3pPr>
            <a:lvl4pPr lvl="3" algn="r">
              <a:buNone/>
              <a:defRPr sz="1300">
                <a:solidFill>
                  <a:schemeClr val="dk2"/>
                </a:solidFill>
                <a:latin typeface="Open Sans"/>
                <a:ea typeface="Open Sans"/>
                <a:cs typeface="Open Sans"/>
                <a:sym typeface="Open Sans"/>
              </a:defRPr>
            </a:lvl4pPr>
            <a:lvl5pPr lvl="4" algn="r">
              <a:buNone/>
              <a:defRPr sz="1300">
                <a:solidFill>
                  <a:schemeClr val="dk2"/>
                </a:solidFill>
                <a:latin typeface="Open Sans"/>
                <a:ea typeface="Open Sans"/>
                <a:cs typeface="Open Sans"/>
                <a:sym typeface="Open Sans"/>
              </a:defRPr>
            </a:lvl5pPr>
            <a:lvl6pPr lvl="5" algn="r">
              <a:buNone/>
              <a:defRPr sz="1300">
                <a:solidFill>
                  <a:schemeClr val="dk2"/>
                </a:solidFill>
                <a:latin typeface="Open Sans"/>
                <a:ea typeface="Open Sans"/>
                <a:cs typeface="Open Sans"/>
                <a:sym typeface="Open Sans"/>
              </a:defRPr>
            </a:lvl6pPr>
            <a:lvl7pPr lvl="6" algn="r">
              <a:buNone/>
              <a:defRPr sz="1300">
                <a:solidFill>
                  <a:schemeClr val="dk2"/>
                </a:solidFill>
                <a:latin typeface="Open Sans"/>
                <a:ea typeface="Open Sans"/>
                <a:cs typeface="Open Sans"/>
                <a:sym typeface="Open Sans"/>
              </a:defRPr>
            </a:lvl7pPr>
            <a:lvl8pPr lvl="7" algn="r">
              <a:buNone/>
              <a:defRPr sz="1300">
                <a:solidFill>
                  <a:schemeClr val="dk2"/>
                </a:solidFill>
                <a:latin typeface="Open Sans"/>
                <a:ea typeface="Open Sans"/>
                <a:cs typeface="Open Sans"/>
                <a:sym typeface="Open Sans"/>
              </a:defRPr>
            </a:lvl8pPr>
            <a:lvl9pPr lvl="8" algn="r">
              <a:buNone/>
              <a:defRPr sz="13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www.pmjay.gov.i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pmfby.gov.i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hyperlink" Target="https://web.umang.gov.in/web_new/home" TargetMode="External"/><Relationship Id="rId4" Type="http://schemas.openxmlformats.org/officeDocument/2006/relationships/hyperlink" Target="https://web.umang.gov.in/web_new/hom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318975" y="1299588"/>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IN">
                <a:latin typeface="Cambria"/>
                <a:ea typeface="Cambria"/>
                <a:cs typeface="Cambria"/>
                <a:sym typeface="Cambria"/>
              </a:rPr>
              <a:t>Social Security Schemes</a:t>
            </a:r>
            <a:endParaRPr b="1">
              <a:latin typeface="Cambria"/>
              <a:ea typeface="Cambria"/>
              <a:cs typeface="Cambria"/>
              <a:sym typeface="Cambria"/>
            </a:endParaRPr>
          </a:p>
        </p:txBody>
      </p:sp>
      <p:sp>
        <p:nvSpPr>
          <p:cNvPr id="73" name="Google Shape;73;p1"/>
          <p:cNvSpPr txBox="1"/>
          <p:nvPr>
            <p:ph idx="1" type="subTitle"/>
          </p:nvPr>
        </p:nvSpPr>
        <p:spPr>
          <a:xfrm>
            <a:off x="318975" y="35809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IN" sz="3600">
                <a:latin typeface="Cambria"/>
                <a:ea typeface="Cambria"/>
                <a:cs typeface="Cambria"/>
                <a:sym typeface="Cambria"/>
              </a:rPr>
              <a:t>As fall back support system</a:t>
            </a:r>
            <a:endParaRPr>
              <a:latin typeface="Cambria"/>
              <a:ea typeface="Cambria"/>
              <a:cs typeface="Cambria"/>
              <a:sym typeface="Cambria"/>
            </a:endParaRPr>
          </a:p>
        </p:txBody>
      </p:sp>
      <p:pic>
        <p:nvPicPr>
          <p:cNvPr id="74" name="Google Shape;74;p1"/>
          <p:cNvPicPr preferRelativeResize="0"/>
          <p:nvPr/>
        </p:nvPicPr>
        <p:blipFill>
          <a:blip r:embed="rId3">
            <a:alphaModFix/>
          </a:blip>
          <a:stretch>
            <a:fillRect/>
          </a:stretch>
        </p:blipFill>
        <p:spPr>
          <a:xfrm>
            <a:off x="8954975" y="426475"/>
            <a:ext cx="2582525" cy="59376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latin typeface="Cambria"/>
                <a:ea typeface="Cambria"/>
                <a:cs typeface="Cambria"/>
                <a:sym typeface="Cambria"/>
              </a:rPr>
              <a:t>Schemes to support social security</a:t>
            </a:r>
            <a:endParaRPr>
              <a:latin typeface="Cambria"/>
              <a:ea typeface="Cambria"/>
              <a:cs typeface="Cambria"/>
              <a:sym typeface="Cambria"/>
            </a:endParaRPr>
          </a:p>
        </p:txBody>
      </p:sp>
      <p:sp>
        <p:nvSpPr>
          <p:cNvPr id="80" name="Google Shape;80;p2"/>
          <p:cNvSpPr txBox="1"/>
          <p:nvPr>
            <p:ph idx="1" type="body"/>
          </p:nvPr>
        </p:nvSpPr>
        <p:spPr>
          <a:xfrm>
            <a:off x="838200" y="1397800"/>
            <a:ext cx="11062800" cy="5310000"/>
          </a:xfrm>
          <a:prstGeom prst="rect">
            <a:avLst/>
          </a:prstGeom>
          <a:noFill/>
          <a:ln>
            <a:noFill/>
          </a:ln>
        </p:spPr>
        <p:txBody>
          <a:bodyPr anchorCtr="0" anchor="t" bIns="45700" lIns="91425" spcFirstLastPara="1" rIns="91425" wrap="square" tIns="45700">
            <a:normAutofit fontScale="55000" lnSpcReduction="10000"/>
          </a:bodyPr>
          <a:lstStyle/>
          <a:p>
            <a:pPr indent="-223511" lvl="0" marL="228600" rtl="0" algn="l">
              <a:lnSpc>
                <a:spcPct val="90000"/>
              </a:lnSpc>
              <a:spcBef>
                <a:spcPts val="0"/>
              </a:spcBef>
              <a:spcAft>
                <a:spcPts val="0"/>
              </a:spcAft>
              <a:buClr>
                <a:schemeClr val="dk1"/>
              </a:buClr>
              <a:buSzPct val="108800"/>
              <a:buFont typeface="Cambria"/>
              <a:buChar char="●"/>
            </a:pPr>
            <a:r>
              <a:rPr b="1" lang="en-IN" sz="4545">
                <a:latin typeface="Cambria"/>
                <a:ea typeface="Cambria"/>
                <a:cs typeface="Cambria"/>
                <a:sym typeface="Cambria"/>
              </a:rPr>
              <a:t>Wage Employment (MGNREGS)- </a:t>
            </a:r>
            <a:r>
              <a:rPr lang="en-IN" sz="4363">
                <a:latin typeface="Cambria"/>
                <a:ea typeface="Cambria"/>
                <a:cs typeface="Cambria"/>
                <a:sym typeface="Cambria"/>
              </a:rPr>
              <a:t>100 Days wage employment guaranteed</a:t>
            </a:r>
            <a:endParaRPr sz="4363">
              <a:latin typeface="Cambria"/>
              <a:ea typeface="Cambria"/>
              <a:cs typeface="Cambria"/>
              <a:sym typeface="Cambria"/>
            </a:endParaRPr>
          </a:p>
          <a:p>
            <a:pPr indent="-223511" lvl="0" marL="228600" rtl="0" algn="l">
              <a:lnSpc>
                <a:spcPct val="90000"/>
              </a:lnSpc>
              <a:spcBef>
                <a:spcPts val="1000"/>
              </a:spcBef>
              <a:spcAft>
                <a:spcPts val="0"/>
              </a:spcAft>
              <a:buClr>
                <a:schemeClr val="dk1"/>
              </a:buClr>
              <a:buSzPct val="108800"/>
              <a:buFont typeface="Cambria"/>
              <a:buChar char="●"/>
            </a:pPr>
            <a:r>
              <a:rPr b="1" lang="en-IN" sz="4545">
                <a:latin typeface="Cambria"/>
                <a:ea typeface="Cambria"/>
                <a:cs typeface="Cambria"/>
                <a:sym typeface="Cambria"/>
              </a:rPr>
              <a:t>Health Insurance (PM Jan Arogya Yojana- Ayushman Bharat)- </a:t>
            </a:r>
            <a:r>
              <a:rPr lang="en-IN" sz="4363">
                <a:latin typeface="Cambria"/>
                <a:ea typeface="Cambria"/>
                <a:cs typeface="Cambria"/>
                <a:sym typeface="Cambria"/>
              </a:rPr>
              <a:t>Rs 5 lakh health insurance coverage per family</a:t>
            </a:r>
            <a:endParaRPr sz="4363">
              <a:latin typeface="Cambria"/>
              <a:ea typeface="Cambria"/>
              <a:cs typeface="Cambria"/>
              <a:sym typeface="Cambria"/>
            </a:endParaRPr>
          </a:p>
          <a:p>
            <a:pPr indent="-223511" lvl="0" marL="228600" rtl="0" algn="l">
              <a:lnSpc>
                <a:spcPct val="90000"/>
              </a:lnSpc>
              <a:spcBef>
                <a:spcPts val="1000"/>
              </a:spcBef>
              <a:spcAft>
                <a:spcPts val="0"/>
              </a:spcAft>
              <a:buClr>
                <a:schemeClr val="dk1"/>
              </a:buClr>
              <a:buSzPct val="108800"/>
              <a:buFont typeface="Cambria"/>
              <a:buChar char="●"/>
            </a:pPr>
            <a:r>
              <a:rPr b="1" lang="en-IN" sz="4545">
                <a:latin typeface="Cambria"/>
                <a:ea typeface="Cambria"/>
                <a:cs typeface="Cambria"/>
                <a:sym typeface="Cambria"/>
              </a:rPr>
              <a:t>Life Insurance (PM Jeevan Jyoti Bima Yojana, PM Suraksha Bima Yojana)- </a:t>
            </a:r>
            <a:r>
              <a:rPr lang="en-IN" sz="4363">
                <a:latin typeface="Cambria"/>
                <a:ea typeface="Cambria"/>
                <a:cs typeface="Cambria"/>
                <a:sym typeface="Cambria"/>
              </a:rPr>
              <a:t>Benefits of Rs 2 lakh per person in case of death</a:t>
            </a:r>
            <a:endParaRPr sz="4363">
              <a:latin typeface="Cambria"/>
              <a:ea typeface="Cambria"/>
              <a:cs typeface="Cambria"/>
              <a:sym typeface="Cambria"/>
            </a:endParaRPr>
          </a:p>
          <a:p>
            <a:pPr indent="-209541" lvl="0" marL="228600" rtl="0" algn="l">
              <a:lnSpc>
                <a:spcPct val="90000"/>
              </a:lnSpc>
              <a:spcBef>
                <a:spcPts val="1000"/>
              </a:spcBef>
              <a:spcAft>
                <a:spcPts val="0"/>
              </a:spcAft>
              <a:buSzPct val="100000"/>
              <a:buFont typeface="Cambria"/>
              <a:buChar char="●"/>
            </a:pPr>
            <a:r>
              <a:rPr b="1" lang="en-IN" sz="4545">
                <a:latin typeface="Cambria"/>
                <a:ea typeface="Cambria"/>
                <a:cs typeface="Cambria"/>
                <a:sym typeface="Cambria"/>
              </a:rPr>
              <a:t>Crop Insurance (PM Fasal Bima Yojana)</a:t>
            </a:r>
            <a:r>
              <a:rPr b="1" lang="en-IN" sz="4865">
                <a:latin typeface="Cambria"/>
                <a:ea typeface="Cambria"/>
                <a:cs typeface="Cambria"/>
                <a:sym typeface="Cambria"/>
              </a:rPr>
              <a:t>-</a:t>
            </a:r>
            <a:r>
              <a:rPr lang="en-IN" sz="4283"/>
              <a:t>Provide insurance coverage and financial support to the farmers in the event of failure of any of the notified crops as a result of natural calamities, pests &amp; diseases</a:t>
            </a:r>
            <a:endParaRPr sz="4283"/>
          </a:p>
          <a:p>
            <a:pPr indent="-206747" lvl="0" marL="228600" rtl="0" algn="l">
              <a:lnSpc>
                <a:spcPct val="90000"/>
              </a:lnSpc>
              <a:spcBef>
                <a:spcPts val="1000"/>
              </a:spcBef>
              <a:spcAft>
                <a:spcPts val="0"/>
              </a:spcAft>
              <a:buSzPct val="98239"/>
              <a:buChar char="●"/>
            </a:pPr>
            <a:r>
              <a:rPr b="1" lang="en-IN" sz="4545">
                <a:latin typeface="Cambria"/>
                <a:ea typeface="Cambria"/>
                <a:cs typeface="Cambria"/>
                <a:sym typeface="Cambria"/>
              </a:rPr>
              <a:t>Pension Schemes (Atal Pension Yojana, NSAP)-</a:t>
            </a:r>
            <a:r>
              <a:rPr b="1" lang="en-IN" sz="4865">
                <a:latin typeface="Cambria"/>
                <a:ea typeface="Cambria"/>
                <a:cs typeface="Cambria"/>
                <a:sym typeface="Cambria"/>
              </a:rPr>
              <a:t> </a:t>
            </a:r>
            <a:r>
              <a:rPr lang="en-IN" sz="4465">
                <a:latin typeface="Cambria"/>
                <a:ea typeface="Cambria"/>
                <a:cs typeface="Cambria"/>
                <a:sym typeface="Cambria"/>
              </a:rPr>
              <a:t>Pension scheme focused on providing social security to unorganized sector workers Guaranteed minimum pension ranging between  </a:t>
            </a:r>
            <a:r>
              <a:rPr lang="en-IN" sz="4065">
                <a:latin typeface="Arial"/>
                <a:ea typeface="Arial"/>
                <a:cs typeface="Arial"/>
                <a:sym typeface="Arial"/>
              </a:rPr>
              <a:t>₹</a:t>
            </a:r>
            <a:r>
              <a:rPr lang="en-IN" sz="4465">
                <a:latin typeface="Cambria"/>
                <a:ea typeface="Cambria"/>
                <a:cs typeface="Cambria"/>
                <a:sym typeface="Cambria"/>
              </a:rPr>
              <a:t>1000 to </a:t>
            </a:r>
            <a:r>
              <a:rPr lang="en-IN" sz="4065">
                <a:latin typeface="Arial"/>
                <a:ea typeface="Arial"/>
                <a:cs typeface="Arial"/>
                <a:sym typeface="Arial"/>
              </a:rPr>
              <a:t>₹</a:t>
            </a:r>
            <a:r>
              <a:rPr lang="en-IN" sz="4465">
                <a:latin typeface="Cambria"/>
                <a:ea typeface="Cambria"/>
                <a:cs typeface="Cambria"/>
                <a:sym typeface="Cambria"/>
              </a:rPr>
              <a:t>5000 per month depending upon the contribution of subscribers </a:t>
            </a:r>
            <a:endParaRPr sz="4465">
              <a:latin typeface="Cambria"/>
              <a:ea typeface="Cambria"/>
              <a:cs typeface="Cambria"/>
              <a:sym typeface="Cambria"/>
            </a:endParaRPr>
          </a:p>
          <a:p>
            <a:pPr indent="0" lvl="0" marL="228600" rtl="0" algn="l">
              <a:spcBef>
                <a:spcPts val="1000"/>
              </a:spcBef>
              <a:spcAft>
                <a:spcPts val="0"/>
              </a:spcAft>
              <a:buNone/>
            </a:pPr>
            <a:r>
              <a:t/>
            </a:r>
            <a:endParaRPr sz="2618">
              <a:latin typeface="Cambria"/>
              <a:ea typeface="Cambria"/>
              <a:cs typeface="Cambria"/>
              <a:sym typeface="Cambria"/>
            </a:endParaRPr>
          </a:p>
          <a:p>
            <a:pPr indent="0" lvl="0" marL="0" rtl="0" algn="l">
              <a:lnSpc>
                <a:spcPct val="100000"/>
              </a:lnSpc>
              <a:spcBef>
                <a:spcPts val="1000"/>
              </a:spcBef>
              <a:spcAft>
                <a:spcPts val="0"/>
              </a:spcAft>
              <a:buClr>
                <a:schemeClr val="dk1"/>
              </a:buClr>
              <a:buSzPct val="106250"/>
              <a:buFont typeface="Arial"/>
              <a:buNone/>
            </a:pPr>
            <a:r>
              <a:rPr b="1" lang="en-IN" sz="2635">
                <a:solidFill>
                  <a:schemeClr val="accent1"/>
                </a:solidFill>
                <a:latin typeface="Cambria"/>
                <a:ea typeface="Cambria"/>
                <a:cs typeface="Cambria"/>
                <a:sym typeface="Cambria"/>
              </a:rPr>
              <a:t>INCLUDE STATE SPECIFIC SCHEMES ALSO</a:t>
            </a:r>
            <a:endParaRPr b="1" sz="280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type="title"/>
          </p:nvPr>
        </p:nvSpPr>
        <p:spPr>
          <a:xfrm>
            <a:off x="3538264" y="2207922"/>
            <a:ext cx="105156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960"/>
              <a:buFont typeface="Calibri"/>
              <a:buNone/>
            </a:pPr>
            <a:r>
              <a:rPr b="1" lang="en-IN" sz="5020">
                <a:latin typeface="Cambria"/>
                <a:ea typeface="Cambria"/>
                <a:cs typeface="Cambria"/>
                <a:sym typeface="Cambria"/>
              </a:rPr>
              <a:t>Wage Employment </a:t>
            </a:r>
            <a:endParaRPr b="1" sz="5020">
              <a:latin typeface="Cambria"/>
              <a:ea typeface="Cambria"/>
              <a:cs typeface="Cambria"/>
              <a:sym typeface="Cambria"/>
            </a:endParaRPr>
          </a:p>
          <a:p>
            <a:pPr indent="0" lvl="0" marL="0" rtl="0" algn="ctr">
              <a:lnSpc>
                <a:spcPct val="90000"/>
              </a:lnSpc>
              <a:spcBef>
                <a:spcPts val="0"/>
              </a:spcBef>
              <a:spcAft>
                <a:spcPts val="0"/>
              </a:spcAft>
              <a:buClr>
                <a:schemeClr val="dk1"/>
              </a:buClr>
              <a:buSzPts val="3960"/>
              <a:buFont typeface="Calibri"/>
              <a:buNone/>
            </a:pPr>
            <a:r>
              <a:rPr b="1" lang="en-IN" sz="5020">
                <a:latin typeface="Cambria"/>
                <a:ea typeface="Cambria"/>
                <a:cs typeface="Cambria"/>
                <a:sym typeface="Cambria"/>
              </a:rPr>
              <a:t>Guarantee Scheme</a:t>
            </a:r>
            <a:endParaRPr b="1" sz="5020">
              <a:latin typeface="Cambria"/>
              <a:ea typeface="Cambria"/>
              <a:cs typeface="Cambria"/>
              <a:sym typeface="Cambria"/>
            </a:endParaRPr>
          </a:p>
          <a:p>
            <a:pPr indent="0" lvl="0" marL="0" rtl="0" algn="ctr">
              <a:lnSpc>
                <a:spcPct val="90000"/>
              </a:lnSpc>
              <a:spcBef>
                <a:spcPts val="0"/>
              </a:spcBef>
              <a:spcAft>
                <a:spcPts val="0"/>
              </a:spcAft>
              <a:buClr>
                <a:schemeClr val="dk1"/>
              </a:buClr>
              <a:buSzPts val="3960"/>
              <a:buFont typeface="Calibri"/>
              <a:buNone/>
            </a:pPr>
            <a:r>
              <a:t/>
            </a:r>
            <a:endParaRPr sz="5020">
              <a:latin typeface="Cambria"/>
              <a:ea typeface="Cambria"/>
              <a:cs typeface="Cambria"/>
              <a:sym typeface="Cambria"/>
            </a:endParaRPr>
          </a:p>
          <a:p>
            <a:pPr indent="0" lvl="0" marL="0" rtl="0" algn="ctr">
              <a:lnSpc>
                <a:spcPct val="90000"/>
              </a:lnSpc>
              <a:spcBef>
                <a:spcPts val="0"/>
              </a:spcBef>
              <a:spcAft>
                <a:spcPts val="0"/>
              </a:spcAft>
              <a:buClr>
                <a:schemeClr val="dk1"/>
              </a:buClr>
              <a:buSzPts val="3960"/>
              <a:buFont typeface="Calibri"/>
              <a:buNone/>
            </a:pPr>
            <a:r>
              <a:rPr lang="en-IN" sz="5020">
                <a:latin typeface="Cambria"/>
                <a:ea typeface="Cambria"/>
                <a:cs typeface="Cambria"/>
                <a:sym typeface="Cambria"/>
              </a:rPr>
              <a:t>MGNREGS</a:t>
            </a:r>
            <a:endParaRPr sz="5020">
              <a:latin typeface="Cambria"/>
              <a:ea typeface="Cambria"/>
              <a:cs typeface="Cambria"/>
              <a:sym typeface="Cambria"/>
            </a:endParaRPr>
          </a:p>
        </p:txBody>
      </p:sp>
      <p:pic>
        <p:nvPicPr>
          <p:cNvPr id="86" name="Google Shape;86;p3"/>
          <p:cNvPicPr preferRelativeResize="0"/>
          <p:nvPr/>
        </p:nvPicPr>
        <p:blipFill>
          <a:blip r:embed="rId3">
            <a:alphaModFix/>
          </a:blip>
          <a:stretch>
            <a:fillRect/>
          </a:stretch>
        </p:blipFill>
        <p:spPr>
          <a:xfrm>
            <a:off x="152400" y="82700"/>
            <a:ext cx="5543649" cy="662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838200" y="1879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IN">
                <a:latin typeface="Cambria"/>
                <a:ea typeface="Cambria"/>
                <a:cs typeface="Cambria"/>
                <a:sym typeface="Cambria"/>
              </a:rPr>
              <a:t>MGNREGS</a:t>
            </a:r>
            <a:endParaRPr>
              <a:latin typeface="Cambria"/>
              <a:ea typeface="Cambria"/>
              <a:cs typeface="Cambria"/>
              <a:sym typeface="Cambria"/>
            </a:endParaRPr>
          </a:p>
        </p:txBody>
      </p:sp>
      <p:sp>
        <p:nvSpPr>
          <p:cNvPr id="92" name="Google Shape;92;p4"/>
          <p:cNvSpPr txBox="1"/>
          <p:nvPr>
            <p:ph idx="1" type="body"/>
          </p:nvPr>
        </p:nvSpPr>
        <p:spPr>
          <a:xfrm>
            <a:off x="838200" y="1336302"/>
            <a:ext cx="10597800" cy="48954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Font typeface="Cambria"/>
              <a:buChar char="●"/>
            </a:pPr>
            <a:r>
              <a:rPr b="1" lang="en-IN">
                <a:latin typeface="Cambria"/>
                <a:ea typeface="Cambria"/>
                <a:cs typeface="Cambria"/>
                <a:sym typeface="Cambria"/>
              </a:rPr>
              <a:t>Benefits</a:t>
            </a:r>
            <a:endParaRPr b="1">
              <a:latin typeface="Cambria"/>
              <a:ea typeface="Cambria"/>
              <a:cs typeface="Cambria"/>
              <a:sym typeface="Cambria"/>
            </a:endParaRPr>
          </a:p>
          <a:p>
            <a:pPr indent="-228600" lvl="0" marL="228600" rtl="0" algn="l">
              <a:lnSpc>
                <a:spcPct val="90000"/>
              </a:lnSpc>
              <a:spcBef>
                <a:spcPts val="0"/>
              </a:spcBef>
              <a:spcAft>
                <a:spcPts val="0"/>
              </a:spcAft>
              <a:buClr>
                <a:schemeClr val="dk1"/>
              </a:buClr>
              <a:buSzPts val="2800"/>
              <a:buFont typeface="Cambria"/>
              <a:buChar char="●"/>
            </a:pPr>
            <a:r>
              <a:rPr lang="en-IN">
                <a:latin typeface="Cambria"/>
                <a:ea typeface="Cambria"/>
                <a:cs typeface="Cambria"/>
                <a:sym typeface="Cambria"/>
              </a:rPr>
              <a:t>Entitled to work for </a:t>
            </a:r>
            <a:r>
              <a:rPr b="1" lang="en-IN">
                <a:latin typeface="Cambria"/>
                <a:ea typeface="Cambria"/>
                <a:cs typeface="Cambria"/>
                <a:sym typeface="Cambria"/>
              </a:rPr>
              <a:t>100 days per household per year</a:t>
            </a:r>
            <a:endParaRPr b="1">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Wage rate differs from state to state </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Char char="●"/>
            </a:pPr>
            <a:r>
              <a:rPr b="1" lang="en-IN">
                <a:latin typeface="Cambria"/>
                <a:ea typeface="Cambria"/>
                <a:cs typeface="Cambria"/>
                <a:sym typeface="Cambria"/>
              </a:rPr>
              <a:t>Eligibility</a:t>
            </a:r>
            <a:r>
              <a:rPr lang="en-IN">
                <a:latin typeface="Cambria"/>
                <a:ea typeface="Cambria"/>
                <a:cs typeface="Cambria"/>
                <a:sym typeface="Cambria"/>
              </a:rPr>
              <a:t>: Any person above age of 18, residing in rural area and volunteer to do unskilled work </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Entitled to receive work within 15 days of demanding work </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If work is not provided</a:t>
            </a:r>
            <a:r>
              <a:rPr b="1" lang="en-IN">
                <a:latin typeface="Cambria"/>
                <a:ea typeface="Cambria"/>
                <a:cs typeface="Cambria"/>
                <a:sym typeface="Cambria"/>
              </a:rPr>
              <a:t> </a:t>
            </a:r>
            <a:r>
              <a:rPr lang="en-IN">
                <a:latin typeface="Cambria"/>
                <a:ea typeface="Cambria"/>
                <a:cs typeface="Cambria"/>
                <a:sym typeface="Cambria"/>
              </a:rPr>
              <a:t> within 15 days, applicant entitled to unemployment allowance (1/3 wage rate for first 30 days and half the wage after 30 days)</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Work to be provided within a radius of 5 km of applicant’s residence (Travel allowance must be paid if more than 5km)</a:t>
            </a:r>
            <a:endParaRPr>
              <a:latin typeface="Cambria"/>
              <a:ea typeface="Cambria"/>
              <a:cs typeface="Cambria"/>
              <a:sym typeface="Cambria"/>
            </a:endParaRPr>
          </a:p>
          <a:p>
            <a:pPr indent="-165100" lvl="0" marL="228600" rtl="0" algn="l">
              <a:lnSpc>
                <a:spcPct val="90000"/>
              </a:lnSpc>
              <a:spcBef>
                <a:spcPts val="1600"/>
              </a:spcBef>
              <a:spcAft>
                <a:spcPts val="1600"/>
              </a:spcAft>
              <a:buSzPts val="1800"/>
              <a:buFont typeface="Cambria"/>
              <a:buChar char="●"/>
            </a:pPr>
            <a:r>
              <a:rPr b="1" lang="en-IN">
                <a:latin typeface="Cambria"/>
                <a:ea typeface="Cambria"/>
                <a:cs typeface="Cambria"/>
                <a:sym typeface="Cambria"/>
              </a:rPr>
              <a:t>Whom to approach : Job card application from Panchayat office. </a:t>
            </a:r>
            <a:r>
              <a:rPr lang="en-IN">
                <a:latin typeface="Cambria"/>
                <a:ea typeface="Cambria"/>
                <a:cs typeface="Cambria"/>
                <a:sym typeface="Cambria"/>
              </a:rPr>
              <a:t>A</a:t>
            </a:r>
            <a:r>
              <a:rPr lang="en-IN">
                <a:latin typeface="Cambria"/>
                <a:ea typeface="Cambria"/>
                <a:cs typeface="Cambria"/>
                <a:sym typeface="Cambria"/>
              </a:rPr>
              <a:t>n individual may appear personally before the Panchayat Secretary or Gram Rozgar Sahayak and make an oral request for registration.</a:t>
            </a:r>
            <a:endParaRPr>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ph type="title"/>
          </p:nvPr>
        </p:nvSpPr>
        <p:spPr>
          <a:xfrm>
            <a:off x="-2022662" y="1497183"/>
            <a:ext cx="105156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960"/>
              <a:buFont typeface="Calibri"/>
              <a:buNone/>
            </a:pPr>
            <a:r>
              <a:rPr lang="en-IN" sz="5020">
                <a:latin typeface="Cambria"/>
                <a:ea typeface="Cambria"/>
                <a:cs typeface="Cambria"/>
                <a:sym typeface="Cambria"/>
              </a:rPr>
              <a:t>HEALTH</a:t>
            </a:r>
            <a:endParaRPr sz="5020">
              <a:latin typeface="Cambria"/>
              <a:ea typeface="Cambria"/>
              <a:cs typeface="Cambria"/>
              <a:sym typeface="Cambria"/>
            </a:endParaRPr>
          </a:p>
          <a:p>
            <a:pPr indent="0" lvl="0" marL="0" rtl="0" algn="ctr">
              <a:lnSpc>
                <a:spcPct val="90000"/>
              </a:lnSpc>
              <a:spcBef>
                <a:spcPts val="0"/>
              </a:spcBef>
              <a:spcAft>
                <a:spcPts val="0"/>
              </a:spcAft>
              <a:buClr>
                <a:schemeClr val="dk1"/>
              </a:buClr>
              <a:buSzPts val="3960"/>
              <a:buFont typeface="Calibri"/>
              <a:buNone/>
            </a:pPr>
            <a:r>
              <a:rPr lang="en-IN" sz="5020">
                <a:latin typeface="Cambria"/>
                <a:ea typeface="Cambria"/>
                <a:cs typeface="Cambria"/>
                <a:sym typeface="Cambria"/>
              </a:rPr>
              <a:t> INSURANCE </a:t>
            </a:r>
            <a:endParaRPr sz="5020">
              <a:latin typeface="Cambria"/>
              <a:ea typeface="Cambria"/>
              <a:cs typeface="Cambria"/>
              <a:sym typeface="Cambria"/>
            </a:endParaRPr>
          </a:p>
        </p:txBody>
      </p:sp>
      <p:pic>
        <p:nvPicPr>
          <p:cNvPr id="98" name="Google Shape;98;p5"/>
          <p:cNvPicPr preferRelativeResize="0"/>
          <p:nvPr/>
        </p:nvPicPr>
        <p:blipFill>
          <a:blip r:embed="rId3">
            <a:alphaModFix/>
          </a:blip>
          <a:stretch>
            <a:fillRect/>
          </a:stretch>
        </p:blipFill>
        <p:spPr>
          <a:xfrm>
            <a:off x="6491775" y="1774725"/>
            <a:ext cx="5433375" cy="3057175"/>
          </a:xfrm>
          <a:prstGeom prst="rect">
            <a:avLst/>
          </a:prstGeom>
          <a:noFill/>
          <a:ln>
            <a:noFill/>
          </a:ln>
        </p:spPr>
      </p:pic>
      <p:pic>
        <p:nvPicPr>
          <p:cNvPr id="99" name="Google Shape;99;p5"/>
          <p:cNvPicPr preferRelativeResize="0"/>
          <p:nvPr/>
        </p:nvPicPr>
        <p:blipFill>
          <a:blip r:embed="rId4">
            <a:alphaModFix/>
          </a:blip>
          <a:stretch>
            <a:fillRect/>
          </a:stretch>
        </p:blipFill>
        <p:spPr>
          <a:xfrm>
            <a:off x="2096425" y="3347151"/>
            <a:ext cx="2879974" cy="28799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91666"/>
              <a:buFont typeface="Calibri"/>
              <a:buNone/>
            </a:pPr>
            <a:r>
              <a:rPr lang="en-IN">
                <a:latin typeface="Cambria"/>
                <a:ea typeface="Cambria"/>
                <a:cs typeface="Cambria"/>
                <a:sym typeface="Cambria"/>
              </a:rPr>
              <a:t>Pradhan Mantri Jan Arogya Yojana- Ayushman Bharat</a:t>
            </a:r>
            <a:endParaRPr>
              <a:latin typeface="Cambria"/>
              <a:ea typeface="Cambria"/>
              <a:cs typeface="Cambria"/>
              <a:sym typeface="Cambria"/>
            </a:endParaRPr>
          </a:p>
        </p:txBody>
      </p:sp>
      <p:sp>
        <p:nvSpPr>
          <p:cNvPr id="105" name="Google Shape;10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mbria"/>
              <a:buChar char="●"/>
            </a:pPr>
            <a:r>
              <a:rPr lang="en-IN">
                <a:latin typeface="Cambria"/>
                <a:ea typeface="Cambria"/>
                <a:cs typeface="Cambria"/>
                <a:sym typeface="Cambria"/>
              </a:rPr>
              <a:t>It is a paperless and cashless health insurance scheme that aims at providing a health cover of </a:t>
            </a:r>
            <a:r>
              <a:rPr lang="en-IN" sz="2000">
                <a:latin typeface="Arial"/>
                <a:ea typeface="Arial"/>
                <a:cs typeface="Arial"/>
                <a:sym typeface="Arial"/>
              </a:rPr>
              <a:t>₹</a:t>
            </a:r>
            <a:r>
              <a:rPr lang="en-IN">
                <a:latin typeface="Cambria"/>
                <a:ea typeface="Cambria"/>
                <a:cs typeface="Cambria"/>
                <a:sym typeface="Cambria"/>
              </a:rPr>
              <a:t>5 lakh per family per year as per SECC 2011</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It covers cost of medication, hospitalization, 3 days of pre hospitalization and 15 days of post-hospitalization expenses. It also covers for secondary and </a:t>
            </a:r>
            <a:r>
              <a:rPr lang="en-IN">
                <a:latin typeface="Cambria"/>
                <a:ea typeface="Cambria"/>
                <a:cs typeface="Cambria"/>
                <a:sym typeface="Cambria"/>
              </a:rPr>
              <a:t>tertiary</a:t>
            </a:r>
            <a:r>
              <a:rPr lang="en-IN">
                <a:latin typeface="Cambria"/>
                <a:ea typeface="Cambria"/>
                <a:cs typeface="Cambria"/>
                <a:sym typeface="Cambria"/>
              </a:rPr>
              <a:t> hospitalization expenses</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Beneficiary can visit any empanelled public or private hospital to avail cashless treatment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There is no cap on the family size or age of members</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All pre-existing diseases are covered from very first day</a:t>
            </a:r>
            <a:endParaRPr>
              <a:latin typeface="Cambria"/>
              <a:ea typeface="Cambria"/>
              <a:cs typeface="Cambria"/>
              <a:sym typeface="Cambria"/>
            </a:endParaRPr>
          </a:p>
          <a:p>
            <a:pPr indent="-165100" lvl="0" marL="228600" rtl="0" algn="l">
              <a:lnSpc>
                <a:spcPct val="90000"/>
              </a:lnSpc>
              <a:spcBef>
                <a:spcPts val="1600"/>
              </a:spcBef>
              <a:spcAft>
                <a:spcPts val="1600"/>
              </a:spcAft>
              <a:buSzPts val="1800"/>
              <a:buChar char="●"/>
            </a:pPr>
            <a:r>
              <a:rPr b="1" lang="en-IN">
                <a:latin typeface="Cambria"/>
                <a:ea typeface="Cambria"/>
                <a:cs typeface="Cambria"/>
                <a:sym typeface="Cambria"/>
              </a:rPr>
              <a:t>Apply through official website: </a:t>
            </a:r>
            <a:r>
              <a:rPr lang="en-IN" u="sng">
                <a:solidFill>
                  <a:schemeClr val="hlink"/>
                </a:solidFill>
                <a:latin typeface="Cambria"/>
                <a:ea typeface="Cambria"/>
                <a:cs typeface="Cambria"/>
                <a:sym typeface="Cambria"/>
                <a:hlinkClick r:id="rId3"/>
              </a:rPr>
              <a:t>https://www.pmjay.gov.in/</a:t>
            </a:r>
            <a:r>
              <a:rPr lang="en-IN">
                <a:latin typeface="Cambria"/>
                <a:ea typeface="Cambria"/>
                <a:cs typeface="Cambria"/>
                <a:sym typeface="Cambria"/>
              </a:rPr>
              <a:t> </a:t>
            </a:r>
            <a:endParaRPr>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aba98fb692_0_0"/>
          <p:cNvSpPr txBox="1"/>
          <p:nvPr>
            <p:ph type="title"/>
          </p:nvPr>
        </p:nvSpPr>
        <p:spPr>
          <a:xfrm>
            <a:off x="838200" y="365125"/>
            <a:ext cx="10515600" cy="705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Benefits under PM-JAY</a:t>
            </a:r>
            <a:endParaRPr/>
          </a:p>
        </p:txBody>
      </p:sp>
      <p:sp>
        <p:nvSpPr>
          <p:cNvPr id="111" name="Google Shape;111;g2aba98fb692_0_0"/>
          <p:cNvSpPr txBox="1"/>
          <p:nvPr>
            <p:ph idx="1" type="body"/>
          </p:nvPr>
        </p:nvSpPr>
        <p:spPr>
          <a:xfrm>
            <a:off x="324075" y="1070425"/>
            <a:ext cx="11029800" cy="5169300"/>
          </a:xfrm>
          <a:prstGeom prst="rect">
            <a:avLst/>
          </a:prstGeom>
        </p:spPr>
        <p:txBody>
          <a:bodyPr anchorCtr="0" anchor="t" bIns="45700" lIns="91425" spcFirstLastPara="1" rIns="91425" wrap="square" tIns="45700">
            <a:noAutofit/>
          </a:bodyPr>
          <a:lstStyle/>
          <a:p>
            <a:pPr indent="-342900" lvl="0" marL="457200" rtl="0" algn="l">
              <a:lnSpc>
                <a:spcPct val="208571"/>
              </a:lnSpc>
              <a:spcBef>
                <a:spcPts val="0"/>
              </a:spcBef>
              <a:spcAft>
                <a:spcPts val="0"/>
              </a:spcAft>
              <a:buClr>
                <a:srgbClr val="000000"/>
              </a:buClr>
              <a:buSzPts val="1800"/>
              <a:buFont typeface="Arial"/>
              <a:buAutoNum type="arabicPeriod"/>
            </a:pPr>
            <a:r>
              <a:rPr b="1" lang="en-IN" sz="1691">
                <a:solidFill>
                  <a:srgbClr val="000000"/>
                </a:solidFill>
                <a:highlight>
                  <a:srgbClr val="FFFFFF"/>
                </a:highlight>
                <a:latin typeface="Arial"/>
                <a:ea typeface="Arial"/>
                <a:cs typeface="Arial"/>
                <a:sym typeface="Arial"/>
              </a:rPr>
              <a:t>Me</a:t>
            </a:r>
            <a:r>
              <a:rPr b="1" lang="en-IN" sz="1677">
                <a:solidFill>
                  <a:srgbClr val="000000"/>
                </a:solidFill>
                <a:highlight>
                  <a:srgbClr val="FFFFFF"/>
                </a:highlight>
                <a:latin typeface="Arial"/>
                <a:ea typeface="Arial"/>
                <a:cs typeface="Arial"/>
                <a:sym typeface="Arial"/>
              </a:rPr>
              <a:t>dical examination, treatment and consultation</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Pre-hospitalization</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Medicine and medical consumables</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Non-intensive and intensive care services</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Diagnostic and laboratory investigations</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Medical implantation services (where necessary)</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Accommodation benefits</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Food services</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Complications arising during treatment</a:t>
            </a:r>
            <a:endParaRPr b="1" sz="1677">
              <a:solidFill>
                <a:srgbClr val="000000"/>
              </a:solidFill>
              <a:highlight>
                <a:srgbClr val="FFFFFF"/>
              </a:highlight>
              <a:latin typeface="Arial"/>
              <a:ea typeface="Arial"/>
              <a:cs typeface="Arial"/>
              <a:sym typeface="Arial"/>
            </a:endParaRPr>
          </a:p>
          <a:p>
            <a:pPr indent="-335118" lvl="0" marL="457200" rtl="0" algn="l">
              <a:lnSpc>
                <a:spcPct val="208571"/>
              </a:lnSpc>
              <a:spcBef>
                <a:spcPts val="0"/>
              </a:spcBef>
              <a:spcAft>
                <a:spcPts val="0"/>
              </a:spcAft>
              <a:buClr>
                <a:srgbClr val="000000"/>
              </a:buClr>
              <a:buSzPts val="1677"/>
              <a:buFont typeface="Arial"/>
              <a:buAutoNum type="arabicPeriod"/>
            </a:pPr>
            <a:r>
              <a:rPr b="1" lang="en-IN" sz="1677">
                <a:solidFill>
                  <a:srgbClr val="000000"/>
                </a:solidFill>
                <a:highlight>
                  <a:srgbClr val="FFFFFF"/>
                </a:highlight>
                <a:latin typeface="Arial"/>
                <a:ea typeface="Arial"/>
                <a:cs typeface="Arial"/>
                <a:sym typeface="Arial"/>
              </a:rPr>
              <a:t>Post-hospitalization follow-up care up to 15 days</a:t>
            </a:r>
            <a:endParaRPr b="1" sz="1677">
              <a:solidFill>
                <a:srgbClr val="000000"/>
              </a:solidFill>
              <a:highlight>
                <a:srgbClr val="FFFFFF"/>
              </a:highlight>
              <a:latin typeface="Arial"/>
              <a:ea typeface="Arial"/>
              <a:cs typeface="Arial"/>
              <a:sym typeface="Arial"/>
            </a:endParaRPr>
          </a:p>
          <a:p>
            <a:pPr indent="0" lvl="0" marL="0" rtl="0" algn="l">
              <a:lnSpc>
                <a:spcPct val="70000"/>
              </a:lnSpc>
              <a:spcBef>
                <a:spcPts val="1000"/>
              </a:spcBef>
              <a:spcAft>
                <a:spcPts val="1600"/>
              </a:spcAft>
              <a:buSzPts val="523"/>
              <a:buNone/>
            </a:pPr>
            <a:r>
              <a:t/>
            </a:r>
            <a:endParaRPr sz="114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latin typeface="Cambria"/>
                <a:ea typeface="Cambria"/>
                <a:cs typeface="Cambria"/>
                <a:sym typeface="Cambria"/>
              </a:rPr>
              <a:t>Eligibility </a:t>
            </a:r>
            <a:endParaRPr>
              <a:latin typeface="Cambria"/>
              <a:ea typeface="Cambria"/>
              <a:cs typeface="Cambria"/>
              <a:sym typeface="Cambria"/>
            </a:endParaRPr>
          </a:p>
        </p:txBody>
      </p:sp>
      <p:sp>
        <p:nvSpPr>
          <p:cNvPr id="117" name="Google Shape;117;p7"/>
          <p:cNvSpPr txBox="1"/>
          <p:nvPr>
            <p:ph idx="1" type="body"/>
          </p:nvPr>
        </p:nvSpPr>
        <p:spPr>
          <a:xfrm>
            <a:off x="838200" y="1116775"/>
            <a:ext cx="10515600" cy="52746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b="1" lang="en-IN">
                <a:latin typeface="Cambria"/>
                <a:ea typeface="Cambria"/>
                <a:cs typeface="Cambria"/>
                <a:sym typeface="Cambria"/>
              </a:rPr>
              <a:t>Rural Households</a:t>
            </a:r>
            <a:endParaRPr b="1">
              <a:latin typeface="Cambria"/>
              <a:ea typeface="Cambria"/>
              <a:cs typeface="Cambria"/>
              <a:sym typeface="Cambria"/>
            </a:endParaRPr>
          </a:p>
          <a:p>
            <a:pPr indent="-241934" lvl="0" marL="228600" rtl="0" algn="l">
              <a:lnSpc>
                <a:spcPct val="90000"/>
              </a:lnSpc>
              <a:spcBef>
                <a:spcPts val="0"/>
              </a:spcBef>
              <a:spcAft>
                <a:spcPts val="0"/>
              </a:spcAft>
              <a:buClr>
                <a:schemeClr val="dk1"/>
              </a:buClr>
              <a:buSzPts val="2800"/>
              <a:buFont typeface="Cambria"/>
              <a:buChar char="●"/>
            </a:pPr>
            <a:r>
              <a:rPr lang="en-IN">
                <a:latin typeface="Cambria"/>
                <a:ea typeface="Cambria"/>
                <a:cs typeface="Cambria"/>
                <a:sym typeface="Cambria"/>
              </a:rPr>
              <a:t>Households with only one room, kutcha walls and kutcha roof</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Family which has No adult member between 16-59 years</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Family which has No adult male member between 16-59 years</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Disabled member and no able-bodied adult member</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SC/ST households </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Landless households deriving major part of their income from manual casual labour </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 Manual scavenger households</a:t>
            </a:r>
            <a:endParaRPr>
              <a:latin typeface="Cambria"/>
              <a:ea typeface="Cambria"/>
              <a:cs typeface="Cambria"/>
              <a:sym typeface="Cambria"/>
            </a:endParaRPr>
          </a:p>
          <a:p>
            <a:pPr indent="-241934" lvl="0" marL="228600" rtl="0" algn="l">
              <a:lnSpc>
                <a:spcPct val="90000"/>
              </a:lnSpc>
              <a:spcBef>
                <a:spcPts val="1000"/>
              </a:spcBef>
              <a:spcAft>
                <a:spcPts val="1600"/>
              </a:spcAft>
              <a:buClr>
                <a:schemeClr val="dk1"/>
              </a:buClr>
              <a:buSzPts val="2800"/>
              <a:buFont typeface="Cambria"/>
              <a:buChar char="●"/>
            </a:pPr>
            <a:r>
              <a:rPr lang="en-IN">
                <a:latin typeface="Cambria"/>
                <a:ea typeface="Cambria"/>
                <a:cs typeface="Cambria"/>
                <a:sym typeface="Cambria"/>
              </a:rPr>
              <a:t>Primitive tribal group, legally released bonded labour</a:t>
            </a:r>
            <a:endParaRPr>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1802200" y="2766139"/>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IN" sz="5500">
                <a:latin typeface="Cambria"/>
                <a:ea typeface="Cambria"/>
                <a:cs typeface="Cambria"/>
                <a:sym typeface="Cambria"/>
              </a:rPr>
              <a:t>L</a:t>
            </a:r>
            <a:r>
              <a:rPr lang="en-IN" sz="5500">
                <a:latin typeface="Cambria"/>
                <a:ea typeface="Cambria"/>
                <a:cs typeface="Cambria"/>
                <a:sym typeface="Cambria"/>
              </a:rPr>
              <a:t>IFE INSURANCE</a:t>
            </a:r>
            <a:endParaRPr sz="5500">
              <a:latin typeface="Cambria"/>
              <a:ea typeface="Cambria"/>
              <a:cs typeface="Cambria"/>
              <a:sym typeface="Cambria"/>
            </a:endParaRPr>
          </a:p>
        </p:txBody>
      </p:sp>
      <p:pic>
        <p:nvPicPr>
          <p:cNvPr id="123" name="Google Shape;123;p8"/>
          <p:cNvPicPr preferRelativeResize="0"/>
          <p:nvPr/>
        </p:nvPicPr>
        <p:blipFill>
          <a:blip r:embed="rId3">
            <a:alphaModFix/>
          </a:blip>
          <a:stretch>
            <a:fillRect/>
          </a:stretch>
        </p:blipFill>
        <p:spPr>
          <a:xfrm>
            <a:off x="7010400" y="893749"/>
            <a:ext cx="4390075" cy="2195050"/>
          </a:xfrm>
          <a:prstGeom prst="rect">
            <a:avLst/>
          </a:prstGeom>
          <a:noFill/>
          <a:ln>
            <a:noFill/>
          </a:ln>
        </p:spPr>
      </p:pic>
      <p:pic>
        <p:nvPicPr>
          <p:cNvPr id="124" name="Google Shape;124;p8"/>
          <p:cNvPicPr preferRelativeResize="0"/>
          <p:nvPr/>
        </p:nvPicPr>
        <p:blipFill>
          <a:blip r:embed="rId4">
            <a:alphaModFix/>
          </a:blip>
          <a:stretch>
            <a:fillRect/>
          </a:stretch>
        </p:blipFill>
        <p:spPr>
          <a:xfrm>
            <a:off x="7289200" y="3752245"/>
            <a:ext cx="4111275" cy="25623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435a013436aa57d9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30" name="Google Shape;130;g435a013436aa57d9_0"/>
          <p:cNvSpPr txBox="1"/>
          <p:nvPr>
            <p:ph idx="1" type="body"/>
          </p:nvPr>
        </p:nvSpPr>
        <p:spPr>
          <a:xfrm>
            <a:off x="2332950" y="2636500"/>
            <a:ext cx="5446500" cy="1861200"/>
          </a:xfrm>
          <a:prstGeom prst="rect">
            <a:avLst/>
          </a:prstGeom>
        </p:spPr>
        <p:txBody>
          <a:bodyPr anchorCtr="0" anchor="t" bIns="45700" lIns="91425" spcFirstLastPara="1" rIns="91425" wrap="square" tIns="45700">
            <a:normAutofit/>
          </a:bodyPr>
          <a:lstStyle/>
          <a:p>
            <a:pPr indent="0" lvl="0" marL="0" rtl="0" algn="l">
              <a:spcBef>
                <a:spcPts val="1000"/>
              </a:spcBef>
              <a:spcAft>
                <a:spcPts val="1600"/>
              </a:spcAft>
              <a:buNone/>
            </a:pPr>
            <a:r>
              <a:rPr b="1" lang="en-IN" sz="4100"/>
              <a:t>HUMAN INSURANCE</a:t>
            </a:r>
            <a:endParaRPr b="1" sz="4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15247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91666"/>
              <a:buFont typeface="Calibri"/>
              <a:buNone/>
            </a:pPr>
            <a:r>
              <a:rPr lang="en-IN">
                <a:latin typeface="Cambria"/>
                <a:ea typeface="Cambria"/>
                <a:cs typeface="Cambria"/>
                <a:sym typeface="Cambria"/>
              </a:rPr>
              <a:t>Pradhan Mantri Jeevan Jyoti Bima Yojana (PMJJBY)</a:t>
            </a:r>
            <a:endParaRPr>
              <a:latin typeface="Cambria"/>
              <a:ea typeface="Cambria"/>
              <a:cs typeface="Cambria"/>
              <a:sym typeface="Cambria"/>
            </a:endParaRPr>
          </a:p>
        </p:txBody>
      </p:sp>
      <p:sp>
        <p:nvSpPr>
          <p:cNvPr id="136" name="Google Shape;136;p9"/>
          <p:cNvSpPr txBox="1"/>
          <p:nvPr>
            <p:ph idx="1" type="body"/>
          </p:nvPr>
        </p:nvSpPr>
        <p:spPr>
          <a:xfrm>
            <a:off x="838200" y="1376326"/>
            <a:ext cx="10515600" cy="48006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mbria"/>
              <a:buChar char="●"/>
            </a:pPr>
            <a:r>
              <a:rPr lang="en-IN">
                <a:latin typeface="Cambria"/>
                <a:ea typeface="Cambria"/>
                <a:cs typeface="Cambria"/>
                <a:sym typeface="Cambria"/>
              </a:rPr>
              <a:t>Life insurance cover for death due to any reason</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It is a one year cover, renewable year to year</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Scheme offered through LIC and other life insurance companies</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Annual premium of </a:t>
            </a:r>
            <a:r>
              <a:rPr lang="en-IN" sz="2000">
                <a:latin typeface="Arial"/>
                <a:ea typeface="Arial"/>
                <a:cs typeface="Arial"/>
                <a:sym typeface="Arial"/>
              </a:rPr>
              <a:t>₹</a:t>
            </a:r>
            <a:r>
              <a:rPr lang="en-IN">
                <a:latin typeface="Cambria"/>
                <a:ea typeface="Cambria"/>
                <a:cs typeface="Cambria"/>
                <a:sym typeface="Cambria"/>
              </a:rPr>
              <a:t>436 is payable which will be auto-debited in one installment from holders account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sz="2000">
                <a:latin typeface="Arial"/>
                <a:ea typeface="Arial"/>
                <a:cs typeface="Arial"/>
                <a:sym typeface="Arial"/>
              </a:rPr>
              <a:t>₹</a:t>
            </a:r>
            <a:r>
              <a:rPr lang="en-IN">
                <a:latin typeface="Cambria"/>
                <a:ea typeface="Cambria"/>
                <a:cs typeface="Cambria"/>
                <a:sym typeface="Cambria"/>
              </a:rPr>
              <a:t>2 lakh is payable on members death due to any cause</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Insurance cover shall not be available for death (other than due to accident) occurring during first 30 days from date of enrolment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Char char="●"/>
            </a:pPr>
            <a:r>
              <a:rPr b="1" lang="en-IN">
                <a:latin typeface="Cambria"/>
                <a:ea typeface="Cambria"/>
                <a:cs typeface="Cambria"/>
                <a:sym typeface="Cambria"/>
              </a:rPr>
              <a:t>Eligibility: </a:t>
            </a:r>
            <a:r>
              <a:rPr lang="en-IN">
                <a:latin typeface="Cambria"/>
                <a:ea typeface="Cambria"/>
                <a:cs typeface="Cambria"/>
                <a:sym typeface="Cambria"/>
              </a:rPr>
              <a:t>All individual account holders of participating banks/Post office in age group of 18-50 years </a:t>
            </a:r>
            <a:endParaRPr>
              <a:latin typeface="Cambria"/>
              <a:ea typeface="Cambria"/>
              <a:cs typeface="Cambria"/>
              <a:sym typeface="Cambria"/>
            </a:endParaRPr>
          </a:p>
          <a:p>
            <a:pPr indent="-165100" lvl="0" marL="228600" rtl="0" algn="l">
              <a:lnSpc>
                <a:spcPct val="90000"/>
              </a:lnSpc>
              <a:spcBef>
                <a:spcPts val="1600"/>
              </a:spcBef>
              <a:spcAft>
                <a:spcPts val="1600"/>
              </a:spcAft>
              <a:buSzPts val="1800"/>
              <a:buChar char="●"/>
            </a:pPr>
            <a:r>
              <a:rPr b="1" lang="en-IN">
                <a:latin typeface="Cambria"/>
                <a:ea typeface="Cambria"/>
                <a:cs typeface="Cambria"/>
                <a:sym typeface="Cambria"/>
              </a:rPr>
              <a:t>How to apply</a:t>
            </a:r>
            <a:r>
              <a:rPr lang="en-IN">
                <a:latin typeface="Cambria"/>
                <a:ea typeface="Cambria"/>
                <a:cs typeface="Cambria"/>
                <a:sym typeface="Cambria"/>
              </a:rPr>
              <a:t>: </a:t>
            </a:r>
            <a:r>
              <a:rPr lang="en-IN">
                <a:latin typeface="Cambria"/>
                <a:ea typeface="Cambria"/>
                <a:cs typeface="Cambria"/>
                <a:sym typeface="Cambria"/>
              </a:rPr>
              <a:t>Approach</a:t>
            </a:r>
            <a:r>
              <a:rPr lang="en-IN">
                <a:latin typeface="Cambria"/>
                <a:ea typeface="Cambria"/>
                <a:cs typeface="Cambria"/>
                <a:sym typeface="Cambria"/>
              </a:rPr>
              <a:t> your nearest branch with Aadhar card</a:t>
            </a:r>
            <a:endParaRPr>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838200" y="170200"/>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91666"/>
              <a:buFont typeface="Calibri"/>
              <a:buNone/>
            </a:pPr>
            <a:r>
              <a:rPr lang="en-IN">
                <a:latin typeface="Cambria"/>
                <a:ea typeface="Cambria"/>
                <a:cs typeface="Cambria"/>
                <a:sym typeface="Cambria"/>
              </a:rPr>
              <a:t>Pradhan Mantri Suraksha Bima Yojana</a:t>
            </a:r>
            <a:endParaRPr>
              <a:latin typeface="Cambria"/>
              <a:ea typeface="Cambria"/>
              <a:cs typeface="Cambria"/>
              <a:sym typeface="Cambria"/>
            </a:endParaRPr>
          </a:p>
        </p:txBody>
      </p:sp>
      <p:sp>
        <p:nvSpPr>
          <p:cNvPr id="142" name="Google Shape;142;p10"/>
          <p:cNvSpPr txBox="1"/>
          <p:nvPr>
            <p:ph idx="1" type="body"/>
          </p:nvPr>
        </p:nvSpPr>
        <p:spPr>
          <a:xfrm>
            <a:off x="838200" y="1376325"/>
            <a:ext cx="10515600" cy="48909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mbria"/>
              <a:buChar char="●"/>
            </a:pPr>
            <a:r>
              <a:rPr lang="en-IN">
                <a:latin typeface="Cambria"/>
                <a:ea typeface="Cambria"/>
                <a:cs typeface="Cambria"/>
                <a:sym typeface="Cambria"/>
              </a:rPr>
              <a:t>Offers life insurance cover for protection against death or disability due to an accident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It is a one year cover, renewable year to year</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Annual premium of </a:t>
            </a:r>
            <a:r>
              <a:rPr lang="en-IN" sz="2000">
                <a:latin typeface="Arial"/>
                <a:ea typeface="Arial"/>
                <a:cs typeface="Arial"/>
                <a:sym typeface="Arial"/>
              </a:rPr>
              <a:t>₹</a:t>
            </a:r>
            <a:r>
              <a:rPr lang="en-IN">
                <a:latin typeface="Cambria"/>
                <a:ea typeface="Cambria"/>
                <a:cs typeface="Cambria"/>
                <a:sym typeface="Cambria"/>
              </a:rPr>
              <a:t>20</a:t>
            </a:r>
            <a:r>
              <a:rPr lang="en-IN">
                <a:solidFill>
                  <a:srgbClr val="FF0000"/>
                </a:solidFill>
                <a:latin typeface="Cambria"/>
                <a:ea typeface="Cambria"/>
                <a:cs typeface="Cambria"/>
                <a:sym typeface="Cambria"/>
              </a:rPr>
              <a:t> </a:t>
            </a:r>
            <a:r>
              <a:rPr lang="en-IN">
                <a:latin typeface="Cambria"/>
                <a:ea typeface="Cambria"/>
                <a:cs typeface="Cambria"/>
                <a:sym typeface="Cambria"/>
              </a:rPr>
              <a:t>is payable which will be auto-debited from holders account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 </a:t>
            </a:r>
            <a:r>
              <a:rPr lang="en-IN" sz="2000">
                <a:latin typeface="Arial"/>
                <a:ea typeface="Arial"/>
                <a:cs typeface="Arial"/>
                <a:sym typeface="Arial"/>
              </a:rPr>
              <a:t>₹</a:t>
            </a:r>
            <a:r>
              <a:rPr lang="en-IN">
                <a:latin typeface="Cambria"/>
                <a:ea typeface="Cambria"/>
                <a:cs typeface="Cambria"/>
                <a:sym typeface="Cambria"/>
              </a:rPr>
              <a:t>2 lakh payable on members death due to an accident and </a:t>
            </a:r>
            <a:r>
              <a:rPr lang="en-IN" sz="2000">
                <a:latin typeface="Arial"/>
                <a:ea typeface="Arial"/>
                <a:cs typeface="Arial"/>
                <a:sym typeface="Arial"/>
              </a:rPr>
              <a:t>₹</a:t>
            </a:r>
            <a:r>
              <a:rPr lang="en-IN">
                <a:latin typeface="Cambria"/>
                <a:ea typeface="Cambria"/>
                <a:cs typeface="Cambria"/>
                <a:sym typeface="Cambria"/>
              </a:rPr>
              <a:t>1 lakh on partial disability</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Char char="●"/>
            </a:pPr>
            <a:r>
              <a:rPr b="1" lang="en-IN">
                <a:latin typeface="Cambria"/>
                <a:ea typeface="Cambria"/>
                <a:cs typeface="Cambria"/>
                <a:sym typeface="Cambria"/>
              </a:rPr>
              <a:t>Eligibility: </a:t>
            </a:r>
            <a:r>
              <a:rPr lang="en-IN">
                <a:latin typeface="Cambria"/>
                <a:ea typeface="Cambria"/>
                <a:cs typeface="Cambria"/>
                <a:sym typeface="Cambria"/>
              </a:rPr>
              <a:t>All individual account holders of participating banks/ post office in the age group of 18-70 years</a:t>
            </a:r>
            <a:endParaRPr>
              <a:latin typeface="Cambria"/>
              <a:ea typeface="Cambria"/>
              <a:cs typeface="Cambria"/>
              <a:sym typeface="Cambria"/>
            </a:endParaRPr>
          </a:p>
          <a:p>
            <a:pPr indent="-228600" lvl="0" marL="228600" rtl="0" algn="l">
              <a:spcBef>
                <a:spcPts val="1600"/>
              </a:spcBef>
              <a:spcAft>
                <a:spcPts val="1600"/>
              </a:spcAft>
              <a:buSzPts val="1800"/>
              <a:buChar char="●"/>
            </a:pPr>
            <a:r>
              <a:rPr b="1" lang="en-IN">
                <a:latin typeface="Cambria"/>
                <a:ea typeface="Cambria"/>
                <a:cs typeface="Cambria"/>
                <a:sym typeface="Cambria"/>
              </a:rPr>
              <a:t>How to apply</a:t>
            </a:r>
            <a:r>
              <a:rPr lang="en-IN">
                <a:latin typeface="Cambria"/>
                <a:ea typeface="Cambria"/>
                <a:cs typeface="Cambria"/>
                <a:sym typeface="Cambria"/>
              </a:rPr>
              <a:t>: Approach your nearest branch with Aadhar card</a:t>
            </a:r>
            <a:endParaRPr>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435a013436aa57d9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48" name="Google Shape;148;g435a013436aa57d9_5"/>
          <p:cNvSpPr txBox="1"/>
          <p:nvPr>
            <p:ph idx="1" type="body"/>
          </p:nvPr>
        </p:nvSpPr>
        <p:spPr>
          <a:xfrm>
            <a:off x="2545300" y="2748925"/>
            <a:ext cx="5358900" cy="1524000"/>
          </a:xfrm>
          <a:prstGeom prst="rect">
            <a:avLst/>
          </a:prstGeom>
        </p:spPr>
        <p:txBody>
          <a:bodyPr anchorCtr="0" anchor="t" bIns="45700" lIns="91425" spcFirstLastPara="1" rIns="91425" wrap="square" tIns="45700">
            <a:normAutofit/>
          </a:bodyPr>
          <a:lstStyle/>
          <a:p>
            <a:pPr indent="0" lvl="0" marL="0" rtl="0" algn="l">
              <a:spcBef>
                <a:spcPts val="1000"/>
              </a:spcBef>
              <a:spcAft>
                <a:spcPts val="1600"/>
              </a:spcAft>
              <a:buNone/>
            </a:pPr>
            <a:r>
              <a:rPr b="1" lang="en-IN" sz="3000"/>
              <a:t>LIVESTOCK INSURANCE</a:t>
            </a:r>
            <a:endParaRPr b="1"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aba98fb692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Livestock insurance scheme</a:t>
            </a:r>
            <a:endParaRPr/>
          </a:p>
        </p:txBody>
      </p:sp>
      <p:sp>
        <p:nvSpPr>
          <p:cNvPr id="154" name="Google Shape;154;g2aba98fb692_0_6"/>
          <p:cNvSpPr txBox="1"/>
          <p:nvPr>
            <p:ph idx="1" type="body"/>
          </p:nvPr>
        </p:nvSpPr>
        <p:spPr>
          <a:xfrm>
            <a:off x="963125" y="1875600"/>
            <a:ext cx="10515600" cy="4351200"/>
          </a:xfrm>
          <a:prstGeom prst="rect">
            <a:avLst/>
          </a:prstGeom>
        </p:spPr>
        <p:txBody>
          <a:bodyPr anchorCtr="0" anchor="t" bIns="45700" lIns="91425" spcFirstLastPara="1" rIns="91425" wrap="square" tIns="45700">
            <a:normAutofit lnSpcReduction="20000"/>
          </a:bodyPr>
          <a:lstStyle/>
          <a:p>
            <a:pPr indent="-342900" lvl="0" marL="457200" rtl="0" algn="l">
              <a:lnSpc>
                <a:spcPct val="150000"/>
              </a:lnSpc>
              <a:spcBef>
                <a:spcPts val="1000"/>
              </a:spcBef>
              <a:spcAft>
                <a:spcPts val="0"/>
              </a:spcAft>
              <a:buSzPts val="1800"/>
              <a:buChar char="●"/>
            </a:pPr>
            <a:r>
              <a:rPr lang="en-IN"/>
              <a:t>5 animals per beneficiary per household for all animals except sheep, goat, pig and rabbit. In case of sheep, goat, pig and rabbit the benefit of subsidy is to be restricted 50 animals. </a:t>
            </a:r>
            <a:endParaRPr/>
          </a:p>
          <a:p>
            <a:pPr indent="-342900" lvl="0" marL="457200" rtl="0" algn="l">
              <a:lnSpc>
                <a:spcPct val="150000"/>
              </a:lnSpc>
              <a:spcBef>
                <a:spcPts val="0"/>
              </a:spcBef>
              <a:spcAft>
                <a:spcPts val="0"/>
              </a:spcAft>
              <a:buSzPts val="1800"/>
              <a:buChar char="●"/>
            </a:pPr>
            <a:r>
              <a:rPr lang="en-IN"/>
              <a:t>coverage of the scheme is entire country since 21st May, 2014. </a:t>
            </a:r>
            <a:endParaRPr/>
          </a:p>
          <a:p>
            <a:pPr indent="-342900" lvl="0" marL="457200" rtl="0" algn="l">
              <a:lnSpc>
                <a:spcPct val="150000"/>
              </a:lnSpc>
              <a:spcBef>
                <a:spcPts val="0"/>
              </a:spcBef>
              <a:spcAft>
                <a:spcPts val="0"/>
              </a:spcAft>
              <a:buSzPts val="1800"/>
              <a:buChar char="●"/>
            </a:pPr>
            <a:r>
              <a:rPr lang="en-IN"/>
              <a:t>75% subsidy on preminum for insurance of animals</a:t>
            </a:r>
            <a:endParaRPr/>
          </a:p>
          <a:p>
            <a:pPr indent="0" lvl="0" marL="457200" rtl="0" algn="l">
              <a:spcBef>
                <a:spcPts val="1600"/>
              </a:spcBef>
              <a:spcAft>
                <a:spcPts val="0"/>
              </a:spcAft>
              <a:buNone/>
            </a:pPr>
            <a:r>
              <a:t/>
            </a:r>
            <a:endParaRPr/>
          </a:p>
          <a:p>
            <a:pPr indent="0" lvl="0" marL="0" rtl="0" algn="l">
              <a:lnSpc>
                <a:spcPct val="150000"/>
              </a:lnSpc>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a10c85f05f_0_4"/>
          <p:cNvSpPr txBox="1"/>
          <p:nvPr>
            <p:ph type="title"/>
          </p:nvPr>
        </p:nvSpPr>
        <p:spPr>
          <a:xfrm>
            <a:off x="1263475" y="2498100"/>
            <a:ext cx="4164900" cy="1861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latin typeface="Cambria"/>
                <a:ea typeface="Cambria"/>
                <a:cs typeface="Cambria"/>
                <a:sym typeface="Cambria"/>
              </a:rPr>
              <a:t>CROP INSURANCE </a:t>
            </a:r>
            <a:endParaRPr>
              <a:latin typeface="Cambria"/>
              <a:ea typeface="Cambria"/>
              <a:cs typeface="Cambria"/>
              <a:sym typeface="Cambria"/>
            </a:endParaRPr>
          </a:p>
        </p:txBody>
      </p:sp>
      <p:pic>
        <p:nvPicPr>
          <p:cNvPr id="160" name="Google Shape;160;g2a10c85f05f_0_4"/>
          <p:cNvPicPr preferRelativeResize="0"/>
          <p:nvPr/>
        </p:nvPicPr>
        <p:blipFill>
          <a:blip r:embed="rId3">
            <a:alphaModFix/>
          </a:blip>
          <a:stretch>
            <a:fillRect/>
          </a:stretch>
        </p:blipFill>
        <p:spPr>
          <a:xfrm>
            <a:off x="5261775" y="1127050"/>
            <a:ext cx="6370224" cy="40089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2a10c85f05f_0_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Pradhan Mantri Fasal Bima Yojana</a:t>
            </a:r>
            <a:endParaRPr/>
          </a:p>
        </p:txBody>
      </p:sp>
      <p:sp>
        <p:nvSpPr>
          <p:cNvPr id="166" name="Google Shape;166;g2a10c85f05f_0_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IN"/>
              <a:t>P</a:t>
            </a:r>
            <a:r>
              <a:rPr lang="en-IN"/>
              <a:t>rovide insurance coverage and financial support to the farmers in the event of failure of any of the notified crops as a result of natural calamities, pests &amp; diseases</a:t>
            </a:r>
            <a:endParaRPr/>
          </a:p>
          <a:p>
            <a:pPr indent="-342900" lvl="0" marL="457200" rtl="0" algn="l">
              <a:spcBef>
                <a:spcPts val="0"/>
              </a:spcBef>
              <a:spcAft>
                <a:spcPts val="0"/>
              </a:spcAft>
              <a:buSzPts val="1800"/>
              <a:buChar char="●"/>
            </a:pPr>
            <a:r>
              <a:rPr lang="en-IN"/>
              <a:t>To stabilize the income of farmers to ensure their continuance in farming.</a:t>
            </a:r>
            <a:endParaRPr/>
          </a:p>
          <a:p>
            <a:pPr indent="-342900" lvl="0" marL="457200" rtl="0" algn="l">
              <a:spcBef>
                <a:spcPts val="0"/>
              </a:spcBef>
              <a:spcAft>
                <a:spcPts val="0"/>
              </a:spcAft>
              <a:buSzPts val="1800"/>
              <a:buChar char="●"/>
            </a:pPr>
            <a:r>
              <a:rPr lang="en-IN"/>
              <a:t>To encourage farmers to adopt innovative and modern agricultural practices.</a:t>
            </a:r>
            <a:endParaRPr/>
          </a:p>
          <a:p>
            <a:pPr indent="-342900" lvl="0" marL="457200" rtl="0" algn="l">
              <a:spcBef>
                <a:spcPts val="0"/>
              </a:spcBef>
              <a:spcAft>
                <a:spcPts val="0"/>
              </a:spcAft>
              <a:buSzPts val="1800"/>
              <a:buChar char="●"/>
            </a:pPr>
            <a:r>
              <a:rPr lang="en-IN"/>
              <a:t>To ensure the flow of credit to the agriculture sector</a:t>
            </a:r>
            <a:endParaRPr/>
          </a:p>
          <a:p>
            <a:pPr indent="0" lvl="0" marL="0" rtl="0" algn="l">
              <a:spcBef>
                <a:spcPts val="1600"/>
              </a:spcBef>
              <a:spcAft>
                <a:spcPts val="0"/>
              </a:spcAft>
              <a:buNone/>
            </a:pPr>
            <a:r>
              <a:t/>
            </a:r>
            <a:endParaRPr/>
          </a:p>
          <a:p>
            <a:pPr indent="-342900" lvl="0" marL="457200" rtl="0" algn="l">
              <a:spcBef>
                <a:spcPts val="1600"/>
              </a:spcBef>
              <a:spcAft>
                <a:spcPts val="0"/>
              </a:spcAft>
              <a:buSzPts val="1800"/>
              <a:buChar char="●"/>
            </a:pPr>
            <a:r>
              <a:rPr b="1" lang="en-IN"/>
              <a:t>How to apply</a:t>
            </a:r>
            <a:r>
              <a:rPr lang="en-IN"/>
              <a:t>: </a:t>
            </a:r>
            <a:r>
              <a:rPr lang="en-IN" u="sng">
                <a:solidFill>
                  <a:schemeClr val="hlink"/>
                </a:solidFill>
                <a:hlinkClick r:id="rId3"/>
              </a:rPr>
              <a:t>https://pmfby.gov.in/</a:t>
            </a:r>
            <a:endParaRPr/>
          </a:p>
          <a:p>
            <a:pPr indent="0" lvl="0" marL="45720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3141900" y="1485088"/>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IN" sz="5500">
                <a:latin typeface="Cambria"/>
                <a:ea typeface="Cambria"/>
                <a:cs typeface="Cambria"/>
                <a:sym typeface="Cambria"/>
              </a:rPr>
              <a:t>PENSION SCHEMES</a:t>
            </a:r>
            <a:endParaRPr sz="5500">
              <a:latin typeface="Cambria"/>
              <a:ea typeface="Cambria"/>
              <a:cs typeface="Cambria"/>
              <a:sym typeface="Cambria"/>
            </a:endParaRPr>
          </a:p>
        </p:txBody>
      </p:sp>
      <p:pic>
        <p:nvPicPr>
          <p:cNvPr id="172" name="Google Shape;172;p11"/>
          <p:cNvPicPr preferRelativeResize="0"/>
          <p:nvPr/>
        </p:nvPicPr>
        <p:blipFill>
          <a:blip r:embed="rId3">
            <a:alphaModFix/>
          </a:blip>
          <a:stretch>
            <a:fillRect/>
          </a:stretch>
        </p:blipFill>
        <p:spPr>
          <a:xfrm>
            <a:off x="1708900" y="824138"/>
            <a:ext cx="3140572" cy="2647575"/>
          </a:xfrm>
          <a:prstGeom prst="rect">
            <a:avLst/>
          </a:prstGeom>
          <a:noFill/>
          <a:ln>
            <a:noFill/>
          </a:ln>
        </p:spPr>
      </p:pic>
      <p:pic>
        <p:nvPicPr>
          <p:cNvPr id="173" name="Google Shape;173;p11"/>
          <p:cNvPicPr preferRelativeResize="0"/>
          <p:nvPr/>
        </p:nvPicPr>
        <p:blipFill>
          <a:blip r:embed="rId4">
            <a:alphaModFix/>
          </a:blip>
          <a:stretch>
            <a:fillRect/>
          </a:stretch>
        </p:blipFill>
        <p:spPr>
          <a:xfrm>
            <a:off x="4849475" y="3940700"/>
            <a:ext cx="3140575" cy="2191250"/>
          </a:xfrm>
          <a:prstGeom prst="rect">
            <a:avLst/>
          </a:prstGeom>
          <a:noFill/>
          <a:ln>
            <a:noFill/>
          </a:ln>
        </p:spPr>
      </p:pic>
      <p:pic>
        <p:nvPicPr>
          <p:cNvPr id="174" name="Google Shape;174;p11"/>
          <p:cNvPicPr preferRelativeResize="0"/>
          <p:nvPr/>
        </p:nvPicPr>
        <p:blipFill rotWithShape="1">
          <a:blip r:embed="rId5">
            <a:alphaModFix/>
          </a:blip>
          <a:srcRect b="11553" l="4749" r="5645" t="9476"/>
          <a:stretch/>
        </p:blipFill>
        <p:spPr>
          <a:xfrm>
            <a:off x="834825" y="3940700"/>
            <a:ext cx="3923950" cy="2191250"/>
          </a:xfrm>
          <a:prstGeom prst="rect">
            <a:avLst/>
          </a:prstGeom>
          <a:noFill/>
          <a:ln>
            <a:noFill/>
          </a:ln>
        </p:spPr>
      </p:pic>
      <p:sp>
        <p:nvSpPr>
          <p:cNvPr id="175" name="Google Shape;175;p11"/>
          <p:cNvSpPr txBox="1"/>
          <p:nvPr/>
        </p:nvSpPr>
        <p:spPr>
          <a:xfrm>
            <a:off x="8537375" y="3847150"/>
            <a:ext cx="3466200" cy="21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400">
                <a:solidFill>
                  <a:schemeClr val="dk2"/>
                </a:solidFill>
                <a:latin typeface="Open Sans"/>
                <a:ea typeface="Open Sans"/>
                <a:cs typeface="Open Sans"/>
                <a:sym typeface="Open Sans"/>
              </a:rPr>
              <a:t>Indira Gandhi Widow Pension Scheme</a:t>
            </a:r>
            <a:endParaRPr sz="2400">
              <a:solidFill>
                <a:schemeClr val="dk2"/>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838200" y="4413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91666"/>
              <a:buFont typeface="Calibri"/>
              <a:buNone/>
            </a:pPr>
            <a:r>
              <a:rPr lang="en-IN">
                <a:latin typeface="Cambria"/>
                <a:ea typeface="Cambria"/>
                <a:cs typeface="Cambria"/>
                <a:sym typeface="Cambria"/>
              </a:rPr>
              <a:t>Atal Pension Yojana</a:t>
            </a:r>
            <a:br>
              <a:rPr lang="en-IN">
                <a:latin typeface="Cambria"/>
                <a:ea typeface="Cambria"/>
                <a:cs typeface="Cambria"/>
                <a:sym typeface="Cambria"/>
              </a:rPr>
            </a:br>
            <a:endParaRPr>
              <a:latin typeface="Cambria"/>
              <a:ea typeface="Cambria"/>
              <a:cs typeface="Cambria"/>
              <a:sym typeface="Cambria"/>
            </a:endParaRPr>
          </a:p>
        </p:txBody>
      </p:sp>
      <p:sp>
        <p:nvSpPr>
          <p:cNvPr id="181" name="Google Shape;181;p14"/>
          <p:cNvSpPr txBox="1"/>
          <p:nvPr>
            <p:ph idx="1" type="body"/>
          </p:nvPr>
        </p:nvSpPr>
        <p:spPr>
          <a:xfrm>
            <a:off x="838200" y="1270000"/>
            <a:ext cx="10828200" cy="5280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latin typeface="Cambria"/>
                <a:ea typeface="Cambria"/>
                <a:cs typeface="Cambria"/>
                <a:sym typeface="Cambria"/>
              </a:rPr>
              <a:t>Pension scheme focused on providing social security to unorganized sector workers</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Guaranteed minimum pension ranging between  </a:t>
            </a:r>
            <a:r>
              <a:rPr lang="en-IN" sz="2000">
                <a:latin typeface="Arial"/>
                <a:ea typeface="Arial"/>
                <a:cs typeface="Arial"/>
                <a:sym typeface="Arial"/>
              </a:rPr>
              <a:t>₹</a:t>
            </a:r>
            <a:r>
              <a:rPr lang="en-IN">
                <a:latin typeface="Cambria"/>
                <a:ea typeface="Cambria"/>
                <a:cs typeface="Cambria"/>
                <a:sym typeface="Cambria"/>
              </a:rPr>
              <a:t>1000 to </a:t>
            </a:r>
            <a:r>
              <a:rPr lang="en-IN" sz="2000">
                <a:latin typeface="Arial"/>
                <a:ea typeface="Arial"/>
                <a:cs typeface="Arial"/>
                <a:sym typeface="Arial"/>
              </a:rPr>
              <a:t>₹</a:t>
            </a:r>
            <a:r>
              <a:rPr lang="en-IN">
                <a:latin typeface="Cambria"/>
                <a:ea typeface="Cambria"/>
                <a:cs typeface="Cambria"/>
                <a:sym typeface="Cambria"/>
              </a:rPr>
              <a:t>5000 per month depending upon the contribution of subscribers </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Font typeface="Cambria"/>
              <a:buChar char="●"/>
            </a:pPr>
            <a:r>
              <a:rPr lang="en-IN">
                <a:latin typeface="Cambria"/>
                <a:ea typeface="Cambria"/>
                <a:cs typeface="Cambria"/>
                <a:sym typeface="Cambria"/>
              </a:rPr>
              <a:t>The exit is permitted at the age of 60. In case of death of subscriber the pension will be available to spouse and on the death of both of them the pension corpus would be returned to nominee</a:t>
            </a:r>
            <a:endParaRPr>
              <a:latin typeface="Cambria"/>
              <a:ea typeface="Cambria"/>
              <a:cs typeface="Cambria"/>
              <a:sym typeface="Cambria"/>
            </a:endParaRPr>
          </a:p>
          <a:p>
            <a:pPr indent="-241934" lvl="0" marL="228600" rtl="0" algn="l">
              <a:lnSpc>
                <a:spcPct val="90000"/>
              </a:lnSpc>
              <a:spcBef>
                <a:spcPts val="1000"/>
              </a:spcBef>
              <a:spcAft>
                <a:spcPts val="0"/>
              </a:spcAft>
              <a:buClr>
                <a:schemeClr val="dk1"/>
              </a:buClr>
              <a:buSzPts val="2800"/>
              <a:buChar char="●"/>
            </a:pPr>
            <a:r>
              <a:rPr b="1" lang="en-IN">
                <a:latin typeface="Cambria"/>
                <a:ea typeface="Cambria"/>
                <a:cs typeface="Cambria"/>
                <a:sym typeface="Cambria"/>
              </a:rPr>
              <a:t>Eligibility: </a:t>
            </a:r>
            <a:r>
              <a:rPr lang="en-IN">
                <a:latin typeface="Cambria"/>
                <a:ea typeface="Cambria"/>
                <a:cs typeface="Cambria"/>
                <a:sym typeface="Cambria"/>
              </a:rPr>
              <a:t>Subscriber should be between 18-40 years and should have a savings account in bank or post office</a:t>
            </a:r>
            <a:endParaRPr>
              <a:latin typeface="Cambria"/>
              <a:ea typeface="Cambria"/>
              <a:cs typeface="Cambria"/>
              <a:sym typeface="Cambria"/>
            </a:endParaRPr>
          </a:p>
          <a:p>
            <a:pPr indent="-178435" lvl="0" marL="228600" rtl="0" algn="l">
              <a:lnSpc>
                <a:spcPct val="90000"/>
              </a:lnSpc>
              <a:spcBef>
                <a:spcPts val="1000"/>
              </a:spcBef>
              <a:spcAft>
                <a:spcPts val="0"/>
              </a:spcAft>
              <a:buSzPts val="1800"/>
              <a:buFont typeface="Cambria"/>
              <a:buChar char="●"/>
            </a:pPr>
            <a:r>
              <a:rPr lang="en-IN">
                <a:latin typeface="Cambria"/>
                <a:ea typeface="Cambria"/>
                <a:cs typeface="Cambria"/>
                <a:sym typeface="Cambria"/>
              </a:rPr>
              <a:t>Non income tax payee</a:t>
            </a:r>
            <a:endParaRPr>
              <a:latin typeface="Cambria"/>
              <a:ea typeface="Cambria"/>
              <a:cs typeface="Cambria"/>
              <a:sym typeface="Cambria"/>
            </a:endParaRPr>
          </a:p>
          <a:p>
            <a:pPr indent="-228600" lvl="0" marL="228600" rtl="0" algn="l">
              <a:spcBef>
                <a:spcPts val="1000"/>
              </a:spcBef>
              <a:spcAft>
                <a:spcPts val="0"/>
              </a:spcAft>
              <a:buSzPts val="1800"/>
              <a:buChar char="●"/>
            </a:pPr>
            <a:r>
              <a:rPr b="1" lang="en-IN">
                <a:latin typeface="Cambria"/>
                <a:ea typeface="Cambria"/>
                <a:cs typeface="Cambria"/>
                <a:sym typeface="Cambria"/>
              </a:rPr>
              <a:t>How to apply</a:t>
            </a:r>
            <a:r>
              <a:rPr lang="en-IN">
                <a:latin typeface="Cambria"/>
                <a:ea typeface="Cambria"/>
                <a:cs typeface="Cambria"/>
                <a:sym typeface="Cambria"/>
              </a:rPr>
              <a:t>: Approach your nearest bank branch </a:t>
            </a:r>
            <a:endParaRPr>
              <a:latin typeface="Cambria"/>
              <a:ea typeface="Cambria"/>
              <a:cs typeface="Cambria"/>
              <a:sym typeface="Cambria"/>
            </a:endParaRPr>
          </a:p>
          <a:p>
            <a:pPr indent="-64135" lvl="0" marL="228600" rtl="0" algn="l">
              <a:lnSpc>
                <a:spcPct val="90000"/>
              </a:lnSpc>
              <a:spcBef>
                <a:spcPts val="1600"/>
              </a:spcBef>
              <a:spcAft>
                <a:spcPts val="1600"/>
              </a:spcAft>
              <a:buClr>
                <a:schemeClr val="dk1"/>
              </a:buClr>
              <a:buSzPts val="2800"/>
              <a:buNone/>
            </a:pPr>
            <a:r>
              <a:t/>
            </a:r>
            <a:endParaRPr>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idx="1" type="body"/>
          </p:nvPr>
        </p:nvSpPr>
        <p:spPr>
          <a:xfrm>
            <a:off x="824100" y="1116300"/>
            <a:ext cx="10543800" cy="5741700"/>
          </a:xfrm>
          <a:prstGeom prst="rect">
            <a:avLst/>
          </a:prstGeom>
          <a:noFill/>
          <a:ln>
            <a:noFill/>
          </a:ln>
        </p:spPr>
        <p:txBody>
          <a:bodyPr anchorCtr="0" anchor="t" bIns="45700" lIns="91425" spcFirstLastPara="1" rIns="91425" wrap="square" tIns="45700">
            <a:normAutofit lnSpcReduction="10000"/>
          </a:bodyPr>
          <a:lstStyle/>
          <a:p>
            <a:pPr indent="-234950" lvl="0" marL="228600" rtl="0" algn="l">
              <a:lnSpc>
                <a:spcPct val="100000"/>
              </a:lnSpc>
              <a:spcBef>
                <a:spcPts val="0"/>
              </a:spcBef>
              <a:spcAft>
                <a:spcPts val="0"/>
              </a:spcAft>
              <a:buClr>
                <a:schemeClr val="accent1"/>
              </a:buClr>
              <a:buSzPts val="2900"/>
              <a:buFont typeface="Cambria"/>
              <a:buChar char="❑"/>
            </a:pPr>
            <a:r>
              <a:rPr b="1" lang="en-IN" sz="2500">
                <a:solidFill>
                  <a:schemeClr val="accent1"/>
                </a:solidFill>
                <a:latin typeface="Cambria"/>
                <a:ea typeface="Cambria"/>
                <a:cs typeface="Cambria"/>
                <a:sym typeface="Cambria"/>
              </a:rPr>
              <a:t>Indira Gandhi National Old Age Pension Scheme</a:t>
            </a:r>
            <a:endParaRPr sz="2500">
              <a:solidFill>
                <a:schemeClr val="accent1"/>
              </a:solidFill>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rPr lang="en-IN">
                <a:latin typeface="Cambria"/>
                <a:ea typeface="Cambria"/>
                <a:cs typeface="Cambria"/>
                <a:sym typeface="Cambria"/>
              </a:rPr>
              <a:t>GoI provides financial assistance of </a:t>
            </a:r>
            <a:r>
              <a:rPr lang="en-IN" sz="2000">
                <a:latin typeface="Arial"/>
                <a:ea typeface="Arial"/>
                <a:cs typeface="Arial"/>
                <a:sym typeface="Arial"/>
              </a:rPr>
              <a:t>₹</a:t>
            </a:r>
            <a:r>
              <a:rPr lang="en-IN">
                <a:latin typeface="Cambria"/>
                <a:ea typeface="Cambria"/>
                <a:cs typeface="Cambria"/>
                <a:sym typeface="Cambria"/>
              </a:rPr>
              <a:t>200/month (between 60-79 years) and </a:t>
            </a:r>
            <a:r>
              <a:rPr lang="en-IN" sz="2000">
                <a:latin typeface="Arial"/>
                <a:ea typeface="Arial"/>
                <a:cs typeface="Arial"/>
                <a:sym typeface="Arial"/>
              </a:rPr>
              <a:t>₹</a:t>
            </a:r>
            <a:r>
              <a:rPr lang="en-IN">
                <a:latin typeface="Cambria"/>
                <a:ea typeface="Cambria"/>
                <a:cs typeface="Cambria"/>
                <a:sym typeface="Cambria"/>
              </a:rPr>
              <a:t>500/month (80 years and above). State govts also contribute to this financial assistance.</a:t>
            </a:r>
            <a:endParaRPr>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rPr b="1" lang="en-IN">
                <a:latin typeface="Cambria"/>
                <a:ea typeface="Cambria"/>
                <a:cs typeface="Cambria"/>
                <a:sym typeface="Cambria"/>
              </a:rPr>
              <a:t>Eligibility:</a:t>
            </a:r>
            <a:r>
              <a:rPr lang="en-IN">
                <a:latin typeface="Cambria"/>
                <a:ea typeface="Cambria"/>
                <a:cs typeface="Cambria"/>
                <a:sym typeface="Cambria"/>
              </a:rPr>
              <a:t> Applicant should be minimum 60 years old, belong to BPL and not receiving any other social welfare pensions</a:t>
            </a:r>
            <a:endParaRPr>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rPr b="1" lang="en-IN">
                <a:latin typeface="Cambria"/>
                <a:ea typeface="Cambria"/>
                <a:cs typeface="Cambria"/>
                <a:sym typeface="Cambria"/>
              </a:rPr>
              <a:t>Whom to approach</a:t>
            </a:r>
            <a:r>
              <a:rPr lang="en-IN">
                <a:latin typeface="Cambria"/>
                <a:ea typeface="Cambria"/>
                <a:cs typeface="Cambria"/>
                <a:sym typeface="Cambria"/>
              </a:rPr>
              <a:t>: Gram panchayat office</a:t>
            </a:r>
            <a:endParaRPr>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t/>
            </a:r>
            <a:endParaRPr>
              <a:latin typeface="Cambria"/>
              <a:ea typeface="Cambria"/>
              <a:cs typeface="Cambria"/>
              <a:sym typeface="Cambria"/>
            </a:endParaRPr>
          </a:p>
          <a:p>
            <a:pPr indent="-234950" lvl="0" marL="228600" rtl="0" algn="l">
              <a:lnSpc>
                <a:spcPct val="100000"/>
              </a:lnSpc>
              <a:spcBef>
                <a:spcPts val="1000"/>
              </a:spcBef>
              <a:spcAft>
                <a:spcPts val="0"/>
              </a:spcAft>
              <a:buClr>
                <a:schemeClr val="accent1"/>
              </a:buClr>
              <a:buSzPts val="2900"/>
              <a:buFont typeface="Cambria"/>
              <a:buChar char="❑"/>
            </a:pPr>
            <a:r>
              <a:rPr b="1" lang="en-IN" sz="2500">
                <a:solidFill>
                  <a:schemeClr val="accent1"/>
                </a:solidFill>
                <a:latin typeface="Cambria"/>
                <a:ea typeface="Cambria"/>
                <a:cs typeface="Cambria"/>
                <a:sym typeface="Cambria"/>
              </a:rPr>
              <a:t>Indira Gandhi National Widow Pension Scheme</a:t>
            </a:r>
            <a:endParaRPr sz="2500">
              <a:solidFill>
                <a:schemeClr val="accent1"/>
              </a:solidFill>
              <a:latin typeface="Cambria"/>
              <a:ea typeface="Cambria"/>
              <a:cs typeface="Cambria"/>
              <a:sym typeface="Cambria"/>
            </a:endParaRPr>
          </a:p>
          <a:p>
            <a:pPr indent="0" lvl="0" marL="0" rtl="0" algn="l">
              <a:lnSpc>
                <a:spcPct val="100000"/>
              </a:lnSpc>
              <a:spcBef>
                <a:spcPts val="1000"/>
              </a:spcBef>
              <a:spcAft>
                <a:spcPts val="0"/>
              </a:spcAft>
              <a:buClr>
                <a:srgbClr val="FF0000"/>
              </a:buClr>
              <a:buSzPts val="2800"/>
              <a:buNone/>
            </a:pPr>
            <a:r>
              <a:rPr lang="en-IN">
                <a:latin typeface="Cambria"/>
                <a:ea typeface="Cambria"/>
                <a:cs typeface="Cambria"/>
                <a:sym typeface="Cambria"/>
              </a:rPr>
              <a:t>GoI provides financial assistance of </a:t>
            </a:r>
            <a:r>
              <a:rPr lang="en-IN" sz="2000">
                <a:latin typeface="Arial"/>
                <a:ea typeface="Arial"/>
                <a:cs typeface="Arial"/>
                <a:sym typeface="Arial"/>
              </a:rPr>
              <a:t>₹</a:t>
            </a:r>
            <a:r>
              <a:rPr lang="en-IN">
                <a:latin typeface="Cambria"/>
                <a:ea typeface="Cambria"/>
                <a:cs typeface="Cambria"/>
                <a:sym typeface="Cambria"/>
              </a:rPr>
              <a:t>200/month </a:t>
            </a:r>
            <a:endParaRPr>
              <a:latin typeface="Cambria"/>
              <a:ea typeface="Cambria"/>
              <a:cs typeface="Cambria"/>
              <a:sym typeface="Cambria"/>
            </a:endParaRPr>
          </a:p>
          <a:p>
            <a:pPr indent="0" lvl="0" marL="0" rtl="0" algn="l">
              <a:lnSpc>
                <a:spcPct val="100000"/>
              </a:lnSpc>
              <a:spcBef>
                <a:spcPts val="1000"/>
              </a:spcBef>
              <a:spcAft>
                <a:spcPts val="0"/>
              </a:spcAft>
              <a:buClr>
                <a:srgbClr val="FF0000"/>
              </a:buClr>
              <a:buSzPts val="2800"/>
              <a:buNone/>
            </a:pPr>
            <a:r>
              <a:rPr b="1" lang="en-IN">
                <a:latin typeface="Cambria"/>
                <a:ea typeface="Cambria"/>
                <a:cs typeface="Cambria"/>
                <a:sym typeface="Cambria"/>
              </a:rPr>
              <a:t>Eligibility: </a:t>
            </a:r>
            <a:r>
              <a:rPr lang="en-IN">
                <a:latin typeface="Cambria"/>
                <a:ea typeface="Cambria"/>
                <a:cs typeface="Cambria"/>
                <a:sym typeface="Cambria"/>
              </a:rPr>
              <a:t>Widow in age group of 40-59 years from BPL household</a:t>
            </a:r>
            <a:endParaRPr>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rPr b="1" lang="en-IN">
                <a:latin typeface="Cambria"/>
                <a:ea typeface="Cambria"/>
                <a:cs typeface="Cambria"/>
                <a:sym typeface="Cambria"/>
              </a:rPr>
              <a:t>Whom to approach</a:t>
            </a:r>
            <a:r>
              <a:rPr lang="en-IN">
                <a:latin typeface="Cambria"/>
                <a:ea typeface="Cambria"/>
                <a:cs typeface="Cambria"/>
                <a:sym typeface="Cambria"/>
              </a:rPr>
              <a:t>: Gram panchayat office</a:t>
            </a:r>
            <a:endParaRPr>
              <a:latin typeface="Cambria"/>
              <a:ea typeface="Cambria"/>
              <a:cs typeface="Cambria"/>
              <a:sym typeface="Cambria"/>
            </a:endParaRPr>
          </a:p>
          <a:p>
            <a:pPr indent="-50800" lvl="0" marL="228600" rtl="0" algn="l">
              <a:lnSpc>
                <a:spcPct val="100000"/>
              </a:lnSpc>
              <a:spcBef>
                <a:spcPts val="1000"/>
              </a:spcBef>
              <a:spcAft>
                <a:spcPts val="1600"/>
              </a:spcAft>
              <a:buClr>
                <a:schemeClr val="dk1"/>
              </a:buClr>
              <a:buSzPts val="2800"/>
              <a:buNone/>
            </a:pPr>
            <a:r>
              <a:t/>
            </a:r>
            <a:endParaRPr>
              <a:latin typeface="Cambria"/>
              <a:ea typeface="Cambria"/>
              <a:cs typeface="Cambria"/>
              <a:sym typeface="Cambria"/>
            </a:endParaRPr>
          </a:p>
        </p:txBody>
      </p:sp>
      <p:sp>
        <p:nvSpPr>
          <p:cNvPr id="187" name="Google Shape;187;p12"/>
          <p:cNvSpPr txBox="1"/>
          <p:nvPr/>
        </p:nvSpPr>
        <p:spPr>
          <a:xfrm>
            <a:off x="750175" y="348500"/>
            <a:ext cx="10012200" cy="51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3000">
                <a:solidFill>
                  <a:schemeClr val="accent1"/>
                </a:solidFill>
                <a:latin typeface="Cambria"/>
                <a:ea typeface="Cambria"/>
                <a:cs typeface="Cambria"/>
                <a:sym typeface="Cambria"/>
              </a:rPr>
              <a:t>National Social Assistance Programme (NSAP)</a:t>
            </a:r>
            <a:endParaRPr b="1" sz="3000">
              <a:solidFill>
                <a:schemeClr val="accent1"/>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idx="1" type="body"/>
          </p:nvPr>
        </p:nvSpPr>
        <p:spPr>
          <a:xfrm>
            <a:off x="997700" y="1010450"/>
            <a:ext cx="10668600" cy="5345400"/>
          </a:xfrm>
          <a:prstGeom prst="rect">
            <a:avLst/>
          </a:prstGeom>
          <a:noFill/>
          <a:ln>
            <a:noFill/>
          </a:ln>
        </p:spPr>
        <p:txBody>
          <a:bodyPr anchorCtr="0" anchor="t" bIns="45700" lIns="91425" spcFirstLastPara="1" rIns="91425" wrap="square" tIns="45700">
            <a:normAutofit/>
          </a:bodyPr>
          <a:lstStyle/>
          <a:p>
            <a:pPr indent="-234950" lvl="0" marL="228600" rtl="0" algn="l">
              <a:lnSpc>
                <a:spcPct val="90000"/>
              </a:lnSpc>
              <a:spcBef>
                <a:spcPts val="0"/>
              </a:spcBef>
              <a:spcAft>
                <a:spcPts val="0"/>
              </a:spcAft>
              <a:buClr>
                <a:schemeClr val="accent1"/>
              </a:buClr>
              <a:buSzPts val="2900"/>
              <a:buFont typeface="Cambria"/>
              <a:buChar char="❑"/>
            </a:pPr>
            <a:r>
              <a:rPr b="1" lang="en-IN" sz="2500">
                <a:solidFill>
                  <a:schemeClr val="accent1"/>
                </a:solidFill>
                <a:latin typeface="Cambria"/>
                <a:ea typeface="Cambria"/>
                <a:cs typeface="Cambria"/>
                <a:sym typeface="Cambria"/>
              </a:rPr>
              <a:t>Indira Gandhi National Disability Pension Scheme</a:t>
            </a:r>
            <a:endParaRPr sz="2500">
              <a:solidFill>
                <a:schemeClr val="accent1"/>
              </a:solidFill>
              <a:latin typeface="Cambria"/>
              <a:ea typeface="Cambria"/>
              <a:cs typeface="Cambria"/>
              <a:sym typeface="Cambria"/>
            </a:endParaRPr>
          </a:p>
          <a:p>
            <a:pPr indent="0" lvl="0" marL="0" rtl="0" algn="l">
              <a:lnSpc>
                <a:spcPct val="90000"/>
              </a:lnSpc>
              <a:spcBef>
                <a:spcPts val="1000"/>
              </a:spcBef>
              <a:spcAft>
                <a:spcPts val="0"/>
              </a:spcAft>
              <a:buClr>
                <a:schemeClr val="dk1"/>
              </a:buClr>
              <a:buSzPts val="2800"/>
              <a:buNone/>
            </a:pPr>
            <a:r>
              <a:rPr lang="en-IN">
                <a:latin typeface="Cambria"/>
                <a:ea typeface="Cambria"/>
                <a:cs typeface="Cambria"/>
                <a:sym typeface="Cambria"/>
              </a:rPr>
              <a:t>A pension of Rs.300/- per month is provided to Divyangjan between 18 years and 79 years. For persons who are 80 years and above the pension of Rs.500/- per month will be provided.</a:t>
            </a:r>
            <a:endParaRPr>
              <a:latin typeface="Cambria"/>
              <a:ea typeface="Cambria"/>
              <a:cs typeface="Cambria"/>
              <a:sym typeface="Cambria"/>
            </a:endParaRPr>
          </a:p>
          <a:p>
            <a:pPr indent="0" lvl="0" marL="0" rtl="0" algn="l">
              <a:lnSpc>
                <a:spcPct val="90000"/>
              </a:lnSpc>
              <a:spcBef>
                <a:spcPts val="1000"/>
              </a:spcBef>
              <a:spcAft>
                <a:spcPts val="0"/>
              </a:spcAft>
              <a:buClr>
                <a:schemeClr val="dk1"/>
              </a:buClr>
              <a:buSzPts val="2800"/>
              <a:buNone/>
            </a:pPr>
            <a:r>
              <a:rPr lang="en-IN">
                <a:latin typeface="Cambria"/>
                <a:ea typeface="Cambria"/>
                <a:cs typeface="Cambria"/>
                <a:sym typeface="Cambria"/>
              </a:rPr>
              <a:t>Dwarfs will also be an eligible category</a:t>
            </a:r>
            <a:endParaRPr>
              <a:latin typeface="Cambria"/>
              <a:ea typeface="Cambria"/>
              <a:cs typeface="Cambria"/>
              <a:sym typeface="Cambria"/>
            </a:endParaRPr>
          </a:p>
          <a:p>
            <a:pPr indent="0" lvl="0" marL="0" rtl="0" algn="l">
              <a:lnSpc>
                <a:spcPct val="90000"/>
              </a:lnSpc>
              <a:spcBef>
                <a:spcPts val="1000"/>
              </a:spcBef>
              <a:spcAft>
                <a:spcPts val="0"/>
              </a:spcAft>
              <a:buClr>
                <a:schemeClr val="dk1"/>
              </a:buClr>
              <a:buSzPts val="2800"/>
              <a:buNone/>
            </a:pPr>
            <a:r>
              <a:rPr b="1" lang="en-IN">
                <a:latin typeface="Cambria"/>
                <a:ea typeface="Cambria"/>
                <a:cs typeface="Cambria"/>
                <a:sym typeface="Cambria"/>
              </a:rPr>
              <a:t>Eligibility: </a:t>
            </a:r>
            <a:r>
              <a:rPr lang="en-IN">
                <a:latin typeface="Cambria"/>
                <a:ea typeface="Cambria"/>
                <a:cs typeface="Cambria"/>
                <a:sym typeface="Cambria"/>
              </a:rPr>
              <a:t>Applicant must be between 18-79 years with severe or multiple disabilities( 80% or above) and belonging to BPL household</a:t>
            </a:r>
            <a:endParaRPr>
              <a:latin typeface="Cambria"/>
              <a:ea typeface="Cambria"/>
              <a:cs typeface="Cambria"/>
              <a:sym typeface="Cambria"/>
            </a:endParaRPr>
          </a:p>
          <a:p>
            <a:pPr indent="0" lvl="0" marL="0" rtl="0" algn="l">
              <a:lnSpc>
                <a:spcPct val="100000"/>
              </a:lnSpc>
              <a:spcBef>
                <a:spcPts val="1600"/>
              </a:spcBef>
              <a:spcAft>
                <a:spcPts val="0"/>
              </a:spcAft>
              <a:buClr>
                <a:schemeClr val="dk1"/>
              </a:buClr>
              <a:buSzPts val="2800"/>
              <a:buNone/>
            </a:pPr>
            <a:r>
              <a:rPr b="1" lang="en-IN">
                <a:latin typeface="Cambria"/>
                <a:ea typeface="Cambria"/>
                <a:cs typeface="Cambria"/>
                <a:sym typeface="Cambria"/>
              </a:rPr>
              <a:t>How to apply</a:t>
            </a:r>
            <a:r>
              <a:rPr lang="en-IN">
                <a:latin typeface="Cambria"/>
                <a:ea typeface="Cambria"/>
                <a:cs typeface="Cambria"/>
                <a:sym typeface="Cambria"/>
              </a:rPr>
              <a:t>: </a:t>
            </a:r>
            <a:r>
              <a:rPr lang="en-IN" sz="2000">
                <a:solidFill>
                  <a:srgbClr val="000000"/>
                </a:solidFill>
                <a:latin typeface="Cambria"/>
                <a:ea typeface="Cambria"/>
                <a:cs typeface="Cambria"/>
                <a:sym typeface="Cambria"/>
              </a:rPr>
              <a:t>Download UMANG App or visit</a:t>
            </a:r>
            <a:r>
              <a:rPr lang="en-IN" sz="2000">
                <a:solidFill>
                  <a:srgbClr val="000000"/>
                </a:solidFill>
                <a:uFill>
                  <a:noFill/>
                </a:uFill>
                <a:latin typeface="Cambria"/>
                <a:ea typeface="Cambria"/>
                <a:cs typeface="Cambria"/>
                <a:sym typeface="Cambria"/>
                <a:hlinkClick r:id="rId3">
                  <a:extLst>
                    <a:ext uri="{A12FA001-AC4F-418D-AE19-62706E023703}">
                      <ahyp:hlinkClr val="tx"/>
                    </a:ext>
                  </a:extLst>
                </a:hlinkClick>
              </a:rPr>
              <a:t> </a:t>
            </a:r>
            <a:r>
              <a:rPr lang="en-IN" sz="2000" u="sng">
                <a:solidFill>
                  <a:schemeClr val="hlink"/>
                </a:solidFill>
                <a:latin typeface="Cambria"/>
                <a:ea typeface="Cambria"/>
                <a:cs typeface="Cambria"/>
                <a:sym typeface="Cambria"/>
                <a:hlinkClick r:id="rId4"/>
              </a:rPr>
              <a:t>https://web.umang.gov.in/web_new/home</a:t>
            </a:r>
            <a:endParaRPr sz="2000">
              <a:latin typeface="Cambria"/>
              <a:ea typeface="Cambria"/>
              <a:cs typeface="Cambria"/>
              <a:sym typeface="Cambria"/>
            </a:endParaRPr>
          </a:p>
          <a:p>
            <a:pPr indent="0" lvl="0" marL="0" rtl="0" algn="l">
              <a:lnSpc>
                <a:spcPct val="100000"/>
              </a:lnSpc>
              <a:spcBef>
                <a:spcPts val="1000"/>
              </a:spcBef>
              <a:spcAft>
                <a:spcPts val="0"/>
              </a:spcAft>
              <a:buClr>
                <a:schemeClr val="dk1"/>
              </a:buClr>
              <a:buSzPts val="2800"/>
              <a:buNone/>
            </a:pPr>
            <a:r>
              <a:t/>
            </a:r>
            <a:endParaRPr>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a03f7ee081_0_33"/>
          <p:cNvSpPr txBox="1"/>
          <p:nvPr>
            <p:ph type="title"/>
          </p:nvPr>
        </p:nvSpPr>
        <p:spPr>
          <a:xfrm>
            <a:off x="5469275" y="2737600"/>
            <a:ext cx="7052700" cy="2452500"/>
          </a:xfrm>
          <a:prstGeom prst="rect">
            <a:avLst/>
          </a:prstGeom>
        </p:spPr>
        <p:txBody>
          <a:bodyPr anchorCtr="0" anchor="t" bIns="121900" lIns="121900" spcFirstLastPara="1" rIns="121900" wrap="square" tIns="121900">
            <a:normAutofit/>
          </a:bodyPr>
          <a:lstStyle/>
          <a:p>
            <a:pPr indent="0" lvl="0" marL="0" rtl="0" algn="ctr">
              <a:spcBef>
                <a:spcPts val="0"/>
              </a:spcBef>
              <a:spcAft>
                <a:spcPts val="0"/>
              </a:spcAft>
              <a:buNone/>
            </a:pPr>
            <a:r>
              <a:rPr lang="en-IN" sz="6000">
                <a:latin typeface="Cambria"/>
                <a:ea typeface="Cambria"/>
                <a:cs typeface="Cambria"/>
                <a:sym typeface="Cambria"/>
              </a:rPr>
              <a:t>Any Questions?</a:t>
            </a:r>
            <a:endParaRPr sz="6000">
              <a:latin typeface="Cambria"/>
              <a:ea typeface="Cambria"/>
              <a:cs typeface="Cambria"/>
              <a:sym typeface="Cambria"/>
            </a:endParaRPr>
          </a:p>
        </p:txBody>
      </p:sp>
      <p:pic>
        <p:nvPicPr>
          <p:cNvPr descr="Hand drawn stickman confused with speech bubble question mark. Simple  outline curious doodle icon clipart. For question support clipart Stock  Vector Image &amp; Art - Alamy" id="198" name="Google Shape;198;g2a03f7ee081_0_33"/>
          <p:cNvPicPr preferRelativeResize="0"/>
          <p:nvPr/>
        </p:nvPicPr>
        <p:blipFill rotWithShape="1">
          <a:blip r:embed="rId3">
            <a:alphaModFix/>
          </a:blip>
          <a:srcRect b="0" l="0" r="0" t="0"/>
          <a:stretch/>
        </p:blipFill>
        <p:spPr>
          <a:xfrm>
            <a:off x="887825" y="885775"/>
            <a:ext cx="5011050" cy="4929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g2a03f7ee081_0_24"/>
          <p:cNvPicPr preferRelativeResize="0"/>
          <p:nvPr/>
        </p:nvPicPr>
        <p:blipFill rotWithShape="1">
          <a:blip r:embed="rId3">
            <a:alphaModFix/>
          </a:blip>
          <a:srcRect b="8037" l="0" r="0" t="0"/>
          <a:stretch/>
        </p:blipFill>
        <p:spPr>
          <a:xfrm>
            <a:off x="952200" y="577575"/>
            <a:ext cx="10321625" cy="5618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2023-11-28T08:04:30Z</dcterms:created>
  <dc:creator>Sonal</dc:creator>
</cp:coreProperties>
</file>