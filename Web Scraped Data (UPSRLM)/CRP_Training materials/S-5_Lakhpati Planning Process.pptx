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Fira Sans Extra Condensed"/>
      <p:regular r:id="rId28"/>
      <p:bold r:id="rId29"/>
      <p:italic r:id="rId30"/>
      <p:boldItalic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LuNGun4BoiphXJizF5FwIA8UD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11" Type="http://schemas.openxmlformats.org/officeDocument/2006/relationships/slide" Target="slides/slide7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This section will focus on understanding the concepts and elements of sustainable livelihoods.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16754b1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2616754b188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16754b18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2616754b188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a3b50dc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a3b50dc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394a7370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15394a73706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20daf16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2620daf16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20daf16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620daf16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Image Full">
  <p:cSld name="Quote 1 Image Full">
    <p:bg>
      <p:bgPr>
        <a:solidFill>
          <a:srgbClr val="DEDEDE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" name="Google Shape;10;p28"/>
          <p:cNvSpPr txBox="1"/>
          <p:nvPr>
            <p:ph idx="1" type="body"/>
          </p:nvPr>
        </p:nvSpPr>
        <p:spPr>
          <a:xfrm>
            <a:off x="0" y="857250"/>
            <a:ext cx="3429000" cy="3429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sz="195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8"/>
          <p:cNvSpPr/>
          <p:nvPr/>
        </p:nvSpPr>
        <p:spPr>
          <a:xfrm>
            <a:off x="332185" y="1217778"/>
            <a:ext cx="653654" cy="509588"/>
          </a:xfrm>
          <a:custGeom>
            <a:rect b="b" l="l" r="r" t="t"/>
            <a:pathLst>
              <a:path extrusionOk="0" h="1424" w="1811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7488222" y="4766310"/>
            <a:ext cx="1323594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32184" y="4766310"/>
            <a:ext cx="4105276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7488222" y="4869180"/>
            <a:ext cx="1323594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56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ef1a8e0564_0_8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gef1a8e0564_0_8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gef1a8e0564_0_8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ef1a8e0564_0_8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ef1a8e0564_0_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Layout">
  <p:cSld name="1_Agenda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9a7b4734ee_0_114"/>
          <p:cNvSpPr/>
          <p:nvPr/>
        </p:nvSpPr>
        <p:spPr>
          <a:xfrm>
            <a:off x="-2604" y="0"/>
            <a:ext cx="1584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2.png" id="28" name="Google Shape;28;g29a7b4734ee_0_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6735" y="2931791"/>
            <a:ext cx="945499" cy="2098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 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2sytH15UkZni43aQvD3J5waHubAG1w-4/edit?usp=sharing&amp;ouid=107469613829008637202&amp;rtpof=true&amp;sd=true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0" y="857250"/>
            <a:ext cx="4572000" cy="3774711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35000" lIns="329175" spcFirstLastPara="1" rIns="189000" wrap="square" tIns="1080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5400"/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>
            <p:ph idx="10" type="dt"/>
          </p:nvPr>
        </p:nvSpPr>
        <p:spPr>
          <a:xfrm>
            <a:off x="7488222" y="4766310"/>
            <a:ext cx="1323594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None/>
            </a:pPr>
            <a:r>
              <a:rPr lang="en" sz="563">
                <a:solidFill>
                  <a:srgbClr val="FFFFFF"/>
                </a:solidFill>
              </a:rPr>
              <a:t>Date</a:t>
            </a:r>
            <a:endParaRPr sz="563">
              <a:solidFill>
                <a:srgbClr val="FFFFFF"/>
              </a:solidFill>
            </a:endParaRPr>
          </a:p>
        </p:txBody>
      </p:sp>
      <p:sp>
        <p:nvSpPr>
          <p:cNvPr id="67" name="Google Shape;67;p4"/>
          <p:cNvSpPr txBox="1"/>
          <p:nvPr>
            <p:ph idx="11" type="ftr"/>
          </p:nvPr>
        </p:nvSpPr>
        <p:spPr>
          <a:xfrm>
            <a:off x="332184" y="4766310"/>
            <a:ext cx="4105276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None/>
            </a:pPr>
            <a:r>
              <a:rPr lang="en" sz="563">
                <a:solidFill>
                  <a:srgbClr val="FFFFFF"/>
                </a:solidFill>
              </a:rPr>
              <a:t>Presentation Title</a:t>
            </a:r>
            <a:endParaRPr sz="563">
              <a:solidFill>
                <a:srgbClr val="FFFFFF"/>
              </a:solidFill>
            </a:endParaRPr>
          </a:p>
        </p:txBody>
      </p:sp>
      <p:sp>
        <p:nvSpPr>
          <p:cNvPr id="68" name="Google Shape;68;p4"/>
          <p:cNvSpPr txBox="1"/>
          <p:nvPr>
            <p:ph idx="12" type="sldNum"/>
          </p:nvPr>
        </p:nvSpPr>
        <p:spPr>
          <a:xfrm>
            <a:off x="7488222" y="4869180"/>
            <a:ext cx="1323594" cy="1028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1"/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2" y="-952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0" y="857250"/>
            <a:ext cx="3429000" cy="3429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/>
          <a:p>
            <a:pPr indent="-1714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lang="en" sz="3200"/>
              <a:t>Session Contents</a:t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3602550" y="822250"/>
            <a:ext cx="5541600" cy="3444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for Lakhpati Livelihood Planning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for Livelihood Planning with Lakhpati Didis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 of Reference for Lakhpati-CRP during Plan Preparation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of Components in the Lakhpati Planning Format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Exercise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/>
          <p:nvPr/>
        </p:nvSpPr>
        <p:spPr>
          <a:xfrm>
            <a:off x="171725" y="1224576"/>
            <a:ext cx="8903100" cy="3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Orientation of CLF, VO on Lakhpati Livelihood and their Role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CRP training by Master trainer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SHG members orientation by Lakhpati CRP </a:t>
            </a:r>
            <a:endParaRPr b="0" i="0" sz="16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Identified Lakhpati Didi’s Livelihood Profile and Plan preparation using identified tools (digitization support by e-CRP)supported by the experts in the co</a:t>
            </a:r>
            <a:r>
              <a:rPr lang="en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ncerning field of activity</a:t>
            </a:r>
            <a:endParaRPr b="0" i="0" sz="20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Consolidation of Plans - SHG, VO and CLF wise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 of Plans </a:t>
            </a: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VO/CLF supported by block SRLM team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Facilitation for funding and resource support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>
            <p:ph type="title"/>
          </p:nvPr>
        </p:nvSpPr>
        <p:spPr>
          <a:xfrm>
            <a:off x="225760" y="294226"/>
            <a:ext cx="8692500" cy="615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for Lakhpati Livelihood Planning </a:t>
            </a:r>
            <a:endParaRPr b="1" i="0" sz="3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89100" y="44612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634780" y="44612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647399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516875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16754b188_0_10"/>
          <p:cNvSpPr/>
          <p:nvPr/>
        </p:nvSpPr>
        <p:spPr>
          <a:xfrm>
            <a:off x="120502" y="909761"/>
            <a:ext cx="89031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Orientation/Trg of identified SHG members - by CRP at VO meeting</a:t>
            </a:r>
            <a:endParaRPr b="0" i="0" sz="22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date and time for preparing Livelihood Plans of Lakhpati Didis- decided during this orientation meeting</a:t>
            </a:r>
            <a:endParaRPr b="0" i="0" sz="22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CRP interact with Lakhpati Didis for preparing the Livelihood Plans using the planning tool</a:t>
            </a:r>
            <a:endParaRPr b="1" i="0" sz="22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Sections in the LH Planning template: 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Profile Section</a:t>
            </a:r>
            <a:endParaRPr b="0" i="0" sz="22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83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Livelihood activity(ies) identification</a:t>
            </a:r>
            <a:endParaRPr b="0" i="0" sz="22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683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b="0" i="0" lang="en" sz="2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required for identified Livelihood Activities</a:t>
            </a:r>
            <a:endParaRPr b="1" i="0" sz="2200" u="none" cap="none" strike="noStrike">
              <a:solidFill>
                <a:srgbClr val="E0301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g2616754b188_0_10"/>
          <p:cNvSpPr txBox="1"/>
          <p:nvPr>
            <p:ph type="title"/>
          </p:nvPr>
        </p:nvSpPr>
        <p:spPr>
          <a:xfrm>
            <a:off x="120500" y="74925"/>
            <a:ext cx="8797800" cy="554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Steps for Livelihood Planning with Lakhpati Didis by CRP</a:t>
            </a:r>
            <a:endParaRPr b="1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g2616754b188_0_10"/>
          <p:cNvSpPr/>
          <p:nvPr/>
        </p:nvSpPr>
        <p:spPr>
          <a:xfrm>
            <a:off x="489100" y="45374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g2616754b188_0_10"/>
          <p:cNvSpPr/>
          <p:nvPr/>
        </p:nvSpPr>
        <p:spPr>
          <a:xfrm>
            <a:off x="2634780" y="45374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g2616754b188_0_10"/>
          <p:cNvSpPr/>
          <p:nvPr/>
        </p:nvSpPr>
        <p:spPr>
          <a:xfrm>
            <a:off x="4647399" y="45374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g2616754b188_0_10"/>
          <p:cNvSpPr/>
          <p:nvPr/>
        </p:nvSpPr>
        <p:spPr>
          <a:xfrm>
            <a:off x="6516875" y="45374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16754b188_0_17"/>
          <p:cNvSpPr/>
          <p:nvPr/>
        </p:nvSpPr>
        <p:spPr>
          <a:xfrm>
            <a:off x="120450" y="715749"/>
            <a:ext cx="89031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AutoNum type="arabicPeriod"/>
            </a:pPr>
            <a:r>
              <a:rPr b="0" i="0" lang="e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Lakhpati Didi must discuss and decide the livelihood activity/ activities  in consultation with her family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existing assets, skills and resources available with the Lakhpati Didi HH must be discussed for each identified activity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economics (cost - benefit) of each identified activity must be understood by the Didi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b="0" i="0" lang="e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CRP must discuss the associated risks (Production risk, market risk, etc) with the SHG HH before finalising the activity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AutoNum type="arabicPeriod"/>
            </a:pPr>
            <a:r>
              <a:rPr b="0" i="0" lang="e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resources / support required for the identified activities from outside must be identified by Lakhpati Didi and noted by the CRP in the tool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entury Gothic"/>
              <a:buAutoNum type="arabicPeriod"/>
            </a:pPr>
            <a:r>
              <a:rPr b="0" i="0" lang="en" sz="17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materials and Reference Documents must be readily</a:t>
            </a:r>
            <a:r>
              <a:rPr b="0" i="0" lang="en" sz="1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available with the CRP during Plan Preparation.</a:t>
            </a:r>
            <a:endParaRPr b="0" i="0" sz="19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E0301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g2616754b188_0_17"/>
          <p:cNvSpPr txBox="1"/>
          <p:nvPr>
            <p:ph type="title"/>
          </p:nvPr>
        </p:nvSpPr>
        <p:spPr>
          <a:xfrm>
            <a:off x="225760" y="65626"/>
            <a:ext cx="8692500" cy="569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Points of Reference for CRP During Plan Preparation 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2616754b188_0_17"/>
          <p:cNvSpPr/>
          <p:nvPr/>
        </p:nvSpPr>
        <p:spPr>
          <a:xfrm>
            <a:off x="489100" y="44612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g2616754b188_0_17"/>
          <p:cNvSpPr/>
          <p:nvPr/>
        </p:nvSpPr>
        <p:spPr>
          <a:xfrm>
            <a:off x="2634780" y="44612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g2616754b188_0_17"/>
          <p:cNvSpPr/>
          <p:nvPr/>
        </p:nvSpPr>
        <p:spPr>
          <a:xfrm>
            <a:off x="4647399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g2616754b188_0_17"/>
          <p:cNvSpPr/>
          <p:nvPr/>
        </p:nvSpPr>
        <p:spPr>
          <a:xfrm>
            <a:off x="6516875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title"/>
          </p:nvPr>
        </p:nvSpPr>
        <p:spPr>
          <a:xfrm>
            <a:off x="628650" y="331634"/>
            <a:ext cx="7886700" cy="99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Overview of Components in the Planning Tool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628650" y="1331225"/>
            <a:ext cx="7886700" cy="3276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78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Section-1: Member profile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Section-2: </a:t>
            </a:r>
            <a:r>
              <a:rPr lang="en" sz="1800">
                <a:solidFill>
                  <a:schemeClr val="dk1"/>
                </a:solidFill>
              </a:rPr>
              <a:t>Livelihood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activity and Estimated income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Section-3: Support requirement for Livelihood Activities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 purpose of data collection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 calculate current household income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household in developing livelihoods plan for next year after making them aware about various livelihood options available (taking into account their current assets skills and access to market/finance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HH members in identifying support required to take up future livelihood and thus enhancing their annual income 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41500" y="44612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2787180" y="44612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4799799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6669275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327610" y="15161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Section-1: Member Profile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>
            <p:ph idx="2" type="body"/>
          </p:nvPr>
        </p:nvSpPr>
        <p:spPr>
          <a:xfrm>
            <a:off x="4311600" y="632810"/>
            <a:ext cx="4520700" cy="43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Location Of SHG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Family </a:t>
            </a:r>
            <a:r>
              <a:rPr b="1" lang="en" sz="1700"/>
              <a:t>Member details: 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Loan for Lh by HH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Membership of Business organisation</a:t>
            </a:r>
            <a:endParaRPr b="1" sz="17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700"/>
              <a:t>Point of caution:</a:t>
            </a:r>
            <a:endParaRPr b="1" sz="17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Double  counting of HHs members to be avoided. </a:t>
            </a:r>
            <a:endParaRPr sz="17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https://docs.google.com/spreadsheets/d/12sytH15UkZni43aQvD3J5waHubAG1w-4/edit?usp=sharing&amp;ouid=107469613829008637202&amp;rtpof=true&amp;sd=true</a:t>
            </a:r>
            <a:endParaRPr sz="17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940" y="632810"/>
            <a:ext cx="3877660" cy="41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565300" y="46136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2710980" y="46136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723599" y="46136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593075" y="46136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311700" y="185775"/>
            <a:ext cx="8304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Section-2: Livelihood Activities and estimated net income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95492" y="612772"/>
            <a:ext cx="39999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Name of the Activities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Group of livelihood under which activity falls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Unit to be defined as area under cultivation /number of livestock/area under aquaculture OR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Quantity produced in Kgs etc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Status of Activity:  Existing/New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Expected income.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/>
              <a:t>Conclusion: </a:t>
            </a:r>
            <a:r>
              <a:rPr lang="en" sz="1600"/>
              <a:t>After filling the data, one can see the income from </a:t>
            </a:r>
            <a:r>
              <a:rPr lang="en" sz="1600"/>
              <a:t>existing and newly planned activity. </a:t>
            </a:r>
            <a:r>
              <a:rPr lang="en" sz="1600"/>
              <a:t>  </a:t>
            </a:r>
            <a:endParaRPr sz="1600"/>
          </a:p>
        </p:txBody>
      </p:sp>
      <p:sp>
        <p:nvSpPr>
          <p:cNvPr id="135" name="Google Shape;13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2125" y="801325"/>
            <a:ext cx="4847575" cy="355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022500" y="45374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168180" y="45374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180799" y="45374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050275" y="45374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a3b50dce7_0_13"/>
          <p:cNvSpPr txBox="1"/>
          <p:nvPr>
            <p:ph type="title"/>
          </p:nvPr>
        </p:nvSpPr>
        <p:spPr>
          <a:xfrm>
            <a:off x="667050" y="2254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: How to fill the Column B </a:t>
            </a:r>
            <a:endParaRPr/>
          </a:p>
        </p:txBody>
      </p:sp>
      <p:sp>
        <p:nvSpPr>
          <p:cNvPr id="146" name="Google Shape;146;g2aa3b50dce7_0_13"/>
          <p:cNvSpPr txBox="1"/>
          <p:nvPr>
            <p:ph idx="1" type="body"/>
          </p:nvPr>
        </p:nvSpPr>
        <p:spPr>
          <a:xfrm>
            <a:off x="311700" y="706650"/>
            <a:ext cx="4106100" cy="41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Components of Agriculture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Crop cultivation:</a:t>
            </a:r>
            <a:r>
              <a:rPr lang="en"/>
              <a:t> Growing different crops like wheat, paddy, ragi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Horticulture: </a:t>
            </a:r>
            <a:r>
              <a:rPr lang="en"/>
              <a:t>growing flowers,fruits and vegetables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Livestock:</a:t>
            </a:r>
            <a:r>
              <a:rPr lang="en"/>
              <a:t> Domesticated animals raised in agricultural base to produce diversified products like meat,egg,milk,etc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Forestry: </a:t>
            </a:r>
            <a:r>
              <a:rPr lang="en"/>
              <a:t>Products obtained from forest for consumption like honey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Fisheries and aqua farming: </a:t>
            </a:r>
            <a:r>
              <a:rPr lang="en"/>
              <a:t>cultivation of aquatic organisms such as fish,shellfish and plants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Other agri based activities: </a:t>
            </a:r>
            <a:r>
              <a:rPr lang="en"/>
              <a:t>Tea,coffee, arecanut, spices,cashewnut, cocoa,etc.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7" name="Google Shape;147;g2aa3b50dce7_0_13"/>
          <p:cNvSpPr txBox="1"/>
          <p:nvPr>
            <p:ph idx="2" type="body"/>
          </p:nvPr>
        </p:nvSpPr>
        <p:spPr>
          <a:xfrm>
            <a:off x="4682450" y="706650"/>
            <a:ext cx="4106100" cy="4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Components of non farm sector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Manufacturing units</a:t>
            </a:r>
            <a:r>
              <a:rPr lang="en"/>
              <a:t>: Making flour of crops like wheat, rice etc, agarbatti , making agarbatti from purchase of raw material,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Trading:</a:t>
            </a:r>
            <a:r>
              <a:rPr lang="en"/>
              <a:t> Selling of bought products to the customers without processing, running a kirana 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Services</a:t>
            </a:r>
            <a:r>
              <a:rPr lang="en"/>
              <a:t>: Provides intangible goods banking, education, medical , value addition in production of goods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710275" y="148856"/>
            <a:ext cx="7723500" cy="542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Section-3: Support requirement</a:t>
            </a:r>
            <a:endParaRPr/>
          </a:p>
        </p:txBody>
      </p:sp>
      <p:sp>
        <p:nvSpPr>
          <p:cNvPr id="153" name="Google Shape;153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 txBox="1"/>
          <p:nvPr>
            <p:ph idx="2" type="body"/>
          </p:nvPr>
        </p:nvSpPr>
        <p:spPr>
          <a:xfrm>
            <a:off x="4572000" y="818707"/>
            <a:ext cx="4260300" cy="3750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Assets- Equipment, Infrastructure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Skills- Need for training and Exposure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Access to Finance- CIF/ Bank Linkage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Access to Market- PG/PE/FPO/ Other Market Players</a:t>
            </a:r>
            <a:endParaRPr sz="1900"/>
          </a:p>
        </p:txBody>
      </p:sp>
      <p:pic>
        <p:nvPicPr>
          <p:cNvPr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4575" y="628175"/>
            <a:ext cx="6361150" cy="38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/>
          <p:nvPr/>
        </p:nvSpPr>
        <p:spPr>
          <a:xfrm>
            <a:off x="641500" y="46136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2787180" y="46136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799799" y="46136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6669275" y="46136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5394a73706_0_49"/>
          <p:cNvSpPr txBox="1"/>
          <p:nvPr>
            <p:ph type="title"/>
          </p:nvPr>
        </p:nvSpPr>
        <p:spPr>
          <a:xfrm>
            <a:off x="77800" y="69150"/>
            <a:ext cx="9007500" cy="9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>
                <a:solidFill>
                  <a:schemeClr val="dk1"/>
                </a:solidFill>
              </a:rPr>
              <a:t>Group Exercise</a:t>
            </a:r>
            <a:br>
              <a:rPr lang="en" sz="2200"/>
            </a:br>
            <a:r>
              <a:rPr lang="en" sz="2000"/>
              <a:t>Create a Livelihood Plan for the Lakhpati Didis in the LH Planning Format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65" name="Google Shape;165;g15394a73706_0_49"/>
          <p:cNvSpPr txBox="1"/>
          <p:nvPr/>
        </p:nvSpPr>
        <p:spPr>
          <a:xfrm>
            <a:off x="123875" y="992750"/>
            <a:ext cx="2821800" cy="2845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TASK 1: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Current activity: Wheat </a:t>
            </a:r>
            <a:r>
              <a:rPr b="1" lang="en" sz="11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cultivation in 1 Acre of land and working as wage labourer 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Future plan: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Farming – 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Cereals - Maize in 1 Acre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Equipment - Thresher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Other Farm Based -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Other Farm Based - Honey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Equipment - Honey Extractor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15394a73706_0_49"/>
          <p:cNvSpPr txBox="1"/>
          <p:nvPr/>
        </p:nvSpPr>
        <p:spPr>
          <a:xfrm>
            <a:off x="2945675" y="1066200"/>
            <a:ext cx="3025800" cy="3941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TASK 2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Current activity: Paddy in one acre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Poultry birds- 5 desi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Desi Cow: 2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Future plan:</a:t>
            </a:r>
            <a:endParaRPr b="1" i="0" sz="1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Farming – 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Paddy in 1 Acre and vegetables in 1 acre for 3 months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Input - Organic Manure and market for vegetable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Animal Husbandry –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Poultry with 10 kadaknath birds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Training for poultry Infrastructure - Chick Guard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Cattle: 2 desi and two crossbred cows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Training on managing cross bred cattle, subsidy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ME / Non Farm -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Pickle Making 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Subsidy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g15394a73706_0_49"/>
          <p:cNvSpPr txBox="1"/>
          <p:nvPr/>
        </p:nvSpPr>
        <p:spPr>
          <a:xfrm>
            <a:off x="6146425" y="1156050"/>
            <a:ext cx="2873700" cy="37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TASK 3</a:t>
            </a:r>
            <a:endParaRPr b="1" i="0" sz="12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Current activity: Maize in 1.5 acre</a:t>
            </a:r>
            <a:endParaRPr b="1" i="0" sz="12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Poultry: 5 Desi  birds</a:t>
            </a:r>
            <a:endParaRPr b="1" i="0" sz="12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Future plan:</a:t>
            </a:r>
            <a:endParaRPr b="1" i="0" sz="12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Farming –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Maize in 1.5 Acre, veg- for 5 months in 1.5 acre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Marketing Support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Animal Husbandry –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Poultry Mother Unit with 500 Birds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Training - Mother Unit Management Training , loan  from 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100"/>
              <a:buFont typeface="Cambria"/>
              <a:buChar char="●"/>
            </a:pPr>
            <a:r>
              <a:rPr b="1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Non Farm – </a:t>
            </a:r>
            <a:endParaRPr b="1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Activity: Tailoring Unit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D0D0D"/>
                </a:solidFill>
                <a:latin typeface="Cambria"/>
                <a:ea typeface="Cambria"/>
                <a:cs typeface="Cambria"/>
                <a:sym typeface="Cambria"/>
              </a:rPr>
              <a:t>Support Required: Services - Mudra Loan</a:t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D0D0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571050" y="1922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4400"/>
              <a:t>Questions??</a:t>
            </a:r>
            <a:endParaRPr sz="4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177"/>
          </a:p>
        </p:txBody>
      </p:sp>
      <p:sp>
        <p:nvSpPr>
          <p:cNvPr id="173" name="Google Shape;173;p26"/>
          <p:cNvSpPr/>
          <p:nvPr/>
        </p:nvSpPr>
        <p:spPr>
          <a:xfrm>
            <a:off x="603063" y="451440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748742" y="451440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4761362" y="451440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6630838" y="451440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628650" y="786809"/>
            <a:ext cx="7886700" cy="24100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200"/>
              <a:t>Thank You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20daf161e_0_14"/>
          <p:cNvSpPr txBox="1"/>
          <p:nvPr>
            <p:ph type="title"/>
          </p:nvPr>
        </p:nvSpPr>
        <p:spPr>
          <a:xfrm>
            <a:off x="710275" y="231850"/>
            <a:ext cx="82623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 Components of livelihood plan template-3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Non farm activity -1</a:t>
            </a:r>
            <a:endParaRPr b="1" sz="34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7" name="Google Shape;187;g2620daf161e_0_14"/>
          <p:cNvSpPr txBox="1"/>
          <p:nvPr>
            <p:ph idx="1" type="body"/>
          </p:nvPr>
        </p:nvSpPr>
        <p:spPr>
          <a:xfrm>
            <a:off x="311700" y="1123950"/>
            <a:ext cx="3999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Introduction: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asic background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Business products/services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Owner’s background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 sz="1700"/>
              <a:t>Opportunity</a:t>
            </a:r>
            <a:endParaRPr b="1" sz="17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What is the need / pain – how strong is the pain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who has it (define your customer)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why will they pay for it?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2620daf161e_0_14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Y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our solution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how will you fulfill this need (define your product)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what value are you adding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3. Market Analysis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What industry are you competing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Customer Segment – needs of each set of customers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Product for each segment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Size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lphaL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 trends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2620daf161e_0_14"/>
          <p:cNvSpPr/>
          <p:nvPr/>
        </p:nvSpPr>
        <p:spPr>
          <a:xfrm>
            <a:off x="641500" y="44612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g2620daf161e_0_14"/>
          <p:cNvSpPr/>
          <p:nvPr/>
        </p:nvSpPr>
        <p:spPr>
          <a:xfrm>
            <a:off x="2787180" y="44612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g2620daf161e_0_14"/>
          <p:cNvSpPr/>
          <p:nvPr/>
        </p:nvSpPr>
        <p:spPr>
          <a:xfrm>
            <a:off x="4799799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g2620daf161e_0_14"/>
          <p:cNvSpPr/>
          <p:nvPr/>
        </p:nvSpPr>
        <p:spPr>
          <a:xfrm>
            <a:off x="6669275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20daf161e_0_20"/>
          <p:cNvSpPr txBox="1"/>
          <p:nvPr>
            <p:ph type="title"/>
          </p:nvPr>
        </p:nvSpPr>
        <p:spPr>
          <a:xfrm>
            <a:off x="710275" y="794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Components of livelihood template-2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Non farm activity -current/future plan-2</a:t>
            </a:r>
            <a:endParaRPr/>
          </a:p>
        </p:txBody>
      </p:sp>
      <p:sp>
        <p:nvSpPr>
          <p:cNvPr id="198" name="Google Shape;198;g2620daf161e_0_20"/>
          <p:cNvSpPr txBox="1"/>
          <p:nvPr>
            <p:ph idx="1" type="body"/>
          </p:nvPr>
        </p:nvSpPr>
        <p:spPr>
          <a:xfrm>
            <a:off x="311700" y="695275"/>
            <a:ext cx="45207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4.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Competitor analysis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Twentieth Century"/>
              <a:buAutoNum type="alphaL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Who are the current competitors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What resources do they control, what are their strengths and weaknesses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How will they respond to us &amp; How can we respond to their response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5. Financial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ource of funds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lphaL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Fixed and working capital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2620daf161e_0_20"/>
          <p:cNvSpPr txBox="1"/>
          <p:nvPr>
            <p:ph idx="2" type="body"/>
          </p:nvPr>
        </p:nvSpPr>
        <p:spPr>
          <a:xfrm>
            <a:off x="4832400" y="695275"/>
            <a:ext cx="39999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6. Marketing plan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Price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Quality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Products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Promotion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/>
              <a:t>7. </a:t>
            </a:r>
            <a:r>
              <a:rPr b="1" lang="en" sz="1800"/>
              <a:t>Operations</a:t>
            </a:r>
            <a:endParaRPr b="1" sz="18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production, distribution, sales &amp; marketing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Govt regulations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Relation with different 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stakeholders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8. Risks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What can go wrong?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lphaLcPeriod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Alternate plan?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2620daf161e_0_20"/>
          <p:cNvSpPr/>
          <p:nvPr/>
        </p:nvSpPr>
        <p:spPr>
          <a:xfrm>
            <a:off x="641500" y="4461250"/>
            <a:ext cx="21459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process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g2620daf161e_0_20"/>
          <p:cNvSpPr/>
          <p:nvPr/>
        </p:nvSpPr>
        <p:spPr>
          <a:xfrm>
            <a:off x="2787180" y="4461250"/>
            <a:ext cx="203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8D8D8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Planning tool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g2620daf161e_0_20"/>
          <p:cNvSpPr/>
          <p:nvPr/>
        </p:nvSpPr>
        <p:spPr>
          <a:xfrm>
            <a:off x="4799799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Components of template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g2620daf161e_0_20"/>
          <p:cNvSpPr/>
          <p:nvPr/>
        </p:nvSpPr>
        <p:spPr>
          <a:xfrm>
            <a:off x="6669275" y="4461250"/>
            <a:ext cx="1910100" cy="488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EDEDE"/>
          </a:solidFill>
          <a:ln cap="flat" cmpd="sng" w="9525">
            <a:solidFill>
              <a:srgbClr val="5E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1" i="0" sz="1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u32</dc:creator>
</cp:coreProperties>
</file>