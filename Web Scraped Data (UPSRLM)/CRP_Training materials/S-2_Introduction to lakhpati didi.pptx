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0287000" cx="18288000"/>
  <p:notesSz cx="6858000" cy="9144000"/>
  <p:embeddedFontLst>
    <p:embeddedFont>
      <p:font typeface="Geo"/>
      <p:regular r:id="rId17"/>
      <p:italic r:id="rId18"/>
    </p:embeddedFont>
    <p:embeddedFont>
      <p:font typeface="DM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3" roundtripDataSignature="AMtx7miI719YB3rwEyGZh1hAM53G1KKd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bold.fntdata"/><Relationship Id="rId11" Type="http://schemas.openxmlformats.org/officeDocument/2006/relationships/slide" Target="slides/slide6.xml"/><Relationship Id="rId22" Type="http://schemas.openxmlformats.org/officeDocument/2006/relationships/font" Target="fonts/DMSans-boldItalic.fntdata"/><Relationship Id="rId10" Type="http://schemas.openxmlformats.org/officeDocument/2006/relationships/slide" Target="slides/slide5.xml"/><Relationship Id="rId21" Type="http://schemas.openxmlformats.org/officeDocument/2006/relationships/font" Target="fonts/DMSans-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Ge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DMSans-regular.fntdata"/><Relationship Id="rId6" Type="http://schemas.openxmlformats.org/officeDocument/2006/relationships/slide" Target="slides/slide1.xml"/><Relationship Id="rId18" Type="http://schemas.openxmlformats.org/officeDocument/2006/relationships/font" Target="fonts/Ge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66f53d6fd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266f53d6fd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2.png"/><Relationship Id="rId6" Type="http://schemas.openxmlformats.org/officeDocument/2006/relationships/image" Target="../media/image18.png"/><Relationship Id="rId7" Type="http://schemas.openxmlformats.org/officeDocument/2006/relationships/image" Target="../media/image1.pn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17.png"/><Relationship Id="rId6"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3.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32.png"/><Relationship Id="rId5"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83" name="Shape 83"/>
        <p:cNvGrpSpPr/>
        <p:nvPr/>
      </p:nvGrpSpPr>
      <p:grpSpPr>
        <a:xfrm>
          <a:off x="0" y="0"/>
          <a:ext cx="0" cy="0"/>
          <a:chOff x="0" y="0"/>
          <a:chExt cx="0" cy="0"/>
        </a:xfrm>
      </p:grpSpPr>
      <p:sp>
        <p:nvSpPr>
          <p:cNvPr id="84" name="Google Shape;84;p1"/>
          <p:cNvSpPr txBox="1"/>
          <p:nvPr/>
        </p:nvSpPr>
        <p:spPr>
          <a:xfrm>
            <a:off x="655812" y="4006436"/>
            <a:ext cx="10195764" cy="4651789"/>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6608"/>
              <a:buFont typeface="Arial"/>
              <a:buNone/>
            </a:pPr>
            <a:r>
              <a:rPr b="1" i="0" lang="en-US" sz="6608" u="none" cap="none" strike="noStrike">
                <a:solidFill>
                  <a:srgbClr val="EA893B"/>
                </a:solidFill>
                <a:latin typeface="Geo"/>
                <a:ea typeface="Geo"/>
                <a:cs typeface="Geo"/>
                <a:sym typeface="Geo"/>
              </a:rPr>
              <a:t>Session 2</a:t>
            </a:r>
            <a:endParaRPr b="0" i="0" sz="1400" u="none" cap="none" strike="noStrike">
              <a:solidFill>
                <a:srgbClr val="000000"/>
              </a:solidFill>
              <a:latin typeface="Arial"/>
              <a:ea typeface="Arial"/>
              <a:cs typeface="Arial"/>
              <a:sym typeface="Arial"/>
            </a:endParaRPr>
          </a:p>
          <a:p>
            <a:pPr indent="0" lvl="0" marL="0" marR="0" rtl="0" algn="l">
              <a:lnSpc>
                <a:spcPct val="140012"/>
              </a:lnSpc>
              <a:spcBef>
                <a:spcPts val="0"/>
              </a:spcBef>
              <a:spcAft>
                <a:spcPts val="0"/>
              </a:spcAft>
              <a:buClr>
                <a:srgbClr val="000000"/>
              </a:buClr>
              <a:buSzPts val="6608"/>
              <a:buFont typeface="Arial"/>
              <a:buNone/>
            </a:pPr>
            <a:r>
              <a:rPr b="1" i="0" lang="en-US" sz="6608" u="none" cap="none" strike="noStrike">
                <a:solidFill>
                  <a:srgbClr val="EA893B"/>
                </a:solidFill>
                <a:latin typeface="Geo"/>
                <a:ea typeface="Geo"/>
                <a:cs typeface="Geo"/>
                <a:sym typeface="Geo"/>
              </a:rPr>
              <a:t>INTRODUCTION TO LAKHPATI DIDIs</a:t>
            </a:r>
            <a:endParaRPr b="0" i="0" sz="1400" u="none" cap="none" strike="noStrike">
              <a:solidFill>
                <a:srgbClr val="000000"/>
              </a:solidFill>
              <a:latin typeface="Arial"/>
              <a:ea typeface="Arial"/>
              <a:cs typeface="Arial"/>
              <a:sym typeface="Arial"/>
            </a:endParaRPr>
          </a:p>
          <a:p>
            <a:pPr indent="0" lvl="0" marL="0" marR="0" rtl="0" algn="l">
              <a:lnSpc>
                <a:spcPct val="140012"/>
              </a:lnSpc>
              <a:spcBef>
                <a:spcPts val="0"/>
              </a:spcBef>
              <a:spcAft>
                <a:spcPts val="0"/>
              </a:spcAft>
              <a:buClr>
                <a:srgbClr val="000000"/>
              </a:buClr>
              <a:buSzPts val="6608"/>
              <a:buFont typeface="Arial"/>
              <a:buNone/>
            </a:pPr>
            <a:r>
              <a:rPr b="1" i="0" lang="en-US" sz="6608" u="none" cap="none" strike="noStrike">
                <a:solidFill>
                  <a:srgbClr val="EA893B"/>
                </a:solidFill>
                <a:latin typeface="Geo"/>
                <a:ea typeface="Geo"/>
                <a:cs typeface="Geo"/>
                <a:sym typeface="Geo"/>
              </a:rPr>
              <a:t>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667578" y="8605834"/>
            <a:ext cx="1314491" cy="1304932"/>
          </a:xfrm>
          <a:custGeom>
            <a:rect b="b" l="l" r="r" t="t"/>
            <a:pathLst>
              <a:path extrusionOk="0" h="1304932" w="1314491">
                <a:moveTo>
                  <a:pt x="0" y="0"/>
                </a:moveTo>
                <a:lnTo>
                  <a:pt x="1314492" y="0"/>
                </a:lnTo>
                <a:lnTo>
                  <a:pt x="1314492" y="1304932"/>
                </a:lnTo>
                <a:lnTo>
                  <a:pt x="0" y="1304932"/>
                </a:lnTo>
                <a:lnTo>
                  <a:pt x="0" y="0"/>
                </a:lnTo>
                <a:close/>
              </a:path>
            </a:pathLst>
          </a:custGeom>
          <a:blipFill rotWithShape="1">
            <a:blip r:embed="rId3">
              <a:alphaModFix/>
            </a:blip>
            <a:stretch>
              <a:fillRect b="0" l="0" r="0" t="0"/>
            </a:stretch>
          </a:blipFill>
          <a:ln>
            <a:noFill/>
          </a:ln>
        </p:spPr>
      </p:sp>
      <p:sp>
        <p:nvSpPr>
          <p:cNvPr id="86" name="Google Shape;86;p1"/>
          <p:cNvSpPr/>
          <p:nvPr/>
        </p:nvSpPr>
        <p:spPr>
          <a:xfrm>
            <a:off x="14470034" y="1190812"/>
            <a:ext cx="2789266" cy="1720582"/>
          </a:xfrm>
          <a:custGeom>
            <a:rect b="b" l="l" r="r" t="t"/>
            <a:pathLst>
              <a:path extrusionOk="0" h="1720582" w="2789266">
                <a:moveTo>
                  <a:pt x="0" y="0"/>
                </a:moveTo>
                <a:lnTo>
                  <a:pt x="2789266" y="0"/>
                </a:lnTo>
                <a:lnTo>
                  <a:pt x="2789266" y="1720581"/>
                </a:lnTo>
                <a:lnTo>
                  <a:pt x="0" y="1720581"/>
                </a:lnTo>
                <a:lnTo>
                  <a:pt x="0" y="0"/>
                </a:lnTo>
                <a:close/>
              </a:path>
            </a:pathLst>
          </a:custGeom>
          <a:blipFill rotWithShape="1">
            <a:blip r:embed="rId4">
              <a:alphaModFix/>
            </a:blip>
            <a:stretch>
              <a:fillRect b="0" l="0" r="0" t="0"/>
            </a:stretch>
          </a:blipFill>
          <a:ln>
            <a:noFill/>
          </a:ln>
        </p:spPr>
      </p:sp>
      <p:sp>
        <p:nvSpPr>
          <p:cNvPr id="87" name="Google Shape;87;p1"/>
          <p:cNvSpPr/>
          <p:nvPr/>
        </p:nvSpPr>
        <p:spPr>
          <a:xfrm>
            <a:off x="12332456" y="419236"/>
            <a:ext cx="1517461" cy="2415957"/>
          </a:xfrm>
          <a:custGeom>
            <a:rect b="b" l="l" r="r" t="t"/>
            <a:pathLst>
              <a:path extrusionOk="0" h="2415957" w="1517461">
                <a:moveTo>
                  <a:pt x="0" y="0"/>
                </a:moveTo>
                <a:lnTo>
                  <a:pt x="1517461" y="0"/>
                </a:lnTo>
                <a:lnTo>
                  <a:pt x="1517461" y="2415957"/>
                </a:lnTo>
                <a:lnTo>
                  <a:pt x="0" y="2415957"/>
                </a:lnTo>
                <a:lnTo>
                  <a:pt x="0" y="0"/>
                </a:lnTo>
                <a:close/>
              </a:path>
            </a:pathLst>
          </a:custGeom>
          <a:blipFill rotWithShape="1">
            <a:blip r:embed="rId5">
              <a:alphaModFix/>
            </a:blip>
            <a:stretch>
              <a:fillRect b="0" l="0" r="0" t="0"/>
            </a:stretch>
          </a:blipFill>
          <a:ln>
            <a:noFill/>
          </a:ln>
        </p:spPr>
      </p:sp>
      <p:sp>
        <p:nvSpPr>
          <p:cNvPr id="88" name="Google Shape;88;p1"/>
          <p:cNvSpPr/>
          <p:nvPr/>
        </p:nvSpPr>
        <p:spPr>
          <a:xfrm>
            <a:off x="13346118" y="3254148"/>
            <a:ext cx="5170448" cy="4004978"/>
          </a:xfrm>
          <a:custGeom>
            <a:rect b="b" l="l" r="r" t="t"/>
            <a:pathLst>
              <a:path extrusionOk="0" h="4004978" w="5170448">
                <a:moveTo>
                  <a:pt x="0" y="0"/>
                </a:moveTo>
                <a:lnTo>
                  <a:pt x="5170448" y="0"/>
                </a:lnTo>
                <a:lnTo>
                  <a:pt x="5170448" y="4004978"/>
                </a:lnTo>
                <a:lnTo>
                  <a:pt x="0" y="4004978"/>
                </a:lnTo>
                <a:lnTo>
                  <a:pt x="0" y="0"/>
                </a:lnTo>
                <a:close/>
              </a:path>
            </a:pathLst>
          </a:custGeom>
          <a:blipFill rotWithShape="1">
            <a:blip r:embed="rId6">
              <a:alphaModFix/>
            </a:blip>
            <a:stretch>
              <a:fillRect b="0" l="0" r="0" t="0"/>
            </a:stretch>
          </a:blipFill>
          <a:ln>
            <a:noFill/>
          </a:ln>
        </p:spPr>
      </p:sp>
      <p:sp>
        <p:nvSpPr>
          <p:cNvPr id="89" name="Google Shape;89;p1"/>
          <p:cNvSpPr/>
          <p:nvPr/>
        </p:nvSpPr>
        <p:spPr>
          <a:xfrm>
            <a:off x="9259693" y="4363965"/>
            <a:ext cx="4694999" cy="3635205"/>
          </a:xfrm>
          <a:custGeom>
            <a:rect b="b" l="l" r="r" t="t"/>
            <a:pathLst>
              <a:path extrusionOk="0" h="3635205" w="4694999">
                <a:moveTo>
                  <a:pt x="0" y="0"/>
                </a:moveTo>
                <a:lnTo>
                  <a:pt x="4694999" y="0"/>
                </a:lnTo>
                <a:lnTo>
                  <a:pt x="4694999" y="3635205"/>
                </a:lnTo>
                <a:lnTo>
                  <a:pt x="0" y="3635205"/>
                </a:lnTo>
                <a:lnTo>
                  <a:pt x="0" y="0"/>
                </a:lnTo>
                <a:close/>
              </a:path>
            </a:pathLst>
          </a:custGeom>
          <a:blipFill rotWithShape="1">
            <a:blip r:embed="rId7">
              <a:alphaModFix/>
            </a:blip>
            <a:stretch>
              <a:fillRect b="0" l="0" r="0" t="0"/>
            </a:stretch>
          </a:blipFill>
          <a:ln>
            <a:noFill/>
          </a:ln>
        </p:spPr>
      </p:sp>
      <p:sp>
        <p:nvSpPr>
          <p:cNvPr id="90" name="Google Shape;90;p1"/>
          <p:cNvSpPr txBox="1"/>
          <p:nvPr/>
        </p:nvSpPr>
        <p:spPr>
          <a:xfrm>
            <a:off x="11889903" y="2863768"/>
            <a:ext cx="2580131" cy="77279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200"/>
              <a:buFont typeface="Arial"/>
              <a:buNone/>
            </a:pPr>
            <a:r>
              <a:rPr b="1" i="0" lang="en-US" sz="2200" u="none" cap="none" strike="noStrike">
                <a:solidFill>
                  <a:srgbClr val="000000"/>
                </a:solidFill>
                <a:latin typeface="Geo"/>
                <a:ea typeface="Geo"/>
                <a:cs typeface="Geo"/>
                <a:sym typeface="Geo"/>
              </a:rPr>
              <a:t>Ministry of Rural Development</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14679169" y="3059031"/>
            <a:ext cx="2580131" cy="38226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200"/>
              <a:buFont typeface="Arial"/>
              <a:buNone/>
            </a:pPr>
            <a:r>
              <a:rPr b="1" i="0" lang="en-US" sz="2200" u="none" cap="none" strike="noStrike">
                <a:solidFill>
                  <a:srgbClr val="000000"/>
                </a:solidFill>
                <a:latin typeface="Geo"/>
                <a:ea typeface="Geo"/>
                <a:cs typeface="Geo"/>
                <a:sym typeface="Geo"/>
              </a:rPr>
              <a:t>DAY-NRLM</a:t>
            </a:r>
            <a:endParaRPr b="0" i="0" sz="1400" u="none" cap="none" strike="noStrike">
              <a:solidFill>
                <a:srgbClr val="000000"/>
              </a:solidFill>
              <a:latin typeface="Arial"/>
              <a:ea typeface="Arial"/>
              <a:cs typeface="Arial"/>
              <a:sym typeface="Arial"/>
            </a:endParaRPr>
          </a:p>
        </p:txBody>
      </p:sp>
      <p:pic>
        <p:nvPicPr>
          <p:cNvPr id="92" name="Google Shape;92;p1"/>
          <p:cNvPicPr preferRelativeResize="0"/>
          <p:nvPr/>
        </p:nvPicPr>
        <p:blipFill rotWithShape="1">
          <a:blip r:embed="rId8">
            <a:alphaModFix/>
          </a:blip>
          <a:srcRect b="0" l="0" r="0" t="0"/>
          <a:stretch/>
        </p:blipFill>
        <p:spPr>
          <a:xfrm>
            <a:off x="0" y="0"/>
            <a:ext cx="18288000" cy="10287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96" name="Shape 96"/>
        <p:cNvGrpSpPr/>
        <p:nvPr/>
      </p:nvGrpSpPr>
      <p:grpSpPr>
        <a:xfrm>
          <a:off x="0" y="0"/>
          <a:ext cx="0" cy="0"/>
          <a:chOff x="0" y="0"/>
          <a:chExt cx="0" cy="0"/>
        </a:xfrm>
      </p:grpSpPr>
      <p:sp>
        <p:nvSpPr>
          <p:cNvPr id="97" name="Google Shape;97;p2"/>
          <p:cNvSpPr txBox="1"/>
          <p:nvPr/>
        </p:nvSpPr>
        <p:spPr>
          <a:xfrm>
            <a:off x="3487774" y="2674600"/>
            <a:ext cx="9460500" cy="5256900"/>
          </a:xfrm>
          <a:prstGeom prst="rect">
            <a:avLst/>
          </a:prstGeom>
          <a:noFill/>
          <a:ln>
            <a:noFill/>
          </a:ln>
        </p:spPr>
        <p:txBody>
          <a:bodyPr anchorCtr="0" anchor="t" bIns="0" lIns="0" spcFirstLastPara="1" rIns="0" wrap="square" tIns="0">
            <a:spAutoFit/>
          </a:bodyPr>
          <a:lstStyle/>
          <a:p>
            <a:pPr indent="0" lvl="0" marL="0" marR="0" rtl="0" algn="l">
              <a:lnSpc>
                <a:spcPct val="162978"/>
              </a:lnSpc>
              <a:spcBef>
                <a:spcPts val="0"/>
              </a:spcBef>
              <a:spcAft>
                <a:spcPts val="0"/>
              </a:spcAft>
              <a:buClr>
                <a:srgbClr val="000000"/>
              </a:buClr>
              <a:buSzPts val="3733"/>
              <a:buFont typeface="Arial"/>
              <a:buNone/>
            </a:pPr>
            <a:r>
              <a:rPr b="1" i="0" lang="en-US" sz="3733" u="none" cap="none" strike="noStrike">
                <a:solidFill>
                  <a:srgbClr val="231F20"/>
                </a:solidFill>
                <a:latin typeface="Cambria"/>
                <a:ea typeface="Cambria"/>
                <a:cs typeface="Cambria"/>
                <a:sym typeface="Cambria"/>
              </a:rPr>
              <a:t>1.Hon’ble PMs announcement</a:t>
            </a:r>
            <a:endParaRPr b="0" i="0" sz="1400" u="none" cap="none" strike="noStrike">
              <a:solidFill>
                <a:srgbClr val="000000"/>
              </a:solidFill>
              <a:latin typeface="Cambria"/>
              <a:ea typeface="Cambria"/>
              <a:cs typeface="Cambria"/>
              <a:sym typeface="Cambria"/>
            </a:endParaRPr>
          </a:p>
          <a:p>
            <a:pPr indent="0" lvl="0" marL="0" marR="0" rtl="0" algn="l">
              <a:lnSpc>
                <a:spcPct val="162978"/>
              </a:lnSpc>
              <a:spcBef>
                <a:spcPts val="0"/>
              </a:spcBef>
              <a:spcAft>
                <a:spcPts val="0"/>
              </a:spcAft>
              <a:buClr>
                <a:srgbClr val="000000"/>
              </a:buClr>
              <a:buSzPts val="3733"/>
              <a:buFont typeface="Arial"/>
              <a:buNone/>
            </a:pPr>
            <a:r>
              <a:rPr b="1" i="0" lang="en-US" sz="3733" u="none" cap="none" strike="noStrike">
                <a:solidFill>
                  <a:srgbClr val="231F20"/>
                </a:solidFill>
                <a:latin typeface="Cambria"/>
                <a:ea typeface="Cambria"/>
                <a:cs typeface="Cambria"/>
                <a:sym typeface="Cambria"/>
              </a:rPr>
              <a:t>2.Who is a Lakhpati Didi</a:t>
            </a:r>
            <a:endParaRPr b="0" i="0" sz="1400" u="none" cap="none" strike="noStrike">
              <a:solidFill>
                <a:srgbClr val="000000"/>
              </a:solidFill>
              <a:latin typeface="Cambria"/>
              <a:ea typeface="Cambria"/>
              <a:cs typeface="Cambria"/>
              <a:sym typeface="Cambria"/>
            </a:endParaRPr>
          </a:p>
          <a:p>
            <a:pPr indent="0" lvl="0" marL="0" marR="0" rtl="0" algn="l">
              <a:lnSpc>
                <a:spcPct val="162978"/>
              </a:lnSpc>
              <a:spcBef>
                <a:spcPts val="0"/>
              </a:spcBef>
              <a:spcAft>
                <a:spcPts val="0"/>
              </a:spcAft>
              <a:buClr>
                <a:srgbClr val="000000"/>
              </a:buClr>
              <a:buSzPts val="3733"/>
              <a:buFont typeface="Arial"/>
              <a:buNone/>
            </a:pPr>
            <a:r>
              <a:rPr b="1" i="0" lang="en-US" sz="3733" u="none" cap="none" strike="noStrike">
                <a:solidFill>
                  <a:srgbClr val="231F20"/>
                </a:solidFill>
                <a:latin typeface="Cambria"/>
                <a:ea typeface="Cambria"/>
                <a:cs typeface="Cambria"/>
                <a:sym typeface="Cambria"/>
              </a:rPr>
              <a:t>3.Survey Findings in 2022-23</a:t>
            </a:r>
            <a:endParaRPr b="0" i="0" sz="1400" u="none" cap="none" strike="noStrike">
              <a:solidFill>
                <a:srgbClr val="000000"/>
              </a:solidFill>
              <a:latin typeface="Cambria"/>
              <a:ea typeface="Cambria"/>
              <a:cs typeface="Cambria"/>
              <a:sym typeface="Cambria"/>
            </a:endParaRPr>
          </a:p>
          <a:p>
            <a:pPr indent="0" lvl="0" marL="0" marR="0" rtl="0" algn="l">
              <a:lnSpc>
                <a:spcPct val="162978"/>
              </a:lnSpc>
              <a:spcBef>
                <a:spcPts val="0"/>
              </a:spcBef>
              <a:spcAft>
                <a:spcPts val="0"/>
              </a:spcAft>
              <a:buClr>
                <a:srgbClr val="000000"/>
              </a:buClr>
              <a:buSzPts val="3733"/>
              <a:buFont typeface="Arial"/>
              <a:buNone/>
            </a:pPr>
            <a:r>
              <a:rPr b="1" i="0" lang="en-US" sz="3733" u="none" cap="none" strike="noStrike">
                <a:solidFill>
                  <a:srgbClr val="231F20"/>
                </a:solidFill>
                <a:latin typeface="Cambria"/>
                <a:ea typeface="Cambria"/>
                <a:cs typeface="Cambria"/>
                <a:sym typeface="Cambria"/>
              </a:rPr>
              <a:t>4.Identification of Potential Lakhpati Didis</a:t>
            </a:r>
            <a:endParaRPr b="0" i="0" sz="1400" u="none" cap="none" strike="noStrike">
              <a:solidFill>
                <a:srgbClr val="000000"/>
              </a:solidFill>
              <a:latin typeface="Cambria"/>
              <a:ea typeface="Cambria"/>
              <a:cs typeface="Cambria"/>
              <a:sym typeface="Cambria"/>
            </a:endParaRPr>
          </a:p>
          <a:p>
            <a:pPr indent="0" lvl="0" marL="0" marR="0" rtl="0" algn="l">
              <a:lnSpc>
                <a:spcPct val="162978"/>
              </a:lnSpc>
              <a:spcBef>
                <a:spcPts val="0"/>
              </a:spcBef>
              <a:spcAft>
                <a:spcPts val="0"/>
              </a:spcAft>
              <a:buClr>
                <a:srgbClr val="000000"/>
              </a:buClr>
              <a:buSzPts val="3733"/>
              <a:buFont typeface="Arial"/>
              <a:buNone/>
            </a:pPr>
            <a:r>
              <a:rPr b="1" i="0" lang="en-US" sz="3733" u="none" cap="none" strike="noStrike">
                <a:solidFill>
                  <a:srgbClr val="231F20"/>
                </a:solidFill>
                <a:latin typeface="Cambria"/>
                <a:ea typeface="Cambria"/>
                <a:cs typeface="Cambria"/>
                <a:sym typeface="Cambria"/>
              </a:rPr>
              <a:t>5.Roles and Activities of CRPs</a:t>
            </a:r>
            <a:endParaRPr b="0" i="0" sz="1400" u="none" cap="none" strike="noStrike">
              <a:solidFill>
                <a:srgbClr val="000000"/>
              </a:solidFill>
              <a:latin typeface="Cambria"/>
              <a:ea typeface="Cambria"/>
              <a:cs typeface="Cambria"/>
              <a:sym typeface="Cambria"/>
            </a:endParaRPr>
          </a:p>
          <a:p>
            <a:pPr indent="0" lvl="0" marL="0" marR="0" rtl="0" algn="l">
              <a:lnSpc>
                <a:spcPct val="162978"/>
              </a:lnSpc>
              <a:spcBef>
                <a:spcPts val="0"/>
              </a:spcBef>
              <a:spcAft>
                <a:spcPts val="0"/>
              </a:spcAft>
              <a:buClr>
                <a:srgbClr val="000000"/>
              </a:buClr>
              <a:buSzPts val="3733"/>
              <a:buFont typeface="Arial"/>
              <a:buNone/>
            </a:pPr>
            <a:r>
              <a:t/>
            </a:r>
            <a:endParaRPr b="1" i="0" sz="3733" u="none" cap="none" strike="noStrike">
              <a:solidFill>
                <a:srgbClr val="231F20"/>
              </a:solidFill>
              <a:latin typeface="Cambria"/>
              <a:ea typeface="Cambria"/>
              <a:cs typeface="Cambria"/>
              <a:sym typeface="Cambria"/>
            </a:endParaRPr>
          </a:p>
        </p:txBody>
      </p:sp>
      <p:grpSp>
        <p:nvGrpSpPr>
          <p:cNvPr id="98" name="Google Shape;98;p2"/>
          <p:cNvGrpSpPr/>
          <p:nvPr/>
        </p:nvGrpSpPr>
        <p:grpSpPr>
          <a:xfrm>
            <a:off x="3867685" y="359339"/>
            <a:ext cx="9460311" cy="1833184"/>
            <a:chOff x="0" y="-85725"/>
            <a:chExt cx="2491605" cy="482814"/>
          </a:xfrm>
        </p:grpSpPr>
        <p:sp>
          <p:nvSpPr>
            <p:cNvPr id="99" name="Google Shape;99;p2"/>
            <p:cNvSpPr/>
            <p:nvPr/>
          </p:nvSpPr>
          <p:spPr>
            <a:xfrm>
              <a:off x="0" y="0"/>
              <a:ext cx="2491605" cy="397089"/>
            </a:xfrm>
            <a:custGeom>
              <a:rect b="b" l="l" r="r" t="t"/>
              <a:pathLst>
                <a:path extrusionOk="0" h="397089" w="2491605">
                  <a:moveTo>
                    <a:pt x="0" y="0"/>
                  </a:moveTo>
                  <a:lnTo>
                    <a:pt x="2491605" y="0"/>
                  </a:lnTo>
                  <a:lnTo>
                    <a:pt x="2491605" y="397089"/>
                  </a:lnTo>
                  <a:lnTo>
                    <a:pt x="0" y="397089"/>
                  </a:lnTo>
                  <a:close/>
                </a:path>
              </a:pathLst>
            </a:custGeom>
            <a:solidFill>
              <a:srgbClr val="F47C00"/>
            </a:solidFill>
            <a:ln>
              <a:noFill/>
            </a:ln>
          </p:spPr>
        </p:sp>
        <p:sp>
          <p:nvSpPr>
            <p:cNvPr id="100" name="Google Shape;100;p2"/>
            <p:cNvSpPr txBox="1"/>
            <p:nvPr/>
          </p:nvSpPr>
          <p:spPr>
            <a:xfrm>
              <a:off x="0" y="-85725"/>
              <a:ext cx="2491605" cy="482814"/>
            </a:xfrm>
            <a:prstGeom prst="rect">
              <a:avLst/>
            </a:prstGeom>
            <a:noFill/>
            <a:ln>
              <a:noFill/>
            </a:ln>
          </p:spPr>
          <p:txBody>
            <a:bodyPr anchorCtr="0" anchor="ctr" bIns="50800" lIns="50800" spcFirstLastPara="1" rIns="50800" wrap="square" tIns="50800">
              <a:noAutofit/>
            </a:bodyPr>
            <a:lstStyle/>
            <a:p>
              <a:pPr indent="0" lvl="0" marL="0" marR="0" rtl="0" algn="ctr">
                <a:lnSpc>
                  <a:spcPct val="138039"/>
                </a:lnSpc>
                <a:spcBef>
                  <a:spcPts val="0"/>
                </a:spcBef>
                <a:spcAft>
                  <a:spcPts val="0"/>
                </a:spcAft>
                <a:buClr>
                  <a:srgbClr val="000000"/>
                </a:buClr>
                <a:buSzPts val="4009"/>
                <a:buFont typeface="Arial"/>
                <a:buNone/>
              </a:pPr>
              <a:r>
                <a:rPr b="1" i="0" lang="en-US" sz="4009" u="none" cap="none" strike="noStrike">
                  <a:solidFill>
                    <a:srgbClr val="FFFFFF"/>
                  </a:solidFill>
                  <a:latin typeface="Cambria"/>
                  <a:ea typeface="Cambria"/>
                  <a:cs typeface="Cambria"/>
                  <a:sym typeface="Cambria"/>
                </a:rPr>
                <a:t>WHAT WILL WE DISCUSS?</a:t>
              </a:r>
              <a:endParaRPr b="0" i="0" sz="1400" u="none" cap="none" strike="noStrike">
                <a:solidFill>
                  <a:srgbClr val="000000"/>
                </a:solidFill>
                <a:latin typeface="Cambria"/>
                <a:ea typeface="Cambria"/>
                <a:cs typeface="Cambria"/>
                <a:sym typeface="Cambria"/>
              </a:endParaRPr>
            </a:p>
          </p:txBody>
        </p:sp>
      </p:grpSp>
      <p:sp>
        <p:nvSpPr>
          <p:cNvPr id="101" name="Google Shape;101;p2"/>
          <p:cNvSpPr/>
          <p:nvPr/>
        </p:nvSpPr>
        <p:spPr>
          <a:xfrm rot="5400000">
            <a:off x="-3619500" y="3619500"/>
            <a:ext cx="10287000" cy="3048000"/>
          </a:xfrm>
          <a:custGeom>
            <a:rect b="b" l="l" r="r" t="t"/>
            <a:pathLst>
              <a:path extrusionOk="0" h="8061320" w="10657996">
                <a:moveTo>
                  <a:pt x="0" y="0"/>
                </a:moveTo>
                <a:lnTo>
                  <a:pt x="10657996" y="0"/>
                </a:lnTo>
                <a:lnTo>
                  <a:pt x="10657996" y="8061320"/>
                </a:lnTo>
                <a:lnTo>
                  <a:pt x="0" y="8061320"/>
                </a:lnTo>
                <a:lnTo>
                  <a:pt x="0" y="0"/>
                </a:lnTo>
                <a:close/>
              </a:path>
            </a:pathLst>
          </a:custGeom>
          <a:blipFill rotWithShape="1">
            <a:blip r:embed="rId3">
              <a:alphaModFix/>
            </a:blip>
            <a:stretch>
              <a:fillRect b="0" l="0" r="0" t="0"/>
            </a:stretch>
          </a:blipFill>
          <a:ln>
            <a:noFill/>
          </a:ln>
        </p:spPr>
      </p:sp>
      <p:sp>
        <p:nvSpPr>
          <p:cNvPr id="102" name="Google Shape;102;p2"/>
          <p:cNvSpPr/>
          <p:nvPr/>
        </p:nvSpPr>
        <p:spPr>
          <a:xfrm>
            <a:off x="11423228" y="5627933"/>
            <a:ext cx="6864772" cy="4659067"/>
          </a:xfrm>
          <a:custGeom>
            <a:rect b="b" l="l" r="r" t="t"/>
            <a:pathLst>
              <a:path extrusionOk="0" h="4659067" w="6864772">
                <a:moveTo>
                  <a:pt x="0" y="0"/>
                </a:moveTo>
                <a:lnTo>
                  <a:pt x="6864772" y="0"/>
                </a:lnTo>
                <a:lnTo>
                  <a:pt x="6864772" y="4659067"/>
                </a:lnTo>
                <a:lnTo>
                  <a:pt x="0" y="465906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06" name="Shape 106"/>
        <p:cNvGrpSpPr/>
        <p:nvPr/>
      </p:nvGrpSpPr>
      <p:grpSpPr>
        <a:xfrm>
          <a:off x="0" y="0"/>
          <a:ext cx="0" cy="0"/>
          <a:chOff x="0" y="0"/>
          <a:chExt cx="0" cy="0"/>
        </a:xfrm>
      </p:grpSpPr>
      <p:sp>
        <p:nvSpPr>
          <p:cNvPr id="107" name="Google Shape;107;p3"/>
          <p:cNvSpPr/>
          <p:nvPr/>
        </p:nvSpPr>
        <p:spPr>
          <a:xfrm>
            <a:off x="0" y="9811098"/>
            <a:ext cx="18288000" cy="992527"/>
          </a:xfrm>
          <a:custGeom>
            <a:rect b="b" l="l" r="r" t="t"/>
            <a:pathLst>
              <a:path extrusionOk="0" h="992527" w="18288000">
                <a:moveTo>
                  <a:pt x="0" y="0"/>
                </a:moveTo>
                <a:lnTo>
                  <a:pt x="18288000" y="0"/>
                </a:lnTo>
                <a:lnTo>
                  <a:pt x="18288000" y="992527"/>
                </a:lnTo>
                <a:lnTo>
                  <a:pt x="0" y="992527"/>
                </a:lnTo>
                <a:lnTo>
                  <a:pt x="0" y="0"/>
                </a:lnTo>
                <a:close/>
              </a:path>
            </a:pathLst>
          </a:custGeom>
          <a:blipFill rotWithShape="1">
            <a:blip r:embed="rId3">
              <a:alphaModFix/>
            </a:blip>
            <a:stretch>
              <a:fillRect b="-18639" l="0" r="0" t="-18639"/>
            </a:stretch>
          </a:blipFill>
          <a:ln>
            <a:noFill/>
          </a:ln>
        </p:spPr>
      </p:sp>
      <p:sp>
        <p:nvSpPr>
          <p:cNvPr id="108" name="Google Shape;108;p3"/>
          <p:cNvSpPr txBox="1"/>
          <p:nvPr/>
        </p:nvSpPr>
        <p:spPr>
          <a:xfrm>
            <a:off x="1922725" y="655674"/>
            <a:ext cx="13875600" cy="1405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805"/>
              <a:buFont typeface="Arial"/>
              <a:buNone/>
            </a:pPr>
            <a:r>
              <a:rPr b="1" i="0" lang="en-US" sz="3805" u="none" cap="none" strike="noStrike">
                <a:solidFill>
                  <a:srgbClr val="F47C00"/>
                </a:solidFill>
                <a:latin typeface="Cambria"/>
                <a:ea typeface="Cambria"/>
                <a:cs typeface="Cambria"/>
                <a:sym typeface="Cambria"/>
              </a:rPr>
              <a:t>Hon’ble Prime Minister on the 77th Independence Day:</a:t>
            </a:r>
            <a:endParaRPr b="1" i="0" sz="1400" u="none" cap="none" strike="noStrike">
              <a:solidFill>
                <a:srgbClr val="000000"/>
              </a:solidFill>
              <a:latin typeface="Cambria"/>
              <a:ea typeface="Cambria"/>
              <a:cs typeface="Cambria"/>
              <a:sym typeface="Cambria"/>
            </a:endParaRPr>
          </a:p>
          <a:p>
            <a:pPr indent="0" lvl="0" marL="0" marR="0" rtl="0" algn="ctr">
              <a:lnSpc>
                <a:spcPct val="140000"/>
              </a:lnSpc>
              <a:spcBef>
                <a:spcPts val="0"/>
              </a:spcBef>
              <a:spcAft>
                <a:spcPts val="0"/>
              </a:spcAft>
              <a:buClr>
                <a:srgbClr val="000000"/>
              </a:buClr>
              <a:buSzPts val="3805"/>
              <a:buFont typeface="Arial"/>
              <a:buNone/>
            </a:pPr>
            <a:r>
              <a:rPr b="1" i="0" lang="en-US" sz="3805" u="none" cap="none" strike="noStrike">
                <a:solidFill>
                  <a:srgbClr val="F47C00"/>
                </a:solidFill>
                <a:latin typeface="Cambria"/>
                <a:ea typeface="Cambria"/>
                <a:cs typeface="Cambria"/>
                <a:sym typeface="Cambria"/>
              </a:rPr>
              <a:t> (15th August, 2023)  </a:t>
            </a:r>
            <a:endParaRPr b="1" i="0" sz="1400" u="none" cap="none" strike="noStrike">
              <a:solidFill>
                <a:srgbClr val="000000"/>
              </a:solidFill>
              <a:latin typeface="Cambria"/>
              <a:ea typeface="Cambria"/>
              <a:cs typeface="Cambria"/>
              <a:sym typeface="Cambria"/>
            </a:endParaRPr>
          </a:p>
        </p:txBody>
      </p:sp>
      <p:sp>
        <p:nvSpPr>
          <p:cNvPr id="109" name="Google Shape;109;p3"/>
          <p:cNvSpPr txBox="1"/>
          <p:nvPr/>
        </p:nvSpPr>
        <p:spPr>
          <a:xfrm>
            <a:off x="9619919" y="3279699"/>
            <a:ext cx="7967700" cy="4561800"/>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Clr>
                <a:srgbClr val="000000"/>
              </a:buClr>
              <a:buSzPts val="3152"/>
              <a:buFont typeface="Arial"/>
              <a:buNone/>
            </a:pPr>
            <a:r>
              <a:rPr b="1" i="0" lang="en-US" sz="3152" u="none" cap="none" strike="noStrike">
                <a:solidFill>
                  <a:srgbClr val="000000"/>
                </a:solidFill>
                <a:latin typeface="Cambria"/>
                <a:ea typeface="Cambria"/>
                <a:cs typeface="Cambria"/>
                <a:sym typeface="Cambria"/>
              </a:rPr>
              <a:t>Today 10 crore women are involved in women self-help groups and if you go to a village with women self-help groups, you will find bank didis, Anganwadi didis with and didis who distribute medicines. And now my dream is to create a base of 2 crore lakhpati didis in the villages. </a:t>
            </a:r>
            <a:endParaRPr b="0" i="0" sz="1400" u="none" cap="none" strike="noStrike">
              <a:solidFill>
                <a:srgbClr val="000000"/>
              </a:solidFill>
              <a:latin typeface="Cambria"/>
              <a:ea typeface="Cambria"/>
              <a:cs typeface="Cambria"/>
              <a:sym typeface="Cambria"/>
            </a:endParaRPr>
          </a:p>
        </p:txBody>
      </p:sp>
      <p:sp>
        <p:nvSpPr>
          <p:cNvPr id="110" name="Google Shape;110;p3"/>
          <p:cNvSpPr txBox="1"/>
          <p:nvPr/>
        </p:nvSpPr>
        <p:spPr>
          <a:xfrm>
            <a:off x="1028700" y="3365500"/>
            <a:ext cx="8115300" cy="4919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400"/>
              <a:buFont typeface="Arial"/>
              <a:buNone/>
            </a:pPr>
            <a:r>
              <a:rPr b="1" i="0" lang="en-US" sz="3400" u="none" cap="none" strike="noStrike">
                <a:solidFill>
                  <a:srgbClr val="000000"/>
                </a:solidFill>
                <a:latin typeface="Cambria"/>
                <a:ea typeface="Cambria"/>
                <a:cs typeface="Cambria"/>
                <a:sym typeface="Cambria"/>
              </a:rPr>
              <a:t>आज 10 करोड़ महिलाएं women self help में जुड़ी हुई हैं और women self help group के साथ आप गांव में जाएंगे तो आपको बैंक वाली दीदी मिलेगी, आपको आंगनबाड़ी वाली दीदी मिलेगी, आपको दवाई देने वाली दीदी मिलेगी और अब मेरा सपना है, 2 करोड़ लखपति दीदी बनाने का, गांव में 2 करोड़ लखपति दीदी।</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14" name="Shape 114"/>
        <p:cNvGrpSpPr/>
        <p:nvPr/>
      </p:nvGrpSpPr>
      <p:grpSpPr>
        <a:xfrm>
          <a:off x="0" y="0"/>
          <a:ext cx="0" cy="0"/>
          <a:chOff x="0" y="0"/>
          <a:chExt cx="0" cy="0"/>
        </a:xfrm>
      </p:grpSpPr>
      <p:sp>
        <p:nvSpPr>
          <p:cNvPr id="115" name="Google Shape;115;g266f53d6fd8_0_0"/>
          <p:cNvSpPr/>
          <p:nvPr/>
        </p:nvSpPr>
        <p:spPr>
          <a:xfrm>
            <a:off x="0" y="9811098"/>
            <a:ext cx="18288000" cy="992527"/>
          </a:xfrm>
          <a:custGeom>
            <a:rect b="b" l="l" r="r" t="t"/>
            <a:pathLst>
              <a:path extrusionOk="0" h="992527" w="18288000">
                <a:moveTo>
                  <a:pt x="0" y="0"/>
                </a:moveTo>
                <a:lnTo>
                  <a:pt x="18288000" y="0"/>
                </a:lnTo>
                <a:lnTo>
                  <a:pt x="18288000" y="992527"/>
                </a:lnTo>
                <a:lnTo>
                  <a:pt x="0" y="992527"/>
                </a:lnTo>
                <a:lnTo>
                  <a:pt x="0" y="0"/>
                </a:lnTo>
                <a:close/>
              </a:path>
            </a:pathLst>
          </a:custGeom>
          <a:blipFill rotWithShape="1">
            <a:blip r:embed="rId3">
              <a:alphaModFix/>
            </a:blip>
            <a:stretch>
              <a:fillRect b="-18639" l="0" r="0" t="-18639"/>
            </a:stretch>
          </a:blipFill>
          <a:ln>
            <a:noFill/>
          </a:ln>
        </p:spPr>
      </p:sp>
      <p:sp>
        <p:nvSpPr>
          <p:cNvPr id="116" name="Google Shape;116;g266f53d6fd8_0_0"/>
          <p:cNvSpPr txBox="1"/>
          <p:nvPr/>
        </p:nvSpPr>
        <p:spPr>
          <a:xfrm>
            <a:off x="1922725" y="655674"/>
            <a:ext cx="13875600" cy="1405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805"/>
              <a:buFont typeface="Arial"/>
              <a:buNone/>
            </a:pPr>
            <a:r>
              <a:rPr b="1" i="0" lang="en-US" sz="3805" u="none" cap="none" strike="noStrike">
                <a:solidFill>
                  <a:srgbClr val="F47C00"/>
                </a:solidFill>
                <a:latin typeface="Cambria"/>
                <a:ea typeface="Cambria"/>
                <a:cs typeface="Cambria"/>
                <a:sym typeface="Cambria"/>
              </a:rPr>
              <a:t>Hon’ble Prime Minister on the 77th Independence Day:</a:t>
            </a:r>
            <a:endParaRPr b="1" i="0" sz="1400" u="none" cap="none" strike="noStrike">
              <a:solidFill>
                <a:srgbClr val="000000"/>
              </a:solidFill>
              <a:latin typeface="Cambria"/>
              <a:ea typeface="Cambria"/>
              <a:cs typeface="Cambria"/>
              <a:sym typeface="Cambria"/>
            </a:endParaRPr>
          </a:p>
          <a:p>
            <a:pPr indent="0" lvl="0" marL="0" marR="0" rtl="0" algn="ctr">
              <a:lnSpc>
                <a:spcPct val="140000"/>
              </a:lnSpc>
              <a:spcBef>
                <a:spcPts val="0"/>
              </a:spcBef>
              <a:spcAft>
                <a:spcPts val="0"/>
              </a:spcAft>
              <a:buClr>
                <a:srgbClr val="000000"/>
              </a:buClr>
              <a:buSzPts val="3805"/>
              <a:buFont typeface="Arial"/>
              <a:buNone/>
            </a:pPr>
            <a:r>
              <a:rPr b="1" i="0" lang="en-US" sz="3805" u="none" cap="none" strike="noStrike">
                <a:solidFill>
                  <a:srgbClr val="F47C00"/>
                </a:solidFill>
                <a:latin typeface="Cambria"/>
                <a:ea typeface="Cambria"/>
                <a:cs typeface="Cambria"/>
                <a:sym typeface="Cambria"/>
              </a:rPr>
              <a:t> (15th August, 2023)  </a:t>
            </a:r>
            <a:endParaRPr b="1" i="0" sz="1400" u="none" cap="none" strike="noStrike">
              <a:solidFill>
                <a:srgbClr val="000000"/>
              </a:solidFill>
              <a:latin typeface="Cambria"/>
              <a:ea typeface="Cambria"/>
              <a:cs typeface="Cambria"/>
              <a:sym typeface="Cambria"/>
            </a:endParaRPr>
          </a:p>
        </p:txBody>
      </p:sp>
      <p:sp>
        <p:nvSpPr>
          <p:cNvPr id="117" name="Google Shape;117;g266f53d6fd8_0_0"/>
          <p:cNvSpPr txBox="1"/>
          <p:nvPr/>
        </p:nvSpPr>
        <p:spPr>
          <a:xfrm>
            <a:off x="9619919" y="3279699"/>
            <a:ext cx="7967700" cy="4561800"/>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Clr>
                <a:srgbClr val="000000"/>
              </a:buClr>
              <a:buSzPts val="3152"/>
              <a:buFont typeface="Arial"/>
              <a:buNone/>
            </a:pPr>
            <a:r>
              <a:rPr b="1" i="0" lang="en-US" sz="3152" u="none" cap="none" strike="noStrike">
                <a:solidFill>
                  <a:srgbClr val="000000"/>
                </a:solidFill>
                <a:latin typeface="Cambria"/>
                <a:ea typeface="Cambria"/>
                <a:cs typeface="Cambria"/>
                <a:sym typeface="Cambria"/>
              </a:rPr>
              <a:t>Today 10 crore women are involved in women self-help groups and if you go to a village with women self-help groups, you will find bank didis, Anganwadi didis with and didis who distribute medicines. And now my dream is to create a base of 2 crore lakhpati didis in the villages. </a:t>
            </a:r>
            <a:endParaRPr b="0" i="0" sz="1400" u="none" cap="none" strike="noStrike">
              <a:solidFill>
                <a:srgbClr val="000000"/>
              </a:solidFill>
              <a:latin typeface="Cambria"/>
              <a:ea typeface="Cambria"/>
              <a:cs typeface="Cambria"/>
              <a:sym typeface="Cambria"/>
            </a:endParaRPr>
          </a:p>
        </p:txBody>
      </p:sp>
      <p:sp>
        <p:nvSpPr>
          <p:cNvPr id="118" name="Google Shape;118;g266f53d6fd8_0_0"/>
          <p:cNvSpPr txBox="1"/>
          <p:nvPr/>
        </p:nvSpPr>
        <p:spPr>
          <a:xfrm>
            <a:off x="1028700" y="3365500"/>
            <a:ext cx="8115300" cy="4919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400"/>
              <a:buFont typeface="Arial"/>
              <a:buNone/>
            </a:pPr>
            <a:r>
              <a:rPr b="1" i="0" lang="en-US" sz="3400" u="none" cap="none" strike="noStrike">
                <a:solidFill>
                  <a:srgbClr val="000000"/>
                </a:solidFill>
                <a:latin typeface="Cambria"/>
                <a:ea typeface="Cambria"/>
                <a:cs typeface="Cambria"/>
                <a:sym typeface="Cambria"/>
              </a:rPr>
              <a:t>आज 10 करोड़ महिलाएं women self help में जुड़ी हुई हैं और women self help group के साथ आप गांव में जाएंगे तो आपको बैंक वाली दीदी मिलेगी, आपको आंगनबाड़ी वाली दीदी मिलेगी, आपको दवाई देने वाली दीदी मिलेगी और अब मेरा सपना है, 2 करोड़ लखपति दीदी बनाने का, गांव में 2 करोड़ लखपति दीदी।</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22" name="Shape 122"/>
        <p:cNvGrpSpPr/>
        <p:nvPr/>
      </p:nvGrpSpPr>
      <p:grpSpPr>
        <a:xfrm>
          <a:off x="0" y="0"/>
          <a:ext cx="0" cy="0"/>
          <a:chOff x="0" y="0"/>
          <a:chExt cx="0" cy="0"/>
        </a:xfrm>
      </p:grpSpPr>
      <p:sp>
        <p:nvSpPr>
          <p:cNvPr id="123" name="Google Shape;123;p4"/>
          <p:cNvSpPr/>
          <p:nvPr/>
        </p:nvSpPr>
        <p:spPr>
          <a:xfrm>
            <a:off x="15435652" y="6031140"/>
            <a:ext cx="2753919" cy="3220948"/>
          </a:xfrm>
          <a:custGeom>
            <a:rect b="b" l="l" r="r" t="t"/>
            <a:pathLst>
              <a:path extrusionOk="0" h="4687320" w="4687320">
                <a:moveTo>
                  <a:pt x="0" y="0"/>
                </a:moveTo>
                <a:lnTo>
                  <a:pt x="4687320" y="0"/>
                </a:lnTo>
                <a:lnTo>
                  <a:pt x="4687320" y="4687320"/>
                </a:lnTo>
                <a:lnTo>
                  <a:pt x="0" y="4687320"/>
                </a:lnTo>
                <a:lnTo>
                  <a:pt x="0" y="0"/>
                </a:lnTo>
                <a:close/>
              </a:path>
            </a:pathLst>
          </a:custGeom>
          <a:blipFill rotWithShape="1">
            <a:blip r:embed="rId3">
              <a:alphaModFix/>
            </a:blip>
            <a:stretch>
              <a:fillRect b="0" l="0" r="0" t="0"/>
            </a:stretch>
          </a:blipFill>
          <a:ln>
            <a:noFill/>
          </a:ln>
        </p:spPr>
      </p:sp>
      <p:grpSp>
        <p:nvGrpSpPr>
          <p:cNvPr id="124" name="Google Shape;124;p4"/>
          <p:cNvGrpSpPr/>
          <p:nvPr/>
        </p:nvGrpSpPr>
        <p:grpSpPr>
          <a:xfrm>
            <a:off x="15781334" y="6520653"/>
            <a:ext cx="2085109" cy="2085109"/>
            <a:chOff x="0" y="0"/>
            <a:chExt cx="812800" cy="812800"/>
          </a:xfrm>
        </p:grpSpPr>
        <p:sp>
          <p:nvSpPr>
            <p:cNvPr id="125" name="Google Shape;12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C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7" name="Google Shape;127;p4"/>
          <p:cNvSpPr/>
          <p:nvPr/>
        </p:nvSpPr>
        <p:spPr>
          <a:xfrm>
            <a:off x="92789" y="2195932"/>
            <a:ext cx="3939862" cy="3405788"/>
          </a:xfrm>
          <a:custGeom>
            <a:rect b="b" l="l" r="r" t="t"/>
            <a:pathLst>
              <a:path extrusionOk="0" h="4687320" w="4687320">
                <a:moveTo>
                  <a:pt x="0" y="0"/>
                </a:moveTo>
                <a:lnTo>
                  <a:pt x="4687320" y="0"/>
                </a:lnTo>
                <a:lnTo>
                  <a:pt x="4687320" y="4687319"/>
                </a:lnTo>
                <a:lnTo>
                  <a:pt x="0" y="4687319"/>
                </a:lnTo>
                <a:lnTo>
                  <a:pt x="0" y="0"/>
                </a:lnTo>
                <a:close/>
              </a:path>
            </a:pathLst>
          </a:custGeom>
          <a:blipFill rotWithShape="1">
            <a:blip r:embed="rId3">
              <a:alphaModFix/>
            </a:blip>
            <a:stretch>
              <a:fillRect b="0" l="0" r="0" t="0"/>
            </a:stretch>
          </a:blipFill>
          <a:ln>
            <a:noFill/>
          </a:ln>
        </p:spPr>
      </p:sp>
      <p:grpSp>
        <p:nvGrpSpPr>
          <p:cNvPr id="128" name="Google Shape;128;p4"/>
          <p:cNvGrpSpPr/>
          <p:nvPr/>
        </p:nvGrpSpPr>
        <p:grpSpPr>
          <a:xfrm>
            <a:off x="-8" y="983648"/>
            <a:ext cx="5923516" cy="4562490"/>
            <a:chOff x="-167588" y="-42759"/>
            <a:chExt cx="904188" cy="812800"/>
          </a:xfrm>
        </p:grpSpPr>
        <p:sp>
          <p:nvSpPr>
            <p:cNvPr id="129" name="Google Shape;129;p4"/>
            <p:cNvSpPr/>
            <p:nvPr/>
          </p:nvSpPr>
          <p:spPr>
            <a:xfrm>
              <a:off x="-167588" y="-42759"/>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C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1" name="Google Shape;131;p4"/>
          <p:cNvSpPr/>
          <p:nvPr/>
        </p:nvSpPr>
        <p:spPr>
          <a:xfrm>
            <a:off x="7318228" y="1437052"/>
            <a:ext cx="1709211" cy="2834599"/>
          </a:xfrm>
          <a:custGeom>
            <a:rect b="b" l="l" r="r" t="t"/>
            <a:pathLst>
              <a:path extrusionOk="0" h="2444877" w="1474216">
                <a:moveTo>
                  <a:pt x="1394587" y="1366393"/>
                </a:moveTo>
                <a:lnTo>
                  <a:pt x="395351" y="2365883"/>
                </a:lnTo>
                <a:cubicBezTo>
                  <a:pt x="315849" y="2444877"/>
                  <a:pt x="186944" y="2444877"/>
                  <a:pt x="107315" y="2365883"/>
                </a:cubicBezTo>
                <a:lnTo>
                  <a:pt x="0" y="2258441"/>
                </a:lnTo>
                <a:lnTo>
                  <a:pt x="891286" y="1366393"/>
                </a:lnTo>
                <a:cubicBezTo>
                  <a:pt x="970788" y="1286891"/>
                  <a:pt x="970788" y="1157859"/>
                  <a:pt x="891286" y="1078357"/>
                </a:cubicBezTo>
                <a:lnTo>
                  <a:pt x="0" y="186944"/>
                </a:lnTo>
                <a:lnTo>
                  <a:pt x="107442" y="79502"/>
                </a:lnTo>
                <a:cubicBezTo>
                  <a:pt x="186944" y="0"/>
                  <a:pt x="315849" y="0"/>
                  <a:pt x="395478" y="79502"/>
                </a:cubicBezTo>
                <a:lnTo>
                  <a:pt x="1394714" y="1078357"/>
                </a:lnTo>
                <a:cubicBezTo>
                  <a:pt x="1474216" y="1157859"/>
                  <a:pt x="1474216" y="1286891"/>
                  <a:pt x="1394714" y="1366393"/>
                </a:cubicBezTo>
                <a:close/>
              </a:path>
            </a:pathLst>
          </a:custGeom>
          <a:solidFill>
            <a:srgbClr val="EA89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4"/>
          <p:cNvSpPr/>
          <p:nvPr/>
        </p:nvSpPr>
        <p:spPr>
          <a:xfrm>
            <a:off x="7503828" y="2422894"/>
            <a:ext cx="507041" cy="955982"/>
          </a:xfrm>
          <a:custGeom>
            <a:rect b="b" l="l" r="r" t="t"/>
            <a:pathLst>
              <a:path extrusionOk="0" h="842137" w="446659">
                <a:moveTo>
                  <a:pt x="350393" y="246126"/>
                </a:moveTo>
                <a:lnTo>
                  <a:pt x="165354" y="60960"/>
                </a:lnTo>
                <a:cubicBezTo>
                  <a:pt x="104394" y="0"/>
                  <a:pt x="0" y="42926"/>
                  <a:pt x="0" y="129413"/>
                </a:cubicBezTo>
                <a:lnTo>
                  <a:pt x="0" y="712724"/>
                </a:lnTo>
                <a:cubicBezTo>
                  <a:pt x="0" y="799211"/>
                  <a:pt x="104394" y="842137"/>
                  <a:pt x="165354" y="781177"/>
                </a:cubicBezTo>
                <a:lnTo>
                  <a:pt x="350393" y="596138"/>
                </a:lnTo>
                <a:cubicBezTo>
                  <a:pt x="446659" y="499237"/>
                  <a:pt x="446659" y="342519"/>
                  <a:pt x="350393" y="246126"/>
                </a:cubicBezTo>
                <a:close/>
              </a:path>
            </a:pathLst>
          </a:custGeom>
          <a:solidFill>
            <a:srgbClr val="EA89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4"/>
          <p:cNvSpPr/>
          <p:nvPr/>
        </p:nvSpPr>
        <p:spPr>
          <a:xfrm>
            <a:off x="7907654" y="1519911"/>
            <a:ext cx="10100215" cy="2668281"/>
          </a:xfrm>
          <a:custGeom>
            <a:rect b="b" l="l" r="r" t="t"/>
            <a:pathLst>
              <a:path extrusionOk="0" h="1963166" w="7431151">
                <a:moveTo>
                  <a:pt x="6464935" y="0"/>
                </a:moveTo>
                <a:lnTo>
                  <a:pt x="0" y="0"/>
                </a:lnTo>
                <a:lnTo>
                  <a:pt x="837819" y="837565"/>
                </a:lnTo>
                <a:cubicBezTo>
                  <a:pt x="877316" y="877062"/>
                  <a:pt x="897636" y="929386"/>
                  <a:pt x="897636" y="981583"/>
                </a:cubicBezTo>
                <a:cubicBezTo>
                  <a:pt x="897636" y="1033780"/>
                  <a:pt x="877951" y="1085596"/>
                  <a:pt x="837819" y="1125601"/>
                </a:cubicBezTo>
                <a:lnTo>
                  <a:pt x="635" y="1963166"/>
                </a:lnTo>
                <a:lnTo>
                  <a:pt x="6464427" y="1963166"/>
                </a:lnTo>
                <a:lnTo>
                  <a:pt x="7431151" y="981583"/>
                </a:lnTo>
                <a:lnTo>
                  <a:pt x="6464935" y="0"/>
                </a:lnTo>
                <a:close/>
              </a:path>
            </a:pathLst>
          </a:custGeom>
          <a:solidFill>
            <a:srgbClr val="EE88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4"/>
          <p:cNvSpPr/>
          <p:nvPr/>
        </p:nvSpPr>
        <p:spPr>
          <a:xfrm>
            <a:off x="13677448" y="4718504"/>
            <a:ext cx="1811824" cy="3004774"/>
          </a:xfrm>
          <a:custGeom>
            <a:rect b="b" l="l" r="r" t="t"/>
            <a:pathLst>
              <a:path extrusionOk="0" h="2444877" w="1474216">
                <a:moveTo>
                  <a:pt x="78994" y="1078484"/>
                </a:moveTo>
                <a:lnTo>
                  <a:pt x="1078611" y="78994"/>
                </a:lnTo>
                <a:cubicBezTo>
                  <a:pt x="1158240" y="0"/>
                  <a:pt x="1287145" y="0"/>
                  <a:pt x="1366774" y="78994"/>
                </a:cubicBezTo>
                <a:lnTo>
                  <a:pt x="1474216" y="186436"/>
                </a:lnTo>
                <a:lnTo>
                  <a:pt x="582549" y="1078484"/>
                </a:lnTo>
                <a:cubicBezTo>
                  <a:pt x="502920" y="1157986"/>
                  <a:pt x="502920" y="1287018"/>
                  <a:pt x="582549" y="1366520"/>
                </a:cubicBezTo>
                <a:lnTo>
                  <a:pt x="1474216" y="2257933"/>
                </a:lnTo>
                <a:lnTo>
                  <a:pt x="1366774" y="2365375"/>
                </a:lnTo>
                <a:cubicBezTo>
                  <a:pt x="1287145" y="2444877"/>
                  <a:pt x="1158240" y="2444877"/>
                  <a:pt x="1078611" y="2365375"/>
                </a:cubicBezTo>
                <a:lnTo>
                  <a:pt x="78994" y="1366012"/>
                </a:lnTo>
                <a:cubicBezTo>
                  <a:pt x="0" y="1286510"/>
                  <a:pt x="0" y="1158113"/>
                  <a:pt x="78994" y="1078484"/>
                </a:cubicBezTo>
                <a:close/>
              </a:path>
            </a:pathLst>
          </a:custGeom>
          <a:solidFill>
            <a:srgbClr val="EE88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4"/>
          <p:cNvSpPr/>
          <p:nvPr/>
        </p:nvSpPr>
        <p:spPr>
          <a:xfrm>
            <a:off x="14614862" y="5788755"/>
            <a:ext cx="528728" cy="995607"/>
          </a:xfrm>
          <a:custGeom>
            <a:rect b="b" l="l" r="r" t="t"/>
            <a:pathLst>
              <a:path extrusionOk="0" h="842264" w="447294">
                <a:moveTo>
                  <a:pt x="96901" y="596138"/>
                </a:moveTo>
                <a:lnTo>
                  <a:pt x="281940" y="781304"/>
                </a:lnTo>
                <a:cubicBezTo>
                  <a:pt x="342900" y="842264"/>
                  <a:pt x="447294" y="799338"/>
                  <a:pt x="447294" y="712851"/>
                </a:cubicBezTo>
                <a:lnTo>
                  <a:pt x="447294" y="129413"/>
                </a:lnTo>
                <a:cubicBezTo>
                  <a:pt x="447294" y="42926"/>
                  <a:pt x="342900" y="0"/>
                  <a:pt x="281940" y="60960"/>
                </a:cubicBezTo>
                <a:lnTo>
                  <a:pt x="96901" y="246126"/>
                </a:lnTo>
                <a:cubicBezTo>
                  <a:pt x="0" y="343027"/>
                  <a:pt x="0" y="499237"/>
                  <a:pt x="96901" y="596138"/>
                </a:cubicBezTo>
                <a:close/>
              </a:path>
            </a:pathLst>
          </a:custGeom>
          <a:solidFill>
            <a:srgbClr val="F47C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4"/>
          <p:cNvSpPr/>
          <p:nvPr/>
        </p:nvSpPr>
        <p:spPr>
          <a:xfrm>
            <a:off x="4033958" y="4785290"/>
            <a:ext cx="10817004" cy="2856324"/>
          </a:xfrm>
          <a:custGeom>
            <a:rect b="b" l="l" r="r" t="t"/>
            <a:pathLst>
              <a:path extrusionOk="0" h="1963166" w="7434580">
                <a:moveTo>
                  <a:pt x="967105" y="1963166"/>
                </a:moveTo>
                <a:lnTo>
                  <a:pt x="7434580" y="1963166"/>
                </a:lnTo>
                <a:lnTo>
                  <a:pt x="6596380" y="1125601"/>
                </a:lnTo>
                <a:cubicBezTo>
                  <a:pt x="6556883" y="1086104"/>
                  <a:pt x="6536563" y="1033780"/>
                  <a:pt x="6536563" y="981583"/>
                </a:cubicBezTo>
                <a:cubicBezTo>
                  <a:pt x="6536563" y="929386"/>
                  <a:pt x="6556375" y="877570"/>
                  <a:pt x="6596380" y="837565"/>
                </a:cubicBezTo>
                <a:lnTo>
                  <a:pt x="7434072" y="0"/>
                </a:lnTo>
                <a:lnTo>
                  <a:pt x="967105" y="0"/>
                </a:lnTo>
                <a:lnTo>
                  <a:pt x="0" y="980948"/>
                </a:lnTo>
                <a:lnTo>
                  <a:pt x="967105" y="1963039"/>
                </a:lnTo>
                <a:close/>
              </a:path>
            </a:pathLst>
          </a:custGeom>
          <a:solidFill>
            <a:srgbClr val="EA89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4"/>
          <p:cNvSpPr/>
          <p:nvPr/>
        </p:nvSpPr>
        <p:spPr>
          <a:xfrm>
            <a:off x="9251368" y="2087833"/>
            <a:ext cx="1165193" cy="1279154"/>
          </a:xfrm>
          <a:custGeom>
            <a:rect b="b" l="l" r="r" t="t"/>
            <a:pathLst>
              <a:path extrusionOk="0" h="1279154" w="1165193">
                <a:moveTo>
                  <a:pt x="0" y="0"/>
                </a:moveTo>
                <a:lnTo>
                  <a:pt x="1165193" y="0"/>
                </a:lnTo>
                <a:lnTo>
                  <a:pt x="1165193" y="1279154"/>
                </a:lnTo>
                <a:lnTo>
                  <a:pt x="0" y="1279154"/>
                </a:lnTo>
                <a:lnTo>
                  <a:pt x="0" y="0"/>
                </a:lnTo>
                <a:close/>
              </a:path>
            </a:pathLst>
          </a:custGeom>
          <a:blipFill rotWithShape="1">
            <a:blip r:embed="rId4">
              <a:alphaModFix/>
            </a:blip>
            <a:stretch>
              <a:fillRect b="0" l="0" r="0" t="0"/>
            </a:stretch>
          </a:blipFill>
          <a:ln>
            <a:noFill/>
          </a:ln>
        </p:spPr>
      </p:sp>
      <p:sp>
        <p:nvSpPr>
          <p:cNvPr id="138" name="Google Shape;138;p4"/>
          <p:cNvSpPr/>
          <p:nvPr/>
        </p:nvSpPr>
        <p:spPr>
          <a:xfrm>
            <a:off x="4853441" y="5546141"/>
            <a:ext cx="1312262" cy="1266929"/>
          </a:xfrm>
          <a:custGeom>
            <a:rect b="b" l="l" r="r" t="t"/>
            <a:pathLst>
              <a:path extrusionOk="0" h="1266929" w="1312262">
                <a:moveTo>
                  <a:pt x="0" y="0"/>
                </a:moveTo>
                <a:lnTo>
                  <a:pt x="1312262" y="0"/>
                </a:lnTo>
                <a:lnTo>
                  <a:pt x="1312262" y="1266930"/>
                </a:lnTo>
                <a:lnTo>
                  <a:pt x="0" y="1266930"/>
                </a:lnTo>
                <a:lnTo>
                  <a:pt x="0" y="0"/>
                </a:lnTo>
                <a:close/>
              </a:path>
            </a:pathLst>
          </a:custGeom>
          <a:blipFill rotWithShape="1">
            <a:blip r:embed="rId5">
              <a:alphaModFix/>
            </a:blip>
            <a:stretch>
              <a:fillRect b="0" l="0" r="0" t="0"/>
            </a:stretch>
          </a:blipFill>
          <a:ln>
            <a:noFill/>
          </a:ln>
        </p:spPr>
      </p:sp>
      <p:sp>
        <p:nvSpPr>
          <p:cNvPr id="139" name="Google Shape;139;p4"/>
          <p:cNvSpPr/>
          <p:nvPr/>
        </p:nvSpPr>
        <p:spPr>
          <a:xfrm>
            <a:off x="3375366" y="1887923"/>
            <a:ext cx="1393700" cy="1393700"/>
          </a:xfrm>
          <a:custGeom>
            <a:rect b="b" l="l" r="r" t="t"/>
            <a:pathLst>
              <a:path extrusionOk="0" h="1393700" w="1393700">
                <a:moveTo>
                  <a:pt x="0" y="0"/>
                </a:moveTo>
                <a:lnTo>
                  <a:pt x="1393700" y="0"/>
                </a:lnTo>
                <a:lnTo>
                  <a:pt x="1393700" y="1393700"/>
                </a:lnTo>
                <a:lnTo>
                  <a:pt x="0" y="1393700"/>
                </a:lnTo>
                <a:lnTo>
                  <a:pt x="0" y="0"/>
                </a:lnTo>
                <a:close/>
              </a:path>
            </a:pathLst>
          </a:custGeom>
          <a:blipFill rotWithShape="1">
            <a:blip r:embed="rId6">
              <a:alphaModFix/>
            </a:blip>
            <a:stretch>
              <a:fillRect b="0" l="0" r="0" t="0"/>
            </a:stretch>
          </a:blipFill>
          <a:ln>
            <a:noFill/>
          </a:ln>
        </p:spPr>
      </p:sp>
      <p:sp>
        <p:nvSpPr>
          <p:cNvPr id="140" name="Google Shape;140;p4"/>
          <p:cNvSpPr/>
          <p:nvPr/>
        </p:nvSpPr>
        <p:spPr>
          <a:xfrm>
            <a:off x="0" y="9326522"/>
            <a:ext cx="18288000" cy="1051596"/>
          </a:xfrm>
          <a:custGeom>
            <a:rect b="b" l="l" r="r" t="t"/>
            <a:pathLst>
              <a:path extrusionOk="0" h="1051596" w="18288000">
                <a:moveTo>
                  <a:pt x="0" y="0"/>
                </a:moveTo>
                <a:lnTo>
                  <a:pt x="18288000" y="0"/>
                </a:lnTo>
                <a:lnTo>
                  <a:pt x="18288000" y="1051595"/>
                </a:lnTo>
                <a:lnTo>
                  <a:pt x="0" y="1051595"/>
                </a:lnTo>
                <a:lnTo>
                  <a:pt x="0" y="0"/>
                </a:lnTo>
                <a:close/>
              </a:path>
            </a:pathLst>
          </a:custGeom>
          <a:blipFill rotWithShape="1">
            <a:blip r:embed="rId7">
              <a:alphaModFix/>
            </a:blip>
            <a:stretch>
              <a:fillRect b="-14785" l="0" r="0" t="-14785"/>
            </a:stretch>
          </a:blipFill>
          <a:ln>
            <a:noFill/>
          </a:ln>
        </p:spPr>
      </p:sp>
      <p:sp>
        <p:nvSpPr>
          <p:cNvPr id="141" name="Google Shape;141;p4"/>
          <p:cNvSpPr txBox="1"/>
          <p:nvPr/>
        </p:nvSpPr>
        <p:spPr>
          <a:xfrm>
            <a:off x="-958830" y="2284950"/>
            <a:ext cx="5605500" cy="2288100"/>
          </a:xfrm>
          <a:prstGeom prst="rect">
            <a:avLst/>
          </a:prstGeom>
          <a:noFill/>
          <a:ln>
            <a:noFill/>
          </a:ln>
        </p:spPr>
        <p:txBody>
          <a:bodyPr anchorCtr="0" anchor="t" bIns="0" lIns="0" spcFirstLastPara="1" rIns="0" wrap="square" tIns="0">
            <a:spAutoFit/>
          </a:bodyPr>
          <a:lstStyle/>
          <a:p>
            <a:pPr indent="0" lvl="0" marL="0" marR="0" rtl="0" algn="ctr">
              <a:lnSpc>
                <a:spcPct val="138008"/>
              </a:lnSpc>
              <a:spcBef>
                <a:spcPts val="0"/>
              </a:spcBef>
              <a:spcAft>
                <a:spcPts val="0"/>
              </a:spcAft>
              <a:buClr>
                <a:srgbClr val="000000"/>
              </a:buClr>
              <a:buSzPts val="6246"/>
              <a:buFont typeface="Arial"/>
              <a:buNone/>
            </a:pPr>
            <a:r>
              <a:rPr b="1" i="0" lang="en-US" sz="6246" u="none" cap="none" strike="noStrike">
                <a:solidFill>
                  <a:srgbClr val="FFFFFF"/>
                </a:solidFill>
                <a:latin typeface="Cambria"/>
                <a:ea typeface="Cambria"/>
                <a:cs typeface="Cambria"/>
                <a:sym typeface="Cambria"/>
              </a:rPr>
              <a:t>Lakhpati </a:t>
            </a:r>
            <a:endParaRPr b="1" i="0" sz="6246" u="none" cap="none" strike="noStrike">
              <a:solidFill>
                <a:srgbClr val="FFFFFF"/>
              </a:solidFill>
              <a:latin typeface="Cambria"/>
              <a:ea typeface="Cambria"/>
              <a:cs typeface="Cambria"/>
              <a:sym typeface="Cambria"/>
            </a:endParaRPr>
          </a:p>
          <a:p>
            <a:pPr indent="0" lvl="0" marL="0" marR="0" rtl="0" algn="ctr">
              <a:lnSpc>
                <a:spcPct val="138008"/>
              </a:lnSpc>
              <a:spcBef>
                <a:spcPts val="0"/>
              </a:spcBef>
              <a:spcAft>
                <a:spcPts val="0"/>
              </a:spcAft>
              <a:buClr>
                <a:srgbClr val="000000"/>
              </a:buClr>
              <a:buSzPts val="6246"/>
              <a:buFont typeface="Arial"/>
              <a:buNone/>
            </a:pPr>
            <a:r>
              <a:rPr b="1" i="0" lang="en-US" sz="6246" u="none" cap="none" strike="noStrike">
                <a:solidFill>
                  <a:srgbClr val="FFFFFF"/>
                </a:solidFill>
                <a:latin typeface="Cambria"/>
                <a:ea typeface="Cambria"/>
                <a:cs typeface="Cambria"/>
                <a:sym typeface="Cambria"/>
              </a:rPr>
              <a:t>Didi</a:t>
            </a:r>
            <a:endParaRPr b="0" i="0" sz="1400" u="none" cap="none" strike="noStrike">
              <a:solidFill>
                <a:srgbClr val="000000"/>
              </a:solidFill>
              <a:latin typeface="Cambria"/>
              <a:ea typeface="Cambria"/>
              <a:cs typeface="Cambria"/>
              <a:sym typeface="Cambria"/>
            </a:endParaRPr>
          </a:p>
        </p:txBody>
      </p:sp>
      <p:sp>
        <p:nvSpPr>
          <p:cNvPr id="142" name="Google Shape;142;p4"/>
          <p:cNvSpPr txBox="1"/>
          <p:nvPr/>
        </p:nvSpPr>
        <p:spPr>
          <a:xfrm>
            <a:off x="10563225" y="1780616"/>
            <a:ext cx="7421100" cy="222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800"/>
              <a:buFont typeface="Arial"/>
              <a:buNone/>
            </a:pPr>
            <a:r>
              <a:rPr b="1" i="0" lang="en-US" sz="3800" u="none" cap="none" strike="noStrike">
                <a:solidFill>
                  <a:srgbClr val="FDFBFB"/>
                </a:solidFill>
                <a:latin typeface="Cambria"/>
                <a:ea typeface="Cambria"/>
                <a:cs typeface="Cambria"/>
                <a:sym typeface="Cambria"/>
              </a:rPr>
              <a:t>SHG Member with annual household income</a:t>
            </a:r>
            <a:endParaRPr b="0" i="0" sz="1400" u="none" cap="none" strike="noStrike">
              <a:solidFill>
                <a:srgbClr val="000000"/>
              </a:solidFill>
              <a:latin typeface="Cambria"/>
              <a:ea typeface="Cambria"/>
              <a:cs typeface="Cambria"/>
              <a:sym typeface="Cambria"/>
            </a:endParaRPr>
          </a:p>
          <a:p>
            <a:pPr indent="0" lvl="0" marL="0" marR="0" rtl="0" algn="l">
              <a:lnSpc>
                <a:spcPct val="140000"/>
              </a:lnSpc>
              <a:spcBef>
                <a:spcPts val="0"/>
              </a:spcBef>
              <a:spcAft>
                <a:spcPts val="0"/>
              </a:spcAft>
              <a:buClr>
                <a:srgbClr val="000000"/>
              </a:buClr>
              <a:buSzPts val="3800"/>
              <a:buFont typeface="Arial"/>
              <a:buNone/>
            </a:pPr>
            <a:r>
              <a:rPr b="1" i="0" lang="en-US" sz="3800" u="none" cap="none" strike="noStrike">
                <a:solidFill>
                  <a:srgbClr val="FDFBFB"/>
                </a:solidFill>
                <a:latin typeface="Cambria"/>
                <a:ea typeface="Cambria"/>
                <a:cs typeface="Cambria"/>
                <a:sym typeface="Cambria"/>
              </a:rPr>
              <a:t> more than 1 lakh</a:t>
            </a:r>
            <a:endParaRPr b="0" i="0" sz="1400" u="none" cap="none" strike="noStrike">
              <a:solidFill>
                <a:srgbClr val="000000"/>
              </a:solidFill>
              <a:latin typeface="Cambria"/>
              <a:ea typeface="Cambria"/>
              <a:cs typeface="Cambria"/>
              <a:sym typeface="Cambria"/>
            </a:endParaRPr>
          </a:p>
        </p:txBody>
      </p:sp>
      <p:sp>
        <p:nvSpPr>
          <p:cNvPr id="143" name="Google Shape;143;p4"/>
          <p:cNvSpPr txBox="1"/>
          <p:nvPr/>
        </p:nvSpPr>
        <p:spPr>
          <a:xfrm>
            <a:off x="6312728" y="4982525"/>
            <a:ext cx="7664400" cy="33648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3312"/>
              <a:buFont typeface="Arial"/>
              <a:buNone/>
            </a:pPr>
            <a:r>
              <a:rPr b="1" i="0" lang="en-US" sz="3312" u="none" cap="none" strike="noStrike">
                <a:solidFill>
                  <a:srgbClr val="FDFBFB"/>
                </a:solidFill>
                <a:latin typeface="Cambria"/>
                <a:ea typeface="Cambria"/>
                <a:cs typeface="Cambria"/>
                <a:sym typeface="Cambria"/>
              </a:rPr>
              <a:t>Average Monthly Income of ₹10,000 or more sustained for </a:t>
            </a:r>
            <a:endParaRPr b="0" i="0" sz="1400" u="none" cap="none" strike="noStrike">
              <a:solidFill>
                <a:srgbClr val="000000"/>
              </a:solidFill>
              <a:latin typeface="Cambria"/>
              <a:ea typeface="Cambria"/>
              <a:cs typeface="Cambria"/>
              <a:sym typeface="Cambria"/>
            </a:endParaRPr>
          </a:p>
          <a:p>
            <a:pPr indent="0" lvl="0" marL="0" marR="0" rtl="0" algn="l">
              <a:lnSpc>
                <a:spcPct val="140006"/>
              </a:lnSpc>
              <a:spcBef>
                <a:spcPts val="0"/>
              </a:spcBef>
              <a:spcAft>
                <a:spcPts val="0"/>
              </a:spcAft>
              <a:buClr>
                <a:srgbClr val="000000"/>
              </a:buClr>
              <a:buSzPts val="3312"/>
              <a:buFont typeface="Arial"/>
              <a:buNone/>
            </a:pPr>
            <a:r>
              <a:rPr b="1" i="0" lang="en-US" sz="3312" u="none" cap="none" strike="noStrike">
                <a:solidFill>
                  <a:srgbClr val="FDFBFB"/>
                </a:solidFill>
                <a:latin typeface="Cambria"/>
                <a:ea typeface="Cambria"/>
                <a:cs typeface="Cambria"/>
                <a:sym typeface="Cambria"/>
              </a:rPr>
              <a:t>at least four Agricultural Seasons/Business cycles </a:t>
            </a:r>
            <a:endParaRPr b="0" i="0" sz="1400" u="none" cap="none" strike="noStrike">
              <a:solidFill>
                <a:srgbClr val="000000"/>
              </a:solidFill>
              <a:latin typeface="Cambria"/>
              <a:ea typeface="Cambria"/>
              <a:cs typeface="Cambria"/>
              <a:sym typeface="Cambria"/>
            </a:endParaRPr>
          </a:p>
          <a:p>
            <a:pPr indent="0" lvl="0" marL="0" marR="0" rtl="0" algn="ctr">
              <a:lnSpc>
                <a:spcPct val="140006"/>
              </a:lnSpc>
              <a:spcBef>
                <a:spcPts val="0"/>
              </a:spcBef>
              <a:spcAft>
                <a:spcPts val="0"/>
              </a:spcAft>
              <a:buClr>
                <a:srgbClr val="000000"/>
              </a:buClr>
              <a:buSzPts val="3312"/>
              <a:buFont typeface="Arial"/>
              <a:buNone/>
            </a:pPr>
            <a:r>
              <a:t/>
            </a:r>
            <a:endParaRPr b="1" i="0" sz="3312" u="none" cap="none" strike="noStrike">
              <a:solidFill>
                <a:srgbClr val="FDFBFB"/>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47" name="Shape 147"/>
        <p:cNvGrpSpPr/>
        <p:nvPr/>
      </p:nvGrpSpPr>
      <p:grpSpPr>
        <a:xfrm>
          <a:off x="0" y="0"/>
          <a:ext cx="0" cy="0"/>
          <a:chOff x="0" y="0"/>
          <a:chExt cx="0" cy="0"/>
        </a:xfrm>
      </p:grpSpPr>
      <p:sp>
        <p:nvSpPr>
          <p:cNvPr id="148" name="Google Shape;148;p5"/>
          <p:cNvSpPr/>
          <p:nvPr/>
        </p:nvSpPr>
        <p:spPr>
          <a:xfrm>
            <a:off x="10202447" y="597393"/>
            <a:ext cx="7711242" cy="7194575"/>
          </a:xfrm>
          <a:custGeom>
            <a:rect b="b" l="l" r="r" t="t"/>
            <a:pathLst>
              <a:path extrusionOk="0" h="7194575" w="7711242">
                <a:moveTo>
                  <a:pt x="0" y="0"/>
                </a:moveTo>
                <a:lnTo>
                  <a:pt x="7711242" y="0"/>
                </a:lnTo>
                <a:lnTo>
                  <a:pt x="7711242" y="7194575"/>
                </a:lnTo>
                <a:lnTo>
                  <a:pt x="0" y="7194575"/>
                </a:lnTo>
                <a:lnTo>
                  <a:pt x="0" y="0"/>
                </a:lnTo>
                <a:close/>
              </a:path>
            </a:pathLst>
          </a:custGeom>
          <a:blipFill rotWithShape="1">
            <a:blip r:embed="rId3">
              <a:alphaModFix/>
            </a:blip>
            <a:stretch>
              <a:fillRect b="-2646" l="-840" r="-947" t="0"/>
            </a:stretch>
          </a:blipFill>
          <a:ln>
            <a:noFill/>
          </a:ln>
        </p:spPr>
      </p:sp>
      <p:grpSp>
        <p:nvGrpSpPr>
          <p:cNvPr id="149" name="Google Shape;149;p5"/>
          <p:cNvGrpSpPr/>
          <p:nvPr/>
        </p:nvGrpSpPr>
        <p:grpSpPr>
          <a:xfrm>
            <a:off x="0" y="233806"/>
            <a:ext cx="7706548" cy="1814063"/>
            <a:chOff x="0" y="-85725"/>
            <a:chExt cx="2029708" cy="477778"/>
          </a:xfrm>
        </p:grpSpPr>
        <p:sp>
          <p:nvSpPr>
            <p:cNvPr id="150" name="Google Shape;150;p5"/>
            <p:cNvSpPr/>
            <p:nvPr/>
          </p:nvSpPr>
          <p:spPr>
            <a:xfrm>
              <a:off x="0" y="0"/>
              <a:ext cx="2029708" cy="392053"/>
            </a:xfrm>
            <a:custGeom>
              <a:rect b="b" l="l" r="r" t="t"/>
              <a:pathLst>
                <a:path extrusionOk="0" h="392053" w="2029708">
                  <a:moveTo>
                    <a:pt x="0" y="0"/>
                  </a:moveTo>
                  <a:lnTo>
                    <a:pt x="2029708" y="0"/>
                  </a:lnTo>
                  <a:lnTo>
                    <a:pt x="2029708" y="392053"/>
                  </a:lnTo>
                  <a:lnTo>
                    <a:pt x="0" y="392053"/>
                  </a:lnTo>
                  <a:close/>
                </a:path>
              </a:pathLst>
            </a:custGeom>
            <a:solidFill>
              <a:srgbClr val="F47C00"/>
            </a:solidFill>
            <a:ln>
              <a:noFill/>
            </a:ln>
          </p:spPr>
        </p:sp>
        <p:sp>
          <p:nvSpPr>
            <p:cNvPr id="151" name="Google Shape;151;p5"/>
            <p:cNvSpPr txBox="1"/>
            <p:nvPr/>
          </p:nvSpPr>
          <p:spPr>
            <a:xfrm>
              <a:off x="0" y="-85725"/>
              <a:ext cx="2029708" cy="477778"/>
            </a:xfrm>
            <a:prstGeom prst="rect">
              <a:avLst/>
            </a:prstGeom>
            <a:noFill/>
            <a:ln>
              <a:noFill/>
            </a:ln>
          </p:spPr>
          <p:txBody>
            <a:bodyPr anchorCtr="0" anchor="ctr" bIns="50800" lIns="50800" spcFirstLastPara="1" rIns="50800" wrap="square" tIns="50800">
              <a:noAutofit/>
            </a:bodyPr>
            <a:lstStyle/>
            <a:p>
              <a:pPr indent="0" lvl="0" marL="0" marR="0" rtl="0" algn="ctr">
                <a:lnSpc>
                  <a:spcPct val="138039"/>
                </a:lnSpc>
                <a:spcBef>
                  <a:spcPts val="0"/>
                </a:spcBef>
                <a:spcAft>
                  <a:spcPts val="0"/>
                </a:spcAft>
                <a:buClr>
                  <a:srgbClr val="000000"/>
                </a:buClr>
                <a:buSzPts val="4009"/>
                <a:buFont typeface="Arial"/>
                <a:buNone/>
              </a:pPr>
              <a:r>
                <a:rPr b="1" i="0" lang="en-US" sz="4009" u="none" cap="none" strike="noStrike">
                  <a:solidFill>
                    <a:srgbClr val="FFFFFF"/>
                  </a:solidFill>
                  <a:latin typeface="Cambria"/>
                  <a:ea typeface="Cambria"/>
                  <a:cs typeface="Cambria"/>
                  <a:sym typeface="Cambria"/>
                </a:rPr>
                <a:t>LAKHPATI SURVEY 2022-23</a:t>
              </a:r>
              <a:endParaRPr b="0" i="0" sz="1400" u="none" cap="none" strike="noStrike">
                <a:solidFill>
                  <a:srgbClr val="000000"/>
                </a:solidFill>
                <a:latin typeface="Cambria"/>
                <a:ea typeface="Cambria"/>
                <a:cs typeface="Cambria"/>
                <a:sym typeface="Cambria"/>
              </a:endParaRPr>
            </a:p>
          </p:txBody>
        </p:sp>
      </p:grpSp>
      <p:pic>
        <p:nvPicPr>
          <p:cNvPr id="152" name="Google Shape;152;p5"/>
          <p:cNvPicPr preferRelativeResize="0"/>
          <p:nvPr/>
        </p:nvPicPr>
        <p:blipFill rotWithShape="1">
          <a:blip r:embed="rId4">
            <a:alphaModFix/>
          </a:blip>
          <a:srcRect b="0" l="0" r="0" t="0"/>
          <a:stretch/>
        </p:blipFill>
        <p:spPr>
          <a:xfrm>
            <a:off x="646483" y="3194041"/>
            <a:ext cx="1432440" cy="1432440"/>
          </a:xfrm>
          <a:prstGeom prst="rect">
            <a:avLst/>
          </a:prstGeom>
          <a:noFill/>
          <a:ln>
            <a:noFill/>
          </a:ln>
        </p:spPr>
      </p:pic>
      <p:pic>
        <p:nvPicPr>
          <p:cNvPr id="153" name="Google Shape;153;p5"/>
          <p:cNvPicPr preferRelativeResize="0"/>
          <p:nvPr/>
        </p:nvPicPr>
        <p:blipFill rotWithShape="1">
          <a:blip r:embed="rId5">
            <a:alphaModFix/>
          </a:blip>
          <a:srcRect b="0" l="0" r="0" t="0"/>
          <a:stretch/>
        </p:blipFill>
        <p:spPr>
          <a:xfrm>
            <a:off x="982306" y="3522898"/>
            <a:ext cx="10836674" cy="6638458"/>
          </a:xfrm>
          <a:prstGeom prst="rect">
            <a:avLst/>
          </a:prstGeom>
          <a:noFill/>
          <a:ln>
            <a:noFill/>
          </a:ln>
        </p:spPr>
      </p:pic>
      <p:sp>
        <p:nvSpPr>
          <p:cNvPr id="154" name="Google Shape;154;p5"/>
          <p:cNvSpPr/>
          <p:nvPr/>
        </p:nvSpPr>
        <p:spPr>
          <a:xfrm>
            <a:off x="0" y="9371560"/>
            <a:ext cx="18300603" cy="972590"/>
          </a:xfrm>
          <a:custGeom>
            <a:rect b="b" l="l" r="r" t="t"/>
            <a:pathLst>
              <a:path extrusionOk="0" h="972590" w="18300603">
                <a:moveTo>
                  <a:pt x="0" y="0"/>
                </a:moveTo>
                <a:lnTo>
                  <a:pt x="18300603" y="0"/>
                </a:lnTo>
                <a:lnTo>
                  <a:pt x="18300603" y="972590"/>
                </a:lnTo>
                <a:lnTo>
                  <a:pt x="0" y="972590"/>
                </a:lnTo>
                <a:lnTo>
                  <a:pt x="0" y="0"/>
                </a:lnTo>
                <a:close/>
              </a:path>
            </a:pathLst>
          </a:custGeom>
          <a:blipFill rotWithShape="1">
            <a:blip r:embed="rId6">
              <a:alphaModFix/>
            </a:blip>
            <a:stretch>
              <a:fillRect b="-20096" l="0" r="0" t="-20095"/>
            </a:stretch>
          </a:blipFill>
          <a:ln>
            <a:noFill/>
          </a:ln>
        </p:spPr>
      </p:sp>
      <p:sp>
        <p:nvSpPr>
          <p:cNvPr id="155" name="Google Shape;155;p5"/>
          <p:cNvSpPr txBox="1"/>
          <p:nvPr/>
        </p:nvSpPr>
        <p:spPr>
          <a:xfrm>
            <a:off x="14058068" y="5905093"/>
            <a:ext cx="4242600" cy="492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200"/>
              <a:buFont typeface="Arial"/>
              <a:buNone/>
            </a:pPr>
            <a:r>
              <a:rPr b="1" i="0" lang="en-US" sz="3200" u="none" cap="none" strike="noStrike">
                <a:solidFill>
                  <a:srgbClr val="F47C00"/>
                </a:solidFill>
                <a:latin typeface="Cambria"/>
                <a:ea typeface="Cambria"/>
                <a:cs typeface="Cambria"/>
                <a:sym typeface="Cambria"/>
              </a:rPr>
              <a:t>Lakhpati Didis</a:t>
            </a:r>
            <a:endParaRPr b="0" i="0" sz="1400" u="none" cap="none" strike="noStrike">
              <a:solidFill>
                <a:srgbClr val="000000"/>
              </a:solidFill>
              <a:latin typeface="Cambria"/>
              <a:ea typeface="Cambria"/>
              <a:cs typeface="Cambria"/>
              <a:sym typeface="Cambria"/>
            </a:endParaRPr>
          </a:p>
        </p:txBody>
      </p:sp>
      <p:sp>
        <p:nvSpPr>
          <p:cNvPr id="156" name="Google Shape;156;p5"/>
          <p:cNvSpPr txBox="1"/>
          <p:nvPr/>
        </p:nvSpPr>
        <p:spPr>
          <a:xfrm>
            <a:off x="486321" y="2514021"/>
            <a:ext cx="6856500" cy="5700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704"/>
              <a:buFont typeface="Arial"/>
              <a:buNone/>
            </a:pPr>
            <a:r>
              <a:rPr b="1" i="0" lang="en-US" sz="3704" u="none" cap="none" strike="noStrike">
                <a:solidFill>
                  <a:srgbClr val="000000"/>
                </a:solidFill>
                <a:latin typeface="Cambria"/>
                <a:ea typeface="Cambria"/>
                <a:cs typeface="Cambria"/>
                <a:sym typeface="Cambria"/>
              </a:rPr>
              <a:t>9 Crore SHG Households</a:t>
            </a:r>
            <a:endParaRPr b="0" i="0" sz="1400" u="none" cap="none" strike="noStrike">
              <a:solidFill>
                <a:srgbClr val="000000"/>
              </a:solidFill>
              <a:latin typeface="Cambria"/>
              <a:ea typeface="Cambria"/>
              <a:cs typeface="Cambria"/>
              <a:sym typeface="Cambria"/>
            </a:endParaRPr>
          </a:p>
        </p:txBody>
      </p:sp>
      <p:sp>
        <p:nvSpPr>
          <p:cNvPr id="157" name="Google Shape;157;p5"/>
          <p:cNvSpPr txBox="1"/>
          <p:nvPr/>
        </p:nvSpPr>
        <p:spPr>
          <a:xfrm>
            <a:off x="2240554" y="3511510"/>
            <a:ext cx="2977800" cy="1374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720"/>
              <a:buFont typeface="Arial"/>
              <a:buNone/>
            </a:pPr>
            <a:r>
              <a:rPr b="1" i="0" lang="en-US" sz="3720" u="none" cap="none" strike="noStrike">
                <a:solidFill>
                  <a:srgbClr val="000000"/>
                </a:solidFill>
                <a:latin typeface="Cambria"/>
                <a:ea typeface="Cambria"/>
                <a:cs typeface="Cambria"/>
                <a:sym typeface="Cambria"/>
              </a:rPr>
              <a:t>8.34 Cr Surveyed</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61" name="Shape 161"/>
        <p:cNvGrpSpPr/>
        <p:nvPr/>
      </p:nvGrpSpPr>
      <p:grpSpPr>
        <a:xfrm>
          <a:off x="0" y="0"/>
          <a:ext cx="0" cy="0"/>
          <a:chOff x="0" y="0"/>
          <a:chExt cx="0" cy="0"/>
        </a:xfrm>
      </p:grpSpPr>
      <p:grpSp>
        <p:nvGrpSpPr>
          <p:cNvPr id="162" name="Google Shape;162;p6"/>
          <p:cNvGrpSpPr/>
          <p:nvPr/>
        </p:nvGrpSpPr>
        <p:grpSpPr>
          <a:xfrm>
            <a:off x="4318969" y="286996"/>
            <a:ext cx="8271221" cy="1891346"/>
            <a:chOff x="0" y="-85725"/>
            <a:chExt cx="2178429" cy="498132"/>
          </a:xfrm>
        </p:grpSpPr>
        <p:sp>
          <p:nvSpPr>
            <p:cNvPr id="163" name="Google Shape;163;p6"/>
            <p:cNvSpPr/>
            <p:nvPr/>
          </p:nvSpPr>
          <p:spPr>
            <a:xfrm>
              <a:off x="0" y="0"/>
              <a:ext cx="2178429" cy="412407"/>
            </a:xfrm>
            <a:custGeom>
              <a:rect b="b" l="l" r="r" t="t"/>
              <a:pathLst>
                <a:path extrusionOk="0" h="412407" w="2178429">
                  <a:moveTo>
                    <a:pt x="0" y="0"/>
                  </a:moveTo>
                  <a:lnTo>
                    <a:pt x="2178429" y="0"/>
                  </a:lnTo>
                  <a:lnTo>
                    <a:pt x="2178429" y="412407"/>
                  </a:lnTo>
                  <a:lnTo>
                    <a:pt x="0" y="412407"/>
                  </a:lnTo>
                  <a:close/>
                </a:path>
              </a:pathLst>
            </a:custGeom>
            <a:solidFill>
              <a:srgbClr val="F47C00"/>
            </a:solidFill>
            <a:ln>
              <a:noFill/>
            </a:ln>
          </p:spPr>
        </p:sp>
        <p:sp>
          <p:nvSpPr>
            <p:cNvPr id="164" name="Google Shape;164;p6"/>
            <p:cNvSpPr txBox="1"/>
            <p:nvPr/>
          </p:nvSpPr>
          <p:spPr>
            <a:xfrm>
              <a:off x="0" y="-85725"/>
              <a:ext cx="2178429" cy="498132"/>
            </a:xfrm>
            <a:prstGeom prst="rect">
              <a:avLst/>
            </a:prstGeom>
            <a:noFill/>
            <a:ln>
              <a:noFill/>
            </a:ln>
          </p:spPr>
          <p:txBody>
            <a:bodyPr anchorCtr="0" anchor="ctr" bIns="50800" lIns="50800" spcFirstLastPara="1" rIns="50800" wrap="square" tIns="50800">
              <a:noAutofit/>
            </a:bodyPr>
            <a:lstStyle/>
            <a:p>
              <a:pPr indent="0" lvl="0" marL="0" marR="0" rtl="0" algn="ctr">
                <a:lnSpc>
                  <a:spcPct val="138004"/>
                </a:lnSpc>
                <a:spcBef>
                  <a:spcPts val="0"/>
                </a:spcBef>
                <a:spcAft>
                  <a:spcPts val="0"/>
                </a:spcAft>
                <a:buClr>
                  <a:srgbClr val="000000"/>
                </a:buClr>
                <a:buSzPts val="4210"/>
                <a:buFont typeface="Arial"/>
                <a:buNone/>
              </a:pPr>
              <a:r>
                <a:rPr b="1" i="0" lang="en-US" sz="4210" u="none" cap="none" strike="noStrike">
                  <a:solidFill>
                    <a:srgbClr val="FFFFFF"/>
                  </a:solidFill>
                  <a:latin typeface="Cambria"/>
                  <a:ea typeface="Cambria"/>
                  <a:cs typeface="Cambria"/>
                  <a:sym typeface="Cambria"/>
                </a:rPr>
                <a:t>POTENTIAL LAKHPATI DIDI</a:t>
              </a:r>
              <a:endParaRPr b="0" i="0" sz="1400" u="none" cap="none" strike="noStrike">
                <a:solidFill>
                  <a:srgbClr val="000000"/>
                </a:solidFill>
                <a:latin typeface="Cambria"/>
                <a:ea typeface="Cambria"/>
                <a:cs typeface="Cambria"/>
                <a:sym typeface="Cambria"/>
              </a:endParaRPr>
            </a:p>
          </p:txBody>
        </p:sp>
      </p:grpSp>
      <p:sp>
        <p:nvSpPr>
          <p:cNvPr id="165" name="Google Shape;165;p6"/>
          <p:cNvSpPr/>
          <p:nvPr/>
        </p:nvSpPr>
        <p:spPr>
          <a:xfrm rot="10800000">
            <a:off x="520408" y="2054452"/>
            <a:ext cx="2729562" cy="858571"/>
          </a:xfrm>
          <a:custGeom>
            <a:rect b="b" l="l" r="r" t="t"/>
            <a:pathLst>
              <a:path extrusionOk="0" h="858571" w="2729562">
                <a:moveTo>
                  <a:pt x="0" y="0"/>
                </a:moveTo>
                <a:lnTo>
                  <a:pt x="2729562" y="0"/>
                </a:lnTo>
                <a:lnTo>
                  <a:pt x="2729562" y="858571"/>
                </a:lnTo>
                <a:lnTo>
                  <a:pt x="0" y="858571"/>
                </a:lnTo>
                <a:lnTo>
                  <a:pt x="0" y="0"/>
                </a:lnTo>
                <a:close/>
              </a:path>
            </a:pathLst>
          </a:custGeom>
          <a:blipFill rotWithShape="1">
            <a:blip r:embed="rId3">
              <a:alphaModFix/>
            </a:blip>
            <a:stretch>
              <a:fillRect b="0" l="0" r="0" t="0"/>
            </a:stretch>
          </a:blipFill>
          <a:ln>
            <a:noFill/>
          </a:ln>
        </p:spPr>
      </p:sp>
      <p:sp>
        <p:nvSpPr>
          <p:cNvPr id="166" name="Google Shape;166;p6"/>
          <p:cNvSpPr/>
          <p:nvPr/>
        </p:nvSpPr>
        <p:spPr>
          <a:xfrm rot="10800000">
            <a:off x="786805" y="5382013"/>
            <a:ext cx="3532165" cy="1111026"/>
          </a:xfrm>
          <a:custGeom>
            <a:rect b="b" l="l" r="r" t="t"/>
            <a:pathLst>
              <a:path extrusionOk="0" h="1111026" w="3532165">
                <a:moveTo>
                  <a:pt x="0" y="0"/>
                </a:moveTo>
                <a:lnTo>
                  <a:pt x="3532164" y="0"/>
                </a:lnTo>
                <a:lnTo>
                  <a:pt x="3532164" y="1111026"/>
                </a:lnTo>
                <a:lnTo>
                  <a:pt x="0" y="1111026"/>
                </a:lnTo>
                <a:lnTo>
                  <a:pt x="0" y="0"/>
                </a:lnTo>
                <a:close/>
              </a:path>
            </a:pathLst>
          </a:custGeom>
          <a:blipFill rotWithShape="1">
            <a:blip r:embed="rId3">
              <a:alphaModFix/>
            </a:blip>
            <a:stretch>
              <a:fillRect b="0" l="0" r="0" t="0"/>
            </a:stretch>
          </a:blipFill>
          <a:ln>
            <a:noFill/>
          </a:ln>
        </p:spPr>
      </p:sp>
      <p:sp>
        <p:nvSpPr>
          <p:cNvPr id="167" name="Google Shape;167;p6"/>
          <p:cNvSpPr/>
          <p:nvPr/>
        </p:nvSpPr>
        <p:spPr>
          <a:xfrm>
            <a:off x="0" y="9398575"/>
            <a:ext cx="18288000" cy="992527"/>
          </a:xfrm>
          <a:custGeom>
            <a:rect b="b" l="l" r="r" t="t"/>
            <a:pathLst>
              <a:path extrusionOk="0" h="992527" w="18288000">
                <a:moveTo>
                  <a:pt x="0" y="0"/>
                </a:moveTo>
                <a:lnTo>
                  <a:pt x="18288000" y="0"/>
                </a:lnTo>
                <a:lnTo>
                  <a:pt x="18288000" y="992527"/>
                </a:lnTo>
                <a:lnTo>
                  <a:pt x="0" y="992527"/>
                </a:lnTo>
                <a:lnTo>
                  <a:pt x="0" y="0"/>
                </a:lnTo>
                <a:close/>
              </a:path>
            </a:pathLst>
          </a:custGeom>
          <a:blipFill rotWithShape="1">
            <a:blip r:embed="rId4">
              <a:alphaModFix/>
            </a:blip>
            <a:stretch>
              <a:fillRect b="-18639" l="0" r="0" t="-18639"/>
            </a:stretch>
          </a:blipFill>
          <a:ln>
            <a:noFill/>
          </a:ln>
        </p:spPr>
      </p:sp>
      <p:sp>
        <p:nvSpPr>
          <p:cNvPr id="168" name="Google Shape;168;p6"/>
          <p:cNvSpPr txBox="1"/>
          <p:nvPr/>
        </p:nvSpPr>
        <p:spPr>
          <a:xfrm>
            <a:off x="786805" y="2171318"/>
            <a:ext cx="2145600" cy="484800"/>
          </a:xfrm>
          <a:prstGeom prst="rect">
            <a:avLst/>
          </a:prstGeom>
          <a:noFill/>
          <a:ln>
            <a:noFill/>
          </a:ln>
        </p:spPr>
        <p:txBody>
          <a:bodyPr anchorCtr="0" anchor="t" bIns="0" lIns="0" spcFirstLastPara="1" rIns="0" wrap="square" tIns="0">
            <a:spAutoFit/>
          </a:bodyPr>
          <a:lstStyle/>
          <a:p>
            <a:pPr indent="0" lvl="0" marL="0" marR="0" rtl="0" algn="ctr">
              <a:lnSpc>
                <a:spcPct val="139968"/>
              </a:lnSpc>
              <a:spcBef>
                <a:spcPts val="0"/>
              </a:spcBef>
              <a:spcAft>
                <a:spcPts val="0"/>
              </a:spcAft>
              <a:buClr>
                <a:srgbClr val="000000"/>
              </a:buClr>
              <a:buSzPts val="3150"/>
              <a:buFont typeface="Arial"/>
              <a:buNone/>
            </a:pPr>
            <a:r>
              <a:rPr b="1" i="0" lang="en-US" sz="3150" u="none" cap="none" strike="noStrike">
                <a:solidFill>
                  <a:srgbClr val="FFFFFF"/>
                </a:solidFill>
                <a:latin typeface="Cambria"/>
                <a:ea typeface="Cambria"/>
                <a:cs typeface="Cambria"/>
                <a:sym typeface="Cambria"/>
              </a:rPr>
              <a:t>CRITERIA</a:t>
            </a:r>
            <a:endParaRPr b="0" i="0" sz="1400" u="none" cap="none" strike="noStrike">
              <a:solidFill>
                <a:srgbClr val="000000"/>
              </a:solidFill>
              <a:latin typeface="Cambria"/>
              <a:ea typeface="Cambria"/>
              <a:cs typeface="Cambria"/>
              <a:sym typeface="Cambria"/>
            </a:endParaRPr>
          </a:p>
        </p:txBody>
      </p:sp>
      <p:sp>
        <p:nvSpPr>
          <p:cNvPr id="169" name="Google Shape;169;p6"/>
          <p:cNvSpPr txBox="1"/>
          <p:nvPr/>
        </p:nvSpPr>
        <p:spPr>
          <a:xfrm>
            <a:off x="520408" y="3093671"/>
            <a:ext cx="17767500" cy="1761900"/>
          </a:xfrm>
          <a:prstGeom prst="rect">
            <a:avLst/>
          </a:prstGeom>
          <a:noFill/>
          <a:ln>
            <a:noFill/>
          </a:ln>
        </p:spPr>
        <p:txBody>
          <a:bodyPr anchorCtr="0" anchor="t" bIns="0" lIns="0" spcFirstLastPara="1" rIns="0" wrap="square" tIns="0">
            <a:spAutoFit/>
          </a:bodyPr>
          <a:lstStyle/>
          <a:p>
            <a:pPr indent="-325222" lvl="1" marL="650445" marR="0" rtl="0" algn="l">
              <a:lnSpc>
                <a:spcPct val="140006"/>
              </a:lnSpc>
              <a:spcBef>
                <a:spcPts val="0"/>
              </a:spcBef>
              <a:spcAft>
                <a:spcPts val="0"/>
              </a:spcAft>
              <a:buClr>
                <a:srgbClr val="000000"/>
              </a:buClr>
              <a:buSzPts val="3012"/>
              <a:buFont typeface="Cambria"/>
              <a:buChar char="•"/>
            </a:pPr>
            <a:r>
              <a:rPr b="1" i="0" lang="en-US" sz="3012" u="none" cap="none" strike="noStrike">
                <a:solidFill>
                  <a:srgbClr val="000000"/>
                </a:solidFill>
                <a:latin typeface="Cambria"/>
                <a:ea typeface="Cambria"/>
                <a:cs typeface="Cambria"/>
                <a:sym typeface="Cambria"/>
              </a:rPr>
              <a:t>SHGs who have completed minimum 2 years</a:t>
            </a:r>
            <a:endParaRPr b="0" i="0" sz="1400" u="none" cap="none" strike="noStrike">
              <a:solidFill>
                <a:srgbClr val="000000"/>
              </a:solidFill>
              <a:latin typeface="Cambria"/>
              <a:ea typeface="Cambria"/>
              <a:cs typeface="Cambria"/>
              <a:sym typeface="Cambria"/>
            </a:endParaRPr>
          </a:p>
          <a:p>
            <a:pPr indent="-325222" lvl="1" marL="650445" marR="0" rtl="0" algn="l">
              <a:lnSpc>
                <a:spcPct val="140006"/>
              </a:lnSpc>
              <a:spcBef>
                <a:spcPts val="0"/>
              </a:spcBef>
              <a:spcAft>
                <a:spcPts val="0"/>
              </a:spcAft>
              <a:buClr>
                <a:srgbClr val="000000"/>
              </a:buClr>
              <a:buSzPts val="3012"/>
              <a:buFont typeface="Cambria"/>
              <a:buChar char="•"/>
            </a:pPr>
            <a:r>
              <a:rPr b="1" i="0" lang="en-US" sz="3012" u="none" cap="none" strike="noStrike">
                <a:solidFill>
                  <a:srgbClr val="000000"/>
                </a:solidFill>
                <a:latin typeface="Cambria"/>
                <a:ea typeface="Cambria"/>
                <a:cs typeface="Cambria"/>
                <a:sym typeface="Cambria"/>
              </a:rPr>
              <a:t>SHGs who have availed CIF</a:t>
            </a:r>
            <a:endParaRPr b="0" i="0" sz="1400" u="none" cap="none" strike="noStrike">
              <a:solidFill>
                <a:srgbClr val="000000"/>
              </a:solidFill>
              <a:latin typeface="Cambria"/>
              <a:ea typeface="Cambria"/>
              <a:cs typeface="Cambria"/>
              <a:sym typeface="Cambria"/>
            </a:endParaRPr>
          </a:p>
          <a:p>
            <a:pPr indent="-325222" lvl="1" marL="650445" marR="0" rtl="0" algn="l">
              <a:lnSpc>
                <a:spcPct val="140006"/>
              </a:lnSpc>
              <a:spcBef>
                <a:spcPts val="0"/>
              </a:spcBef>
              <a:spcAft>
                <a:spcPts val="0"/>
              </a:spcAft>
              <a:buClr>
                <a:srgbClr val="000000"/>
              </a:buClr>
              <a:buSzPts val="3012"/>
              <a:buFont typeface="Cambria"/>
              <a:buChar char="•"/>
            </a:pPr>
            <a:r>
              <a:rPr b="1" i="0" lang="en-US" sz="3012" u="none" cap="none" strike="noStrike">
                <a:solidFill>
                  <a:srgbClr val="000000"/>
                </a:solidFill>
                <a:latin typeface="Cambria"/>
                <a:ea typeface="Cambria"/>
                <a:cs typeface="Cambria"/>
                <a:sym typeface="Cambria"/>
              </a:rPr>
              <a:t>SHGs who are the beneficiaries of livelihood intervention from DAY-NRLM</a:t>
            </a:r>
            <a:endParaRPr b="0" i="0" sz="1400" u="none" cap="none" strike="noStrike">
              <a:solidFill>
                <a:srgbClr val="000000"/>
              </a:solidFill>
              <a:latin typeface="Cambria"/>
              <a:ea typeface="Cambria"/>
              <a:cs typeface="Cambria"/>
              <a:sym typeface="Cambria"/>
            </a:endParaRPr>
          </a:p>
        </p:txBody>
      </p:sp>
      <p:sp>
        <p:nvSpPr>
          <p:cNvPr id="170" name="Google Shape;170;p6"/>
          <p:cNvSpPr txBox="1"/>
          <p:nvPr/>
        </p:nvSpPr>
        <p:spPr>
          <a:xfrm>
            <a:off x="520408" y="6703323"/>
            <a:ext cx="17767500" cy="1761900"/>
          </a:xfrm>
          <a:prstGeom prst="rect">
            <a:avLst/>
          </a:prstGeom>
          <a:noFill/>
          <a:ln>
            <a:noFill/>
          </a:ln>
        </p:spPr>
        <p:txBody>
          <a:bodyPr anchorCtr="0" anchor="t" bIns="0" lIns="0" spcFirstLastPara="1" rIns="0" wrap="square" tIns="0">
            <a:spAutoFit/>
          </a:bodyPr>
          <a:lstStyle/>
          <a:p>
            <a:pPr indent="-325221" lvl="1" marL="650444" marR="0" rtl="0" algn="l">
              <a:lnSpc>
                <a:spcPct val="140006"/>
              </a:lnSpc>
              <a:spcBef>
                <a:spcPts val="0"/>
              </a:spcBef>
              <a:spcAft>
                <a:spcPts val="0"/>
              </a:spcAft>
              <a:buClr>
                <a:srgbClr val="000000"/>
              </a:buClr>
              <a:buSzPts val="3012"/>
              <a:buFont typeface="Cambria"/>
              <a:buChar char="•"/>
            </a:pPr>
            <a:r>
              <a:rPr b="1" i="0" lang="en-US" sz="3012" u="none" cap="none" strike="noStrike">
                <a:solidFill>
                  <a:srgbClr val="000000"/>
                </a:solidFill>
                <a:latin typeface="Cambria"/>
                <a:ea typeface="Cambria"/>
                <a:cs typeface="Cambria"/>
                <a:sym typeface="Cambria"/>
              </a:rPr>
              <a:t>Already Lakhpati Didi may also need handholding for some time, Max 25% of such Didis can be supported</a:t>
            </a:r>
            <a:endParaRPr b="0" i="0" sz="1400" u="none" cap="none" strike="noStrike">
              <a:solidFill>
                <a:srgbClr val="000000"/>
              </a:solidFill>
              <a:latin typeface="Cambria"/>
              <a:ea typeface="Cambria"/>
              <a:cs typeface="Cambria"/>
              <a:sym typeface="Cambria"/>
            </a:endParaRPr>
          </a:p>
          <a:p>
            <a:pPr indent="-325222" lvl="1" marL="650445" marR="0" rtl="0" algn="l">
              <a:lnSpc>
                <a:spcPct val="140006"/>
              </a:lnSpc>
              <a:spcBef>
                <a:spcPts val="0"/>
              </a:spcBef>
              <a:spcAft>
                <a:spcPts val="0"/>
              </a:spcAft>
              <a:buClr>
                <a:srgbClr val="000000"/>
              </a:buClr>
              <a:buSzPts val="3012"/>
              <a:buFont typeface="Cambria"/>
              <a:buChar char="•"/>
            </a:pPr>
            <a:r>
              <a:rPr b="1" i="0" lang="en-US" sz="3012" u="none" cap="none" strike="noStrike">
                <a:solidFill>
                  <a:srgbClr val="000000"/>
                </a:solidFill>
                <a:latin typeface="Cambria"/>
                <a:ea typeface="Cambria"/>
                <a:cs typeface="Cambria"/>
                <a:sym typeface="Cambria"/>
              </a:rPr>
              <a:t>CRPs to be linked with each identified Lakhpati Didi who will be ensuring the transformation</a:t>
            </a:r>
            <a:endParaRPr b="0" i="0" sz="1400" u="none" cap="none" strike="noStrike">
              <a:solidFill>
                <a:srgbClr val="000000"/>
              </a:solidFill>
              <a:latin typeface="Cambria"/>
              <a:ea typeface="Cambria"/>
              <a:cs typeface="Cambria"/>
              <a:sym typeface="Cambria"/>
            </a:endParaRPr>
          </a:p>
        </p:txBody>
      </p:sp>
      <p:sp>
        <p:nvSpPr>
          <p:cNvPr id="171" name="Google Shape;171;p6"/>
          <p:cNvSpPr txBox="1"/>
          <p:nvPr/>
        </p:nvSpPr>
        <p:spPr>
          <a:xfrm>
            <a:off x="786805" y="5667003"/>
            <a:ext cx="3403800" cy="484800"/>
          </a:xfrm>
          <a:prstGeom prst="rect">
            <a:avLst/>
          </a:prstGeom>
          <a:noFill/>
          <a:ln>
            <a:noFill/>
          </a:ln>
        </p:spPr>
        <p:txBody>
          <a:bodyPr anchorCtr="0" anchor="t" bIns="0" lIns="0" spcFirstLastPara="1" rIns="0" wrap="square" tIns="0">
            <a:spAutoFit/>
          </a:bodyPr>
          <a:lstStyle/>
          <a:p>
            <a:pPr indent="0" lvl="0" marL="0" marR="0" rtl="0" algn="ctr">
              <a:lnSpc>
                <a:spcPct val="139968"/>
              </a:lnSpc>
              <a:spcBef>
                <a:spcPts val="0"/>
              </a:spcBef>
              <a:spcAft>
                <a:spcPts val="0"/>
              </a:spcAft>
              <a:buClr>
                <a:srgbClr val="000000"/>
              </a:buClr>
              <a:buSzPts val="3150"/>
              <a:buFont typeface="Arial"/>
              <a:buNone/>
            </a:pPr>
            <a:r>
              <a:rPr b="1" i="0" lang="en-US" sz="3150" u="none" cap="none" strike="noStrike">
                <a:solidFill>
                  <a:srgbClr val="FFFFFF"/>
                </a:solidFill>
                <a:latin typeface="Cambria"/>
                <a:ea typeface="Cambria"/>
                <a:cs typeface="Cambria"/>
                <a:sym typeface="Cambria"/>
              </a:rPr>
              <a:t>SUGGESTIONS</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75" name="Shape 175"/>
        <p:cNvGrpSpPr/>
        <p:nvPr/>
      </p:nvGrpSpPr>
      <p:grpSpPr>
        <a:xfrm>
          <a:off x="0" y="0"/>
          <a:ext cx="0" cy="0"/>
          <a:chOff x="0" y="0"/>
          <a:chExt cx="0" cy="0"/>
        </a:xfrm>
      </p:grpSpPr>
      <p:grpSp>
        <p:nvGrpSpPr>
          <p:cNvPr id="176" name="Google Shape;176;p7"/>
          <p:cNvGrpSpPr/>
          <p:nvPr/>
        </p:nvGrpSpPr>
        <p:grpSpPr>
          <a:xfrm>
            <a:off x="2486679" y="470734"/>
            <a:ext cx="12433137" cy="1236448"/>
            <a:chOff x="0" y="-85725"/>
            <a:chExt cx="3274571" cy="325649"/>
          </a:xfrm>
        </p:grpSpPr>
        <p:sp>
          <p:nvSpPr>
            <p:cNvPr id="177" name="Google Shape;177;p7"/>
            <p:cNvSpPr/>
            <p:nvPr/>
          </p:nvSpPr>
          <p:spPr>
            <a:xfrm>
              <a:off x="0" y="0"/>
              <a:ext cx="3274571" cy="239924"/>
            </a:xfrm>
            <a:custGeom>
              <a:rect b="b" l="l" r="r" t="t"/>
              <a:pathLst>
                <a:path extrusionOk="0" h="239924" w="3274571">
                  <a:moveTo>
                    <a:pt x="0" y="0"/>
                  </a:moveTo>
                  <a:lnTo>
                    <a:pt x="3274571" y="0"/>
                  </a:lnTo>
                  <a:lnTo>
                    <a:pt x="3274571" y="239924"/>
                  </a:lnTo>
                  <a:lnTo>
                    <a:pt x="0" y="239924"/>
                  </a:lnTo>
                  <a:close/>
                </a:path>
              </a:pathLst>
            </a:custGeom>
            <a:solidFill>
              <a:srgbClr val="F47C00"/>
            </a:solidFill>
            <a:ln>
              <a:noFill/>
            </a:ln>
          </p:spPr>
        </p:sp>
        <p:sp>
          <p:nvSpPr>
            <p:cNvPr id="178" name="Google Shape;178;p7"/>
            <p:cNvSpPr txBox="1"/>
            <p:nvPr/>
          </p:nvSpPr>
          <p:spPr>
            <a:xfrm>
              <a:off x="0" y="-85725"/>
              <a:ext cx="3274571" cy="325649"/>
            </a:xfrm>
            <a:prstGeom prst="rect">
              <a:avLst/>
            </a:prstGeom>
            <a:noFill/>
            <a:ln>
              <a:noFill/>
            </a:ln>
          </p:spPr>
          <p:txBody>
            <a:bodyPr anchorCtr="0" anchor="ctr" bIns="50800" lIns="50800" spcFirstLastPara="1" rIns="50800" wrap="square" tIns="50800">
              <a:noAutofit/>
            </a:bodyPr>
            <a:lstStyle/>
            <a:p>
              <a:pPr indent="0" lvl="0" marL="0" marR="0" rtl="0" algn="ctr">
                <a:lnSpc>
                  <a:spcPct val="138004"/>
                </a:lnSpc>
                <a:spcBef>
                  <a:spcPts val="0"/>
                </a:spcBef>
                <a:spcAft>
                  <a:spcPts val="0"/>
                </a:spcAft>
                <a:buClr>
                  <a:srgbClr val="000000"/>
                </a:buClr>
                <a:buSzPts val="4210"/>
                <a:buFont typeface="Arial"/>
                <a:buNone/>
              </a:pPr>
              <a:r>
                <a:rPr b="1" i="0" lang="en-US" sz="4210" u="none" cap="none" strike="noStrike">
                  <a:solidFill>
                    <a:srgbClr val="FFFFFF"/>
                  </a:solidFill>
                  <a:latin typeface="Cambria"/>
                  <a:ea typeface="Cambria"/>
                  <a:cs typeface="Cambria"/>
                  <a:sym typeface="Cambria"/>
                </a:rPr>
                <a:t>HOW TO GET LIST OF </a:t>
              </a:r>
              <a:r>
                <a:rPr b="1" lang="en-US" sz="4210">
                  <a:solidFill>
                    <a:srgbClr val="FFFFFF"/>
                  </a:solidFill>
                  <a:latin typeface="Cambria"/>
                  <a:ea typeface="Cambria"/>
                  <a:cs typeface="Cambria"/>
                  <a:sym typeface="Cambria"/>
                </a:rPr>
                <a:t>POTENTIAL LAKHPATI DIDIS</a:t>
              </a:r>
              <a:endParaRPr b="0" i="0" sz="1400" u="none" cap="none" strike="noStrike">
                <a:solidFill>
                  <a:srgbClr val="000000"/>
                </a:solidFill>
                <a:latin typeface="Cambria"/>
                <a:ea typeface="Cambria"/>
                <a:cs typeface="Cambria"/>
                <a:sym typeface="Cambria"/>
              </a:endParaRPr>
            </a:p>
          </p:txBody>
        </p:sp>
      </p:grpSp>
      <p:sp>
        <p:nvSpPr>
          <p:cNvPr id="179" name="Google Shape;179;p7"/>
          <p:cNvSpPr txBox="1"/>
          <p:nvPr/>
        </p:nvSpPr>
        <p:spPr>
          <a:xfrm>
            <a:off x="1556501" y="2524448"/>
            <a:ext cx="16122000" cy="6040500"/>
          </a:xfrm>
          <a:prstGeom prst="rect">
            <a:avLst/>
          </a:prstGeom>
          <a:noFill/>
          <a:ln>
            <a:noFill/>
          </a:ln>
        </p:spPr>
        <p:txBody>
          <a:bodyPr anchorCtr="0" anchor="t" bIns="0" lIns="0" spcFirstLastPara="1" rIns="0" wrap="square" tIns="0">
            <a:spAutoFit/>
          </a:bodyPr>
          <a:lstStyle/>
          <a:p>
            <a:pPr indent="0" lvl="0" marL="0" marR="0" rtl="0" algn="l">
              <a:lnSpc>
                <a:spcPct val="234277"/>
              </a:lnSpc>
              <a:spcBef>
                <a:spcPts val="0"/>
              </a:spcBef>
              <a:spcAft>
                <a:spcPts val="0"/>
              </a:spcAft>
              <a:buClr>
                <a:srgbClr val="000000"/>
              </a:buClr>
              <a:buSzPts val="1800"/>
              <a:buFont typeface="Arial"/>
              <a:buNone/>
            </a:pPr>
            <a:r>
              <a:t/>
            </a:r>
            <a:endParaRPr b="0" i="0" sz="2300" u="none" cap="none" strike="noStrike">
              <a:solidFill>
                <a:schemeClr val="dk1"/>
              </a:solidFill>
              <a:latin typeface="Cambria"/>
              <a:ea typeface="Cambria"/>
              <a:cs typeface="Cambria"/>
              <a:sym typeface="Cambria"/>
            </a:endParaRPr>
          </a:p>
          <a:p>
            <a:pPr indent="0" lvl="0" marL="0" rtl="0" algn="l">
              <a:lnSpc>
                <a:spcPct val="140006"/>
              </a:lnSpc>
              <a:spcBef>
                <a:spcPts val="0"/>
              </a:spcBef>
              <a:spcAft>
                <a:spcPts val="0"/>
              </a:spcAft>
              <a:buNone/>
            </a:pPr>
            <a:r>
              <a:rPr b="1" lang="en-US" sz="4112">
                <a:solidFill>
                  <a:srgbClr val="F37335"/>
                </a:solidFill>
                <a:latin typeface="Cambria"/>
                <a:ea typeface="Cambria"/>
                <a:cs typeface="Cambria"/>
                <a:sym typeface="Cambria"/>
              </a:rPr>
              <a:t>Get the final List from BPM for the first phase of programme</a:t>
            </a:r>
            <a:endParaRPr b="1" sz="4112">
              <a:solidFill>
                <a:srgbClr val="F37335"/>
              </a:solidFill>
              <a:latin typeface="Cambria"/>
              <a:ea typeface="Cambria"/>
              <a:cs typeface="Cambria"/>
              <a:sym typeface="Cambria"/>
            </a:endParaRPr>
          </a:p>
          <a:p>
            <a:pPr indent="-356972" lvl="1" marL="650445" marR="0" rtl="0" algn="l">
              <a:lnSpc>
                <a:spcPct val="140006"/>
              </a:lnSpc>
              <a:spcBef>
                <a:spcPts val="0"/>
              </a:spcBef>
              <a:spcAft>
                <a:spcPts val="0"/>
              </a:spcAft>
              <a:buClr>
                <a:srgbClr val="000000"/>
              </a:buClr>
              <a:buSzPts val="3512"/>
              <a:buFont typeface="Cambria"/>
              <a:buChar char="•"/>
            </a:pPr>
            <a:r>
              <a:rPr b="1" i="0" lang="en-US" sz="3512" u="none" cap="none" strike="noStrike">
                <a:solidFill>
                  <a:srgbClr val="000000"/>
                </a:solidFill>
                <a:latin typeface="Cambria"/>
                <a:ea typeface="Cambria"/>
                <a:cs typeface="Cambria"/>
                <a:sym typeface="Cambria"/>
              </a:rPr>
              <a:t>Contact BPM  </a:t>
            </a:r>
            <a:endParaRPr b="0" i="0" sz="1900" u="none" cap="none" strike="noStrike">
              <a:solidFill>
                <a:srgbClr val="000000"/>
              </a:solidFill>
              <a:latin typeface="Cambria"/>
              <a:ea typeface="Cambria"/>
              <a:cs typeface="Cambria"/>
              <a:sym typeface="Cambria"/>
            </a:endParaRPr>
          </a:p>
          <a:p>
            <a:pPr indent="-356972" lvl="1" marL="650445" marR="0" rtl="0" algn="l">
              <a:lnSpc>
                <a:spcPct val="140006"/>
              </a:lnSpc>
              <a:spcBef>
                <a:spcPts val="0"/>
              </a:spcBef>
              <a:spcAft>
                <a:spcPts val="0"/>
              </a:spcAft>
              <a:buClr>
                <a:srgbClr val="000000"/>
              </a:buClr>
              <a:buSzPts val="3512"/>
              <a:buFont typeface="Cambria"/>
              <a:buChar char="•"/>
            </a:pPr>
            <a:r>
              <a:rPr b="1" i="0" lang="en-US" sz="3512" u="none" cap="none" strike="noStrike">
                <a:solidFill>
                  <a:srgbClr val="000000"/>
                </a:solidFill>
                <a:latin typeface="Cambria"/>
                <a:ea typeface="Cambria"/>
                <a:cs typeface="Cambria"/>
                <a:sym typeface="Cambria"/>
              </a:rPr>
              <a:t>Obtain information pertaining to Name of HH, SHG, Year of Joining SHG, Current engagement in Livelihood activities and income from the activities can be seen in the excel sheet.</a:t>
            </a:r>
            <a:endParaRPr b="0" i="0" sz="1900" u="none" cap="none" strike="noStrike">
              <a:solidFill>
                <a:srgbClr val="000000"/>
              </a:solidFill>
              <a:latin typeface="Cambria"/>
              <a:ea typeface="Cambria"/>
              <a:cs typeface="Cambria"/>
              <a:sym typeface="Cambria"/>
            </a:endParaRPr>
          </a:p>
          <a:p>
            <a:pPr indent="-356971" lvl="1" marL="650444" marR="0" rtl="0" algn="l">
              <a:lnSpc>
                <a:spcPct val="140006"/>
              </a:lnSpc>
              <a:spcBef>
                <a:spcPts val="0"/>
              </a:spcBef>
              <a:spcAft>
                <a:spcPts val="0"/>
              </a:spcAft>
              <a:buClr>
                <a:srgbClr val="F37335"/>
              </a:buClr>
              <a:buSzPts val="3512"/>
              <a:buFont typeface="Cambria"/>
              <a:buChar char="•"/>
            </a:pPr>
            <a:r>
              <a:rPr b="1" i="0" lang="en-US" sz="3512" u="none" cap="none" strike="noStrike">
                <a:solidFill>
                  <a:srgbClr val="F37335"/>
                </a:solidFill>
                <a:latin typeface="Cambria"/>
                <a:ea typeface="Cambria"/>
                <a:cs typeface="Cambria"/>
                <a:sym typeface="Cambria"/>
              </a:rPr>
              <a:t> </a:t>
            </a:r>
            <a:r>
              <a:rPr b="1" i="0" lang="en-US" sz="3512" u="none" cap="none" strike="noStrike">
                <a:solidFill>
                  <a:schemeClr val="dk1"/>
                </a:solidFill>
                <a:latin typeface="Cambria"/>
                <a:ea typeface="Cambria"/>
                <a:cs typeface="Cambria"/>
                <a:sym typeface="Cambria"/>
              </a:rPr>
              <a:t>Select the member in consultation with the CLF and VO Livelihood Sub Committee members following the criteria</a:t>
            </a:r>
            <a:endParaRPr b="1" sz="3512">
              <a:solidFill>
                <a:srgbClr val="F37335"/>
              </a:solidFill>
              <a:latin typeface="Cambria"/>
              <a:ea typeface="Cambria"/>
              <a:cs typeface="Cambria"/>
              <a:sym typeface="Cambria"/>
            </a:endParaRPr>
          </a:p>
        </p:txBody>
      </p:sp>
      <p:sp>
        <p:nvSpPr>
          <p:cNvPr id="180" name="Google Shape;180;p7"/>
          <p:cNvSpPr/>
          <p:nvPr/>
        </p:nvSpPr>
        <p:spPr>
          <a:xfrm>
            <a:off x="0" y="9398575"/>
            <a:ext cx="18288000" cy="992527"/>
          </a:xfrm>
          <a:custGeom>
            <a:rect b="b" l="l" r="r" t="t"/>
            <a:pathLst>
              <a:path extrusionOk="0" h="992527" w="18288000">
                <a:moveTo>
                  <a:pt x="0" y="0"/>
                </a:moveTo>
                <a:lnTo>
                  <a:pt x="18288000" y="0"/>
                </a:lnTo>
                <a:lnTo>
                  <a:pt x="18288000" y="992527"/>
                </a:lnTo>
                <a:lnTo>
                  <a:pt x="0" y="992527"/>
                </a:lnTo>
                <a:lnTo>
                  <a:pt x="0" y="0"/>
                </a:lnTo>
                <a:close/>
              </a:path>
            </a:pathLst>
          </a:custGeom>
          <a:blipFill rotWithShape="1">
            <a:blip r:embed="rId3">
              <a:alphaModFix/>
            </a:blip>
            <a:stretch>
              <a:fillRect b="-18639" l="0" r="0" t="-18639"/>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84" name="Shape 184"/>
        <p:cNvGrpSpPr/>
        <p:nvPr/>
      </p:nvGrpSpPr>
      <p:grpSpPr>
        <a:xfrm>
          <a:off x="0" y="0"/>
          <a:ext cx="0" cy="0"/>
          <a:chOff x="0" y="0"/>
          <a:chExt cx="0" cy="0"/>
        </a:xfrm>
      </p:grpSpPr>
      <p:grpSp>
        <p:nvGrpSpPr>
          <p:cNvPr id="185" name="Google Shape;185;p9"/>
          <p:cNvGrpSpPr/>
          <p:nvPr/>
        </p:nvGrpSpPr>
        <p:grpSpPr>
          <a:xfrm>
            <a:off x="3900160" y="351502"/>
            <a:ext cx="11150534" cy="1890845"/>
            <a:chOff x="0" y="-42864"/>
            <a:chExt cx="2936766" cy="498000"/>
          </a:xfrm>
        </p:grpSpPr>
        <p:sp>
          <p:nvSpPr>
            <p:cNvPr id="186" name="Google Shape;186;p9"/>
            <p:cNvSpPr/>
            <p:nvPr/>
          </p:nvSpPr>
          <p:spPr>
            <a:xfrm>
              <a:off x="0" y="0"/>
              <a:ext cx="2936766" cy="412407"/>
            </a:xfrm>
            <a:custGeom>
              <a:rect b="b" l="l" r="r" t="t"/>
              <a:pathLst>
                <a:path extrusionOk="0" h="412407" w="2936766">
                  <a:moveTo>
                    <a:pt x="0" y="0"/>
                  </a:moveTo>
                  <a:lnTo>
                    <a:pt x="2936766" y="0"/>
                  </a:lnTo>
                  <a:lnTo>
                    <a:pt x="2936766" y="412407"/>
                  </a:lnTo>
                  <a:lnTo>
                    <a:pt x="0" y="412407"/>
                  </a:lnTo>
                  <a:close/>
                </a:path>
              </a:pathLst>
            </a:custGeom>
            <a:solidFill>
              <a:srgbClr val="F47C00"/>
            </a:solidFill>
            <a:ln>
              <a:noFill/>
            </a:ln>
          </p:spPr>
        </p:sp>
        <p:sp>
          <p:nvSpPr>
            <p:cNvPr id="187" name="Google Shape;187;p9"/>
            <p:cNvSpPr txBox="1"/>
            <p:nvPr/>
          </p:nvSpPr>
          <p:spPr>
            <a:xfrm>
              <a:off x="0" y="-42864"/>
              <a:ext cx="2936700" cy="498000"/>
            </a:xfrm>
            <a:prstGeom prst="rect">
              <a:avLst/>
            </a:prstGeom>
            <a:noFill/>
            <a:ln>
              <a:noFill/>
            </a:ln>
          </p:spPr>
          <p:txBody>
            <a:bodyPr anchorCtr="0" anchor="ctr" bIns="50800" lIns="50800" spcFirstLastPara="1" rIns="50800" wrap="square" tIns="50800">
              <a:noAutofit/>
            </a:bodyPr>
            <a:lstStyle/>
            <a:p>
              <a:pPr indent="0" lvl="0" marL="0" marR="0" rtl="0" algn="ctr">
                <a:lnSpc>
                  <a:spcPct val="138004"/>
                </a:lnSpc>
                <a:spcBef>
                  <a:spcPts val="0"/>
                </a:spcBef>
                <a:spcAft>
                  <a:spcPts val="0"/>
                </a:spcAft>
                <a:buClr>
                  <a:srgbClr val="000000"/>
                </a:buClr>
                <a:buSzPts val="4210"/>
                <a:buFont typeface="Arial"/>
                <a:buNone/>
              </a:pPr>
              <a:r>
                <a:rPr b="1" i="0" lang="en-US" sz="4210" u="none" cap="none" strike="noStrike">
                  <a:solidFill>
                    <a:srgbClr val="FFFFFF"/>
                  </a:solidFill>
                  <a:latin typeface="Cambria"/>
                  <a:ea typeface="Cambria"/>
                  <a:cs typeface="Cambria"/>
                  <a:sym typeface="Cambria"/>
                </a:rPr>
                <a:t>CRP: ROLE AS PILLARS OF CONTINUOUS SUPPORT</a:t>
              </a:r>
              <a:endParaRPr b="0" i="0" sz="1400" u="none" cap="none" strike="noStrike">
                <a:solidFill>
                  <a:srgbClr val="000000"/>
                </a:solidFill>
                <a:latin typeface="Cambria"/>
                <a:ea typeface="Cambria"/>
                <a:cs typeface="Cambria"/>
                <a:sym typeface="Cambria"/>
              </a:endParaRPr>
            </a:p>
          </p:txBody>
        </p:sp>
      </p:grpSp>
      <p:sp>
        <p:nvSpPr>
          <p:cNvPr id="188" name="Google Shape;188;p9"/>
          <p:cNvSpPr/>
          <p:nvPr/>
        </p:nvSpPr>
        <p:spPr>
          <a:xfrm>
            <a:off x="13390218" y="2095351"/>
            <a:ext cx="3706321" cy="7287687"/>
          </a:xfrm>
          <a:custGeom>
            <a:rect b="b" l="l" r="r" t="t"/>
            <a:pathLst>
              <a:path extrusionOk="0" h="7984744" w="4060825">
                <a:moveTo>
                  <a:pt x="2590419" y="540893"/>
                </a:moveTo>
                <a:cubicBezTo>
                  <a:pt x="2430399" y="647573"/>
                  <a:pt x="2239899" y="700913"/>
                  <a:pt x="2034286" y="700913"/>
                </a:cubicBezTo>
                <a:cubicBezTo>
                  <a:pt x="1828673" y="700913"/>
                  <a:pt x="1638173" y="647573"/>
                  <a:pt x="1470533" y="540893"/>
                </a:cubicBezTo>
                <a:cubicBezTo>
                  <a:pt x="876173" y="182880"/>
                  <a:pt x="441833" y="0"/>
                  <a:pt x="0" y="0"/>
                </a:cubicBezTo>
                <a:cubicBezTo>
                  <a:pt x="0" y="7984744"/>
                  <a:pt x="0" y="7984744"/>
                  <a:pt x="0" y="7984744"/>
                </a:cubicBezTo>
                <a:cubicBezTo>
                  <a:pt x="4060825" y="7984744"/>
                  <a:pt x="4060825" y="7984744"/>
                  <a:pt x="4060825" y="7984744"/>
                </a:cubicBezTo>
                <a:cubicBezTo>
                  <a:pt x="4060825" y="0"/>
                  <a:pt x="4060825" y="0"/>
                  <a:pt x="4060825" y="0"/>
                </a:cubicBezTo>
                <a:cubicBezTo>
                  <a:pt x="3626612" y="0"/>
                  <a:pt x="3184652" y="182880"/>
                  <a:pt x="2590419" y="540893"/>
                </a:cubicBezTo>
                <a:close/>
              </a:path>
            </a:pathLst>
          </a:custGeom>
          <a:solidFill>
            <a:srgbClr val="F4C30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9"/>
          <p:cNvSpPr/>
          <p:nvPr/>
        </p:nvSpPr>
        <p:spPr>
          <a:xfrm>
            <a:off x="9686549" y="2018187"/>
            <a:ext cx="3703654" cy="7287687"/>
          </a:xfrm>
          <a:custGeom>
            <a:rect b="b" l="l" r="r" t="t"/>
            <a:pathLst>
              <a:path extrusionOk="0" h="7984744" w="4057904">
                <a:moveTo>
                  <a:pt x="2588514" y="540893"/>
                </a:moveTo>
                <a:cubicBezTo>
                  <a:pt x="2421001" y="647573"/>
                  <a:pt x="2230628" y="700913"/>
                  <a:pt x="2025142" y="700913"/>
                </a:cubicBezTo>
                <a:cubicBezTo>
                  <a:pt x="1819656" y="700913"/>
                  <a:pt x="1629283" y="647573"/>
                  <a:pt x="1469390" y="540893"/>
                </a:cubicBezTo>
                <a:cubicBezTo>
                  <a:pt x="875538" y="182880"/>
                  <a:pt x="433959" y="0"/>
                  <a:pt x="0" y="0"/>
                </a:cubicBezTo>
                <a:cubicBezTo>
                  <a:pt x="0" y="7984744"/>
                  <a:pt x="0" y="7984744"/>
                  <a:pt x="0" y="7984744"/>
                </a:cubicBezTo>
                <a:cubicBezTo>
                  <a:pt x="4057904" y="7984744"/>
                  <a:pt x="4057904" y="7984744"/>
                  <a:pt x="4057904" y="7984744"/>
                </a:cubicBezTo>
                <a:cubicBezTo>
                  <a:pt x="4057904" y="0"/>
                  <a:pt x="4057904" y="0"/>
                  <a:pt x="4057904" y="0"/>
                </a:cubicBezTo>
                <a:cubicBezTo>
                  <a:pt x="3616325" y="0"/>
                  <a:pt x="3174746" y="182880"/>
                  <a:pt x="2588514" y="540893"/>
                </a:cubicBezTo>
                <a:close/>
              </a:path>
            </a:pathLst>
          </a:custGeom>
          <a:solidFill>
            <a:srgbClr val="F47C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9"/>
          <p:cNvSpPr/>
          <p:nvPr/>
        </p:nvSpPr>
        <p:spPr>
          <a:xfrm>
            <a:off x="4841915" y="2095351"/>
            <a:ext cx="4844610" cy="7287687"/>
          </a:xfrm>
          <a:custGeom>
            <a:rect b="b" l="l" r="r" t="t"/>
            <a:pathLst>
              <a:path extrusionOk="0" h="7984744" w="5307990">
                <a:moveTo>
                  <a:pt x="3379575" y="540893"/>
                </a:moveTo>
                <a:cubicBezTo>
                  <a:pt x="3170869" y="647573"/>
                  <a:pt x="2922378" y="700913"/>
                  <a:pt x="2653995" y="700913"/>
                </a:cubicBezTo>
                <a:cubicBezTo>
                  <a:pt x="2385612" y="700913"/>
                  <a:pt x="2137121" y="647573"/>
                  <a:pt x="1928415" y="540893"/>
                </a:cubicBezTo>
                <a:cubicBezTo>
                  <a:pt x="1153104" y="182880"/>
                  <a:pt x="576552" y="0"/>
                  <a:pt x="0" y="0"/>
                </a:cubicBezTo>
                <a:cubicBezTo>
                  <a:pt x="0" y="7984744"/>
                  <a:pt x="0" y="7984744"/>
                  <a:pt x="0" y="7984744"/>
                </a:cubicBezTo>
                <a:cubicBezTo>
                  <a:pt x="5307990" y="7984744"/>
                  <a:pt x="5307990" y="7984744"/>
                  <a:pt x="5307990" y="7984744"/>
                </a:cubicBezTo>
                <a:cubicBezTo>
                  <a:pt x="5307990" y="0"/>
                  <a:pt x="5307990" y="0"/>
                  <a:pt x="5307990" y="0"/>
                </a:cubicBezTo>
                <a:cubicBezTo>
                  <a:pt x="4731439" y="0"/>
                  <a:pt x="4154887" y="182880"/>
                  <a:pt x="3379575" y="540893"/>
                </a:cubicBezTo>
                <a:close/>
              </a:path>
            </a:pathLst>
          </a:custGeom>
          <a:solidFill>
            <a:srgbClr val="F4C30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9"/>
          <p:cNvSpPr/>
          <p:nvPr/>
        </p:nvSpPr>
        <p:spPr>
          <a:xfrm>
            <a:off x="1138246" y="2095351"/>
            <a:ext cx="3703654" cy="7287687"/>
          </a:xfrm>
          <a:custGeom>
            <a:rect b="b" l="l" r="r" t="t"/>
            <a:pathLst>
              <a:path extrusionOk="0" h="7984744" w="4057904">
                <a:moveTo>
                  <a:pt x="2588514" y="540893"/>
                </a:moveTo>
                <a:cubicBezTo>
                  <a:pt x="2428621" y="647573"/>
                  <a:pt x="2238248" y="700913"/>
                  <a:pt x="2032762" y="700913"/>
                </a:cubicBezTo>
                <a:cubicBezTo>
                  <a:pt x="1827276" y="700913"/>
                  <a:pt x="1636903" y="647573"/>
                  <a:pt x="1469390" y="540893"/>
                </a:cubicBezTo>
                <a:cubicBezTo>
                  <a:pt x="875538" y="182880"/>
                  <a:pt x="441579" y="0"/>
                  <a:pt x="0" y="0"/>
                </a:cubicBezTo>
                <a:cubicBezTo>
                  <a:pt x="0" y="7984744"/>
                  <a:pt x="0" y="7984744"/>
                  <a:pt x="0" y="7984744"/>
                </a:cubicBezTo>
                <a:cubicBezTo>
                  <a:pt x="4057904" y="7984744"/>
                  <a:pt x="4057904" y="7984744"/>
                  <a:pt x="4057904" y="7984744"/>
                </a:cubicBezTo>
                <a:cubicBezTo>
                  <a:pt x="4057904" y="0"/>
                  <a:pt x="4057904" y="0"/>
                  <a:pt x="4057904" y="0"/>
                </a:cubicBezTo>
                <a:cubicBezTo>
                  <a:pt x="3623945" y="0"/>
                  <a:pt x="3182366" y="182880"/>
                  <a:pt x="2588514" y="540893"/>
                </a:cubicBezTo>
                <a:close/>
              </a:path>
            </a:pathLst>
          </a:custGeom>
          <a:solidFill>
            <a:srgbClr val="F47C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9"/>
          <p:cNvSpPr/>
          <p:nvPr/>
        </p:nvSpPr>
        <p:spPr>
          <a:xfrm>
            <a:off x="1199540" y="3193776"/>
            <a:ext cx="3546506" cy="644819"/>
          </a:xfrm>
          <a:custGeom>
            <a:rect b="b" l="l" r="r" t="t"/>
            <a:pathLst>
              <a:path extrusionOk="0" h="644819" w="3546506">
                <a:moveTo>
                  <a:pt x="0" y="0"/>
                </a:moveTo>
                <a:lnTo>
                  <a:pt x="3546507" y="0"/>
                </a:lnTo>
                <a:lnTo>
                  <a:pt x="3546507" y="644820"/>
                </a:lnTo>
                <a:lnTo>
                  <a:pt x="0" y="644820"/>
                </a:lnTo>
                <a:lnTo>
                  <a:pt x="0" y="0"/>
                </a:lnTo>
                <a:close/>
              </a:path>
            </a:pathLst>
          </a:custGeom>
          <a:blipFill rotWithShape="1">
            <a:blip r:embed="rId3">
              <a:alphaModFix/>
            </a:blip>
            <a:stretch>
              <a:fillRect b="0" l="0" r="0" t="0"/>
            </a:stretch>
          </a:blipFill>
          <a:ln>
            <a:noFill/>
          </a:ln>
        </p:spPr>
      </p:sp>
      <p:sp>
        <p:nvSpPr>
          <p:cNvPr id="193" name="Google Shape;193;p9"/>
          <p:cNvSpPr/>
          <p:nvPr/>
        </p:nvSpPr>
        <p:spPr>
          <a:xfrm>
            <a:off x="5068403" y="3201751"/>
            <a:ext cx="4503846" cy="818881"/>
          </a:xfrm>
          <a:custGeom>
            <a:rect b="b" l="l" r="r" t="t"/>
            <a:pathLst>
              <a:path extrusionOk="0" h="818881" w="4503846">
                <a:moveTo>
                  <a:pt x="0" y="0"/>
                </a:moveTo>
                <a:lnTo>
                  <a:pt x="4503846" y="0"/>
                </a:lnTo>
                <a:lnTo>
                  <a:pt x="4503846" y="818881"/>
                </a:lnTo>
                <a:lnTo>
                  <a:pt x="0" y="818881"/>
                </a:lnTo>
                <a:lnTo>
                  <a:pt x="0" y="0"/>
                </a:lnTo>
                <a:close/>
              </a:path>
            </a:pathLst>
          </a:custGeom>
          <a:blipFill rotWithShape="1">
            <a:blip r:embed="rId3">
              <a:alphaModFix/>
            </a:blip>
            <a:stretch>
              <a:fillRect b="0" l="0" r="0" t="0"/>
            </a:stretch>
          </a:blipFill>
          <a:ln>
            <a:noFill/>
          </a:ln>
        </p:spPr>
      </p:sp>
      <p:sp>
        <p:nvSpPr>
          <p:cNvPr id="194" name="Google Shape;194;p9"/>
          <p:cNvSpPr/>
          <p:nvPr/>
        </p:nvSpPr>
        <p:spPr>
          <a:xfrm>
            <a:off x="13503122" y="3216478"/>
            <a:ext cx="3441731" cy="625769"/>
          </a:xfrm>
          <a:custGeom>
            <a:rect b="b" l="l" r="r" t="t"/>
            <a:pathLst>
              <a:path extrusionOk="0" h="625769" w="3441731">
                <a:moveTo>
                  <a:pt x="0" y="0"/>
                </a:moveTo>
                <a:lnTo>
                  <a:pt x="3441732" y="0"/>
                </a:lnTo>
                <a:lnTo>
                  <a:pt x="3441732" y="625769"/>
                </a:lnTo>
                <a:lnTo>
                  <a:pt x="0" y="625769"/>
                </a:lnTo>
                <a:lnTo>
                  <a:pt x="0" y="0"/>
                </a:lnTo>
                <a:close/>
              </a:path>
            </a:pathLst>
          </a:custGeom>
          <a:blipFill rotWithShape="1">
            <a:blip r:embed="rId3">
              <a:alphaModFix/>
            </a:blip>
            <a:stretch>
              <a:fillRect b="0" l="0" r="0" t="0"/>
            </a:stretch>
          </a:blipFill>
          <a:ln>
            <a:noFill/>
          </a:ln>
        </p:spPr>
      </p:sp>
      <p:sp>
        <p:nvSpPr>
          <p:cNvPr id="195" name="Google Shape;195;p9"/>
          <p:cNvSpPr/>
          <p:nvPr/>
        </p:nvSpPr>
        <p:spPr>
          <a:xfrm>
            <a:off x="10005094" y="3076317"/>
            <a:ext cx="3108837" cy="1334255"/>
          </a:xfrm>
          <a:custGeom>
            <a:rect b="b" l="l" r="r" t="t"/>
            <a:pathLst>
              <a:path extrusionOk="0" h="1334255" w="3108837">
                <a:moveTo>
                  <a:pt x="0" y="0"/>
                </a:moveTo>
                <a:lnTo>
                  <a:pt x="3108837" y="0"/>
                </a:lnTo>
                <a:lnTo>
                  <a:pt x="3108837" y="1334255"/>
                </a:lnTo>
                <a:lnTo>
                  <a:pt x="0" y="1334255"/>
                </a:lnTo>
                <a:lnTo>
                  <a:pt x="0" y="0"/>
                </a:lnTo>
                <a:close/>
              </a:path>
            </a:pathLst>
          </a:custGeom>
          <a:blipFill rotWithShape="1">
            <a:blip r:embed="rId4">
              <a:alphaModFix/>
            </a:blip>
            <a:stretch>
              <a:fillRect b="0" l="-755" r="-754" t="-4072"/>
            </a:stretch>
          </a:blipFill>
          <a:ln>
            <a:noFill/>
          </a:ln>
        </p:spPr>
      </p:sp>
      <p:sp>
        <p:nvSpPr>
          <p:cNvPr id="196" name="Google Shape;196;p9"/>
          <p:cNvSpPr txBox="1"/>
          <p:nvPr/>
        </p:nvSpPr>
        <p:spPr>
          <a:xfrm>
            <a:off x="1503722" y="3074224"/>
            <a:ext cx="2919000" cy="615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000"/>
              <a:buFont typeface="Arial"/>
              <a:buNone/>
            </a:pPr>
            <a:r>
              <a:rPr b="1" i="0" lang="en-US" sz="4000" u="none" cap="none" strike="noStrike">
                <a:solidFill>
                  <a:srgbClr val="000000"/>
                </a:solidFill>
                <a:latin typeface="Cambria"/>
                <a:ea typeface="Cambria"/>
                <a:cs typeface="Cambria"/>
                <a:sym typeface="Cambria"/>
              </a:rPr>
              <a:t>Facilitator</a:t>
            </a:r>
            <a:endParaRPr b="0" i="0" sz="1400" u="none" cap="none" strike="noStrike">
              <a:solidFill>
                <a:srgbClr val="000000"/>
              </a:solidFill>
              <a:latin typeface="Cambria"/>
              <a:ea typeface="Cambria"/>
              <a:cs typeface="Cambria"/>
              <a:sym typeface="Cambria"/>
            </a:endParaRPr>
          </a:p>
        </p:txBody>
      </p:sp>
      <p:sp>
        <p:nvSpPr>
          <p:cNvPr id="197" name="Google Shape;197;p9"/>
          <p:cNvSpPr txBox="1"/>
          <p:nvPr/>
        </p:nvSpPr>
        <p:spPr>
          <a:xfrm>
            <a:off x="5187620" y="3182701"/>
            <a:ext cx="4115100" cy="615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000"/>
              <a:buFont typeface="Arial"/>
              <a:buNone/>
            </a:pPr>
            <a:r>
              <a:rPr b="1" i="0" lang="en-US" sz="4000" u="none" cap="none" strike="noStrike">
                <a:solidFill>
                  <a:srgbClr val="000000"/>
                </a:solidFill>
                <a:latin typeface="Cambria"/>
                <a:ea typeface="Cambria"/>
                <a:cs typeface="Cambria"/>
                <a:sym typeface="Cambria"/>
              </a:rPr>
              <a:t>Troubleshooter</a:t>
            </a:r>
            <a:endParaRPr b="0" i="0" sz="1400" u="none" cap="none" strike="noStrike">
              <a:solidFill>
                <a:srgbClr val="000000"/>
              </a:solidFill>
              <a:latin typeface="Cambria"/>
              <a:ea typeface="Cambria"/>
              <a:cs typeface="Cambria"/>
              <a:sym typeface="Cambria"/>
            </a:endParaRPr>
          </a:p>
        </p:txBody>
      </p:sp>
      <p:sp>
        <p:nvSpPr>
          <p:cNvPr id="198" name="Google Shape;198;p9"/>
          <p:cNvSpPr txBox="1"/>
          <p:nvPr/>
        </p:nvSpPr>
        <p:spPr>
          <a:xfrm>
            <a:off x="10005094" y="3026272"/>
            <a:ext cx="2919000" cy="147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000"/>
              <a:buFont typeface="Arial"/>
              <a:buNone/>
            </a:pPr>
            <a:r>
              <a:rPr b="1" i="0" lang="en-US" sz="4000" u="none" cap="none" strike="noStrike">
                <a:solidFill>
                  <a:srgbClr val="000000"/>
                </a:solidFill>
                <a:latin typeface="Cambria"/>
                <a:ea typeface="Cambria"/>
                <a:cs typeface="Cambria"/>
                <a:sym typeface="Cambria"/>
              </a:rPr>
              <a:t>Capacity Builder</a:t>
            </a:r>
            <a:endParaRPr b="0" i="0" sz="1400" u="none" cap="none" strike="noStrike">
              <a:solidFill>
                <a:srgbClr val="000000"/>
              </a:solidFill>
              <a:latin typeface="Cambria"/>
              <a:ea typeface="Cambria"/>
              <a:cs typeface="Cambria"/>
              <a:sym typeface="Cambria"/>
            </a:endParaRPr>
          </a:p>
        </p:txBody>
      </p:sp>
      <p:sp>
        <p:nvSpPr>
          <p:cNvPr id="199" name="Google Shape;199;p9"/>
          <p:cNvSpPr txBox="1"/>
          <p:nvPr/>
        </p:nvSpPr>
        <p:spPr>
          <a:xfrm>
            <a:off x="13668824" y="3163651"/>
            <a:ext cx="3091200" cy="615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000"/>
              <a:buFont typeface="Arial"/>
              <a:buNone/>
            </a:pPr>
            <a:r>
              <a:rPr b="1" i="0" lang="en-US" sz="4000" u="none" cap="none" strike="noStrike">
                <a:solidFill>
                  <a:srgbClr val="000000"/>
                </a:solidFill>
                <a:latin typeface="Cambria"/>
                <a:ea typeface="Cambria"/>
                <a:cs typeface="Cambria"/>
                <a:sym typeface="Cambria"/>
              </a:rPr>
              <a:t>Monitoring</a:t>
            </a:r>
            <a:endParaRPr b="0" i="0" sz="1400" u="none" cap="none" strike="noStrike">
              <a:solidFill>
                <a:srgbClr val="000000"/>
              </a:solidFill>
              <a:latin typeface="Cambria"/>
              <a:ea typeface="Cambria"/>
              <a:cs typeface="Cambria"/>
              <a:sym typeface="Cambria"/>
            </a:endParaRPr>
          </a:p>
        </p:txBody>
      </p:sp>
      <p:sp>
        <p:nvSpPr>
          <p:cNvPr id="200" name="Google Shape;200;p9"/>
          <p:cNvSpPr txBox="1"/>
          <p:nvPr/>
        </p:nvSpPr>
        <p:spPr>
          <a:xfrm>
            <a:off x="1595246" y="3915738"/>
            <a:ext cx="2884800" cy="5861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000000"/>
                </a:solidFill>
                <a:latin typeface="Cambria"/>
                <a:ea typeface="Cambria"/>
                <a:cs typeface="Cambria"/>
                <a:sym typeface="Cambria"/>
              </a:rPr>
              <a:t>Personalized guidance, Plan preparation tailored to each member and collation.</a:t>
            </a:r>
            <a:endParaRPr b="0" i="0" sz="1400" u="none" cap="none" strike="noStrike">
              <a:solidFill>
                <a:srgbClr val="000000"/>
              </a:solidFill>
              <a:latin typeface="Cambria"/>
              <a:ea typeface="Cambria"/>
              <a:cs typeface="Cambria"/>
              <a:sym typeface="Cambria"/>
            </a:endParaRPr>
          </a:p>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000000"/>
                </a:solidFill>
                <a:latin typeface="Cambria"/>
                <a:ea typeface="Cambria"/>
                <a:cs typeface="Cambria"/>
                <a:sym typeface="Cambria"/>
              </a:rPr>
              <a:t>Connect with schemes, progs, institutions</a:t>
            </a:r>
            <a:endParaRPr b="0" i="0" sz="1400" u="none" cap="none" strike="noStrike">
              <a:solidFill>
                <a:srgbClr val="000000"/>
              </a:solidFill>
              <a:latin typeface="Cambria"/>
              <a:ea typeface="Cambria"/>
              <a:cs typeface="Cambria"/>
              <a:sym typeface="Cambria"/>
            </a:endParaRPr>
          </a:p>
          <a:p>
            <a:pPr indent="0" lvl="0" marL="0" marR="0" rtl="0" algn="ctr">
              <a:lnSpc>
                <a:spcPct val="160000"/>
              </a:lnSpc>
              <a:spcBef>
                <a:spcPts val="0"/>
              </a:spcBef>
              <a:spcAft>
                <a:spcPts val="0"/>
              </a:spcAft>
              <a:buClr>
                <a:srgbClr val="000000"/>
              </a:buClr>
              <a:buSzPts val="2800"/>
              <a:buFont typeface="Arial"/>
              <a:buNone/>
            </a:pPr>
            <a:r>
              <a:t/>
            </a:r>
            <a:endParaRPr b="1" i="0" sz="2800" u="none" cap="none" strike="noStrike">
              <a:solidFill>
                <a:srgbClr val="000000"/>
              </a:solidFill>
              <a:latin typeface="Cambria"/>
              <a:ea typeface="Cambria"/>
              <a:cs typeface="Cambria"/>
              <a:sym typeface="Cambria"/>
            </a:endParaRPr>
          </a:p>
        </p:txBody>
      </p:sp>
      <p:sp>
        <p:nvSpPr>
          <p:cNvPr id="201" name="Google Shape;201;p9"/>
          <p:cNvSpPr txBox="1"/>
          <p:nvPr/>
        </p:nvSpPr>
        <p:spPr>
          <a:xfrm>
            <a:off x="5811587" y="4238625"/>
            <a:ext cx="2398500" cy="1754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Cambria"/>
                <a:ea typeface="Cambria"/>
                <a:cs typeface="Cambria"/>
                <a:sym typeface="Cambria"/>
              </a:rPr>
              <a:t>Navigating through challenges</a:t>
            </a:r>
            <a:endParaRPr b="0" i="0" sz="1400" u="none" cap="none" strike="noStrike">
              <a:solidFill>
                <a:srgbClr val="000000"/>
              </a:solidFill>
              <a:latin typeface="Cambria"/>
              <a:ea typeface="Cambria"/>
              <a:cs typeface="Cambria"/>
              <a:sym typeface="Cambria"/>
            </a:endParaRPr>
          </a:p>
        </p:txBody>
      </p:sp>
      <p:sp>
        <p:nvSpPr>
          <p:cNvPr id="202" name="Google Shape;202;p9"/>
          <p:cNvSpPr txBox="1"/>
          <p:nvPr/>
        </p:nvSpPr>
        <p:spPr>
          <a:xfrm>
            <a:off x="10265320" y="4660265"/>
            <a:ext cx="2658900" cy="2561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200"/>
              <a:buFont typeface="Arial"/>
              <a:buNone/>
            </a:pPr>
            <a:r>
              <a:rPr b="1" i="0" lang="en-US" sz="3200" u="none" cap="none" strike="noStrike">
                <a:solidFill>
                  <a:srgbClr val="000000"/>
                </a:solidFill>
                <a:latin typeface="Cambria"/>
                <a:ea typeface="Cambria"/>
                <a:cs typeface="Cambria"/>
                <a:sym typeface="Cambria"/>
              </a:rPr>
              <a:t>Enhancing skills and knowledge of members</a:t>
            </a:r>
            <a:endParaRPr b="0" i="0" sz="1400" u="none" cap="none" strike="noStrike">
              <a:solidFill>
                <a:srgbClr val="000000"/>
              </a:solidFill>
              <a:latin typeface="Cambria"/>
              <a:ea typeface="Cambria"/>
              <a:cs typeface="Cambria"/>
              <a:sym typeface="Cambria"/>
            </a:endParaRPr>
          </a:p>
        </p:txBody>
      </p:sp>
      <p:sp>
        <p:nvSpPr>
          <p:cNvPr id="203" name="Google Shape;203;p9"/>
          <p:cNvSpPr txBox="1"/>
          <p:nvPr/>
        </p:nvSpPr>
        <p:spPr>
          <a:xfrm>
            <a:off x="13952193" y="4353422"/>
            <a:ext cx="2843700" cy="4629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200"/>
              <a:buFont typeface="Arial"/>
              <a:buNone/>
            </a:pPr>
            <a:r>
              <a:rPr b="1" i="0" lang="en-US" sz="3200" u="none" cap="none" strike="noStrike">
                <a:solidFill>
                  <a:srgbClr val="000000"/>
                </a:solidFill>
                <a:latin typeface="Cambria"/>
                <a:ea typeface="Cambria"/>
                <a:cs typeface="Cambria"/>
                <a:sym typeface="Cambria"/>
              </a:rPr>
              <a:t>Data recording and reporting,</a:t>
            </a:r>
            <a:endParaRPr b="0" i="0" sz="1400" u="none" cap="none" strike="noStrike">
              <a:solidFill>
                <a:srgbClr val="000000"/>
              </a:solidFill>
              <a:latin typeface="Cambria"/>
              <a:ea typeface="Cambria"/>
              <a:cs typeface="Cambria"/>
              <a:sym typeface="Cambria"/>
            </a:endParaRPr>
          </a:p>
          <a:p>
            <a:pPr indent="0" lvl="0" marL="0" marR="0" rtl="0" algn="just">
              <a:lnSpc>
                <a:spcPct val="140000"/>
              </a:lnSpc>
              <a:spcBef>
                <a:spcPts val="0"/>
              </a:spcBef>
              <a:spcAft>
                <a:spcPts val="0"/>
              </a:spcAft>
              <a:buClr>
                <a:srgbClr val="000000"/>
              </a:buClr>
              <a:buSzPts val="3200"/>
              <a:buFont typeface="Arial"/>
              <a:buNone/>
            </a:pPr>
            <a:r>
              <a:rPr b="1" i="0" lang="en-US" sz="3200" u="none" cap="none" strike="noStrike">
                <a:solidFill>
                  <a:srgbClr val="000000"/>
                </a:solidFill>
                <a:latin typeface="Cambria"/>
                <a:ea typeface="Cambria"/>
                <a:cs typeface="Cambria"/>
                <a:sym typeface="Cambria"/>
              </a:rPr>
              <a:t>Continual oversight, course correction</a:t>
            </a:r>
            <a:endParaRPr b="0" i="0" sz="1400" u="none" cap="none" strike="noStrike">
              <a:solidFill>
                <a:srgbClr val="000000"/>
              </a:solidFill>
              <a:latin typeface="Cambria"/>
              <a:ea typeface="Cambria"/>
              <a:cs typeface="Cambria"/>
              <a:sym typeface="Cambria"/>
            </a:endParaRPr>
          </a:p>
          <a:p>
            <a:pPr indent="0" lvl="0" marL="0" marR="0" rtl="0" algn="just">
              <a:lnSpc>
                <a:spcPct val="140000"/>
              </a:lnSpc>
              <a:spcBef>
                <a:spcPts val="0"/>
              </a:spcBef>
              <a:spcAft>
                <a:spcPts val="0"/>
              </a:spcAft>
              <a:buClr>
                <a:srgbClr val="000000"/>
              </a:buClr>
              <a:buSzPts val="3200"/>
              <a:buFont typeface="Arial"/>
              <a:buNone/>
            </a:pPr>
            <a:r>
              <a:t/>
            </a:r>
            <a:endParaRPr b="1" i="0" sz="3200" u="none" cap="none" strike="noStrike">
              <a:solidFill>
                <a:srgbClr val="000000"/>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207" name="Shape 207"/>
        <p:cNvGrpSpPr/>
        <p:nvPr/>
      </p:nvGrpSpPr>
      <p:grpSpPr>
        <a:xfrm>
          <a:off x="0" y="0"/>
          <a:ext cx="0" cy="0"/>
          <a:chOff x="0" y="0"/>
          <a:chExt cx="0" cy="0"/>
        </a:xfrm>
      </p:grpSpPr>
      <p:sp>
        <p:nvSpPr>
          <p:cNvPr id="208" name="Google Shape;208;p10"/>
          <p:cNvSpPr txBox="1"/>
          <p:nvPr/>
        </p:nvSpPr>
        <p:spPr>
          <a:xfrm>
            <a:off x="1442261" y="7790782"/>
            <a:ext cx="2726630" cy="1082635"/>
          </a:xfrm>
          <a:prstGeom prst="rect">
            <a:avLst/>
          </a:prstGeom>
          <a:noFill/>
          <a:ln>
            <a:noFill/>
          </a:ln>
        </p:spPr>
        <p:txBody>
          <a:bodyPr anchorCtr="0" anchor="t" bIns="0" lIns="0" spcFirstLastPara="1" rIns="0" wrap="square" tIns="0">
            <a:spAutoFit/>
          </a:bodyPr>
          <a:lstStyle/>
          <a:p>
            <a:pPr indent="0" lvl="0" marL="0" marR="0" rtl="0" algn="ctr">
              <a:lnSpc>
                <a:spcPct val="137974"/>
              </a:lnSpc>
              <a:spcBef>
                <a:spcPts val="0"/>
              </a:spcBef>
              <a:spcAft>
                <a:spcPts val="0"/>
              </a:spcAft>
              <a:buClr>
                <a:srgbClr val="000000"/>
              </a:buClr>
              <a:buSzPts val="2133"/>
              <a:buFont typeface="Arial"/>
              <a:buNone/>
            </a:pPr>
            <a:r>
              <a:rPr b="0" i="0" lang="en-US" sz="2133" u="none" cap="none" strike="noStrike">
                <a:solidFill>
                  <a:srgbClr val="FFFFFF"/>
                </a:solidFill>
                <a:latin typeface="DM Sans"/>
                <a:ea typeface="DM Sans"/>
                <a:cs typeface="DM Sans"/>
                <a:sym typeface="DM Sans"/>
              </a:rPr>
              <a:t>Write another activity, deadline or milestone here.</a:t>
            </a:r>
            <a:endParaRPr b="0" i="0" sz="1400" u="none" cap="none" strike="noStrike">
              <a:solidFill>
                <a:srgbClr val="000000"/>
              </a:solidFill>
              <a:latin typeface="Arial"/>
              <a:ea typeface="Arial"/>
              <a:cs typeface="Arial"/>
              <a:sym typeface="Arial"/>
            </a:endParaRPr>
          </a:p>
        </p:txBody>
      </p:sp>
      <p:sp>
        <p:nvSpPr>
          <p:cNvPr id="209" name="Google Shape;209;p10"/>
          <p:cNvSpPr txBox="1"/>
          <p:nvPr/>
        </p:nvSpPr>
        <p:spPr>
          <a:xfrm>
            <a:off x="1442261" y="7291466"/>
            <a:ext cx="2726630" cy="451870"/>
          </a:xfrm>
          <a:prstGeom prst="rect">
            <a:avLst/>
          </a:prstGeom>
          <a:noFill/>
          <a:ln>
            <a:noFill/>
          </a:ln>
        </p:spPr>
        <p:txBody>
          <a:bodyPr anchorCtr="0" anchor="t" bIns="0" lIns="0" spcFirstLastPara="1" rIns="0" wrap="square" tIns="0">
            <a:spAutoFit/>
          </a:bodyPr>
          <a:lstStyle/>
          <a:p>
            <a:pPr indent="0" lvl="0" marL="0" marR="0" rtl="0" algn="ctr">
              <a:lnSpc>
                <a:spcPct val="137980"/>
              </a:lnSpc>
              <a:spcBef>
                <a:spcPts val="0"/>
              </a:spcBef>
              <a:spcAft>
                <a:spcPts val="0"/>
              </a:spcAft>
              <a:buClr>
                <a:srgbClr val="000000"/>
              </a:buClr>
              <a:buSzPts val="2733"/>
              <a:buFont typeface="Arial"/>
              <a:buNone/>
            </a:pPr>
            <a:r>
              <a:rPr b="1" i="0" lang="en-US" sz="2733" u="none" cap="none" strike="noStrike">
                <a:solidFill>
                  <a:srgbClr val="FFFFFF"/>
                </a:solidFill>
                <a:latin typeface="DM Sans"/>
                <a:ea typeface="DM Sans"/>
                <a:cs typeface="DM Sans"/>
                <a:sym typeface="DM Sans"/>
              </a:rPr>
              <a:t>January</a:t>
            </a:r>
            <a:endParaRPr b="0" i="0" sz="1400" u="none" cap="none" strike="noStrike">
              <a:solidFill>
                <a:srgbClr val="000000"/>
              </a:solidFill>
              <a:latin typeface="Arial"/>
              <a:ea typeface="Arial"/>
              <a:cs typeface="Arial"/>
              <a:sym typeface="Arial"/>
            </a:endParaRPr>
          </a:p>
        </p:txBody>
      </p:sp>
      <p:sp>
        <p:nvSpPr>
          <p:cNvPr id="210" name="Google Shape;210;p10"/>
          <p:cNvSpPr/>
          <p:nvPr/>
        </p:nvSpPr>
        <p:spPr>
          <a:xfrm>
            <a:off x="2381021" y="6483019"/>
            <a:ext cx="849110" cy="827496"/>
          </a:xfrm>
          <a:custGeom>
            <a:rect b="b" l="l" r="r" t="t"/>
            <a:pathLst>
              <a:path extrusionOk="0" h="827496" w="849110">
                <a:moveTo>
                  <a:pt x="0" y="0"/>
                </a:moveTo>
                <a:lnTo>
                  <a:pt x="849110" y="0"/>
                </a:lnTo>
                <a:lnTo>
                  <a:pt x="849110" y="827497"/>
                </a:lnTo>
                <a:lnTo>
                  <a:pt x="0" y="827497"/>
                </a:lnTo>
                <a:lnTo>
                  <a:pt x="0" y="0"/>
                </a:lnTo>
                <a:close/>
              </a:path>
            </a:pathLst>
          </a:custGeom>
          <a:blipFill rotWithShape="1">
            <a:blip r:embed="rId3">
              <a:alphaModFix/>
            </a:blip>
            <a:stretch>
              <a:fillRect b="0" l="0" r="0" t="0"/>
            </a:stretch>
          </a:blipFill>
          <a:ln>
            <a:noFill/>
          </a:ln>
        </p:spPr>
      </p:sp>
      <p:sp>
        <p:nvSpPr>
          <p:cNvPr id="211" name="Google Shape;211;p10"/>
          <p:cNvSpPr/>
          <p:nvPr/>
        </p:nvSpPr>
        <p:spPr>
          <a:xfrm>
            <a:off x="15173525" y="6460202"/>
            <a:ext cx="682965" cy="813054"/>
          </a:xfrm>
          <a:custGeom>
            <a:rect b="b" l="l" r="r" t="t"/>
            <a:pathLst>
              <a:path extrusionOk="0" h="813054" w="682965">
                <a:moveTo>
                  <a:pt x="0" y="0"/>
                </a:moveTo>
                <a:lnTo>
                  <a:pt x="682966" y="0"/>
                </a:lnTo>
                <a:lnTo>
                  <a:pt x="682966" y="813054"/>
                </a:lnTo>
                <a:lnTo>
                  <a:pt x="0" y="813054"/>
                </a:lnTo>
                <a:lnTo>
                  <a:pt x="0" y="0"/>
                </a:lnTo>
                <a:close/>
              </a:path>
            </a:pathLst>
          </a:custGeom>
          <a:blipFill rotWithShape="1">
            <a:blip r:embed="rId4">
              <a:alphaModFix/>
            </a:blip>
            <a:stretch>
              <a:fillRect b="0" l="0" r="0" t="0"/>
            </a:stretch>
          </a:blipFill>
          <a:ln>
            <a:noFill/>
          </a:ln>
        </p:spPr>
      </p:sp>
      <p:sp>
        <p:nvSpPr>
          <p:cNvPr id="212" name="Google Shape;212;p10"/>
          <p:cNvSpPr/>
          <p:nvPr/>
        </p:nvSpPr>
        <p:spPr>
          <a:xfrm>
            <a:off x="8722918" y="6440114"/>
            <a:ext cx="889451" cy="889451"/>
          </a:xfrm>
          <a:custGeom>
            <a:rect b="b" l="l" r="r" t="t"/>
            <a:pathLst>
              <a:path extrusionOk="0" h="889451" w="889451">
                <a:moveTo>
                  <a:pt x="0" y="0"/>
                </a:moveTo>
                <a:lnTo>
                  <a:pt x="889452" y="0"/>
                </a:lnTo>
                <a:lnTo>
                  <a:pt x="889452" y="889452"/>
                </a:lnTo>
                <a:lnTo>
                  <a:pt x="0" y="889452"/>
                </a:lnTo>
                <a:lnTo>
                  <a:pt x="0" y="0"/>
                </a:lnTo>
                <a:close/>
              </a:path>
            </a:pathLst>
          </a:custGeom>
          <a:blipFill rotWithShape="1">
            <a:blip r:embed="rId5">
              <a:alphaModFix/>
            </a:blip>
            <a:stretch>
              <a:fillRect b="0" l="0" r="0" t="0"/>
            </a:stretch>
          </a:blipFill>
          <a:ln>
            <a:noFill/>
          </a:ln>
        </p:spPr>
      </p:sp>
      <p:sp>
        <p:nvSpPr>
          <p:cNvPr id="213" name="Google Shape;213;p10"/>
          <p:cNvSpPr/>
          <p:nvPr/>
        </p:nvSpPr>
        <p:spPr>
          <a:xfrm>
            <a:off x="5502171" y="6422942"/>
            <a:ext cx="899016" cy="887574"/>
          </a:xfrm>
          <a:custGeom>
            <a:rect b="b" l="l" r="r" t="t"/>
            <a:pathLst>
              <a:path extrusionOk="0" h="887574" w="899016">
                <a:moveTo>
                  <a:pt x="0" y="0"/>
                </a:moveTo>
                <a:lnTo>
                  <a:pt x="899016" y="0"/>
                </a:lnTo>
                <a:lnTo>
                  <a:pt x="899016" y="887574"/>
                </a:lnTo>
                <a:lnTo>
                  <a:pt x="0" y="887574"/>
                </a:lnTo>
                <a:lnTo>
                  <a:pt x="0" y="0"/>
                </a:lnTo>
                <a:close/>
              </a:path>
            </a:pathLst>
          </a:custGeom>
          <a:blipFill rotWithShape="1">
            <a:blip r:embed="rId6">
              <a:alphaModFix/>
            </a:blip>
            <a:stretch>
              <a:fillRect b="0" l="0" r="0" t="0"/>
            </a:stretch>
          </a:blipFill>
          <a:ln>
            <a:noFill/>
          </a:ln>
        </p:spPr>
      </p:sp>
      <p:sp>
        <p:nvSpPr>
          <p:cNvPr id="214" name="Google Shape;214;p10"/>
          <p:cNvSpPr/>
          <p:nvPr/>
        </p:nvSpPr>
        <p:spPr>
          <a:xfrm>
            <a:off x="11952979" y="6422942"/>
            <a:ext cx="788162" cy="922318"/>
          </a:xfrm>
          <a:custGeom>
            <a:rect b="b" l="l" r="r" t="t"/>
            <a:pathLst>
              <a:path extrusionOk="0" h="922318" w="788162">
                <a:moveTo>
                  <a:pt x="0" y="0"/>
                </a:moveTo>
                <a:lnTo>
                  <a:pt x="788162" y="0"/>
                </a:lnTo>
                <a:lnTo>
                  <a:pt x="788162" y="922317"/>
                </a:lnTo>
                <a:lnTo>
                  <a:pt x="0" y="922317"/>
                </a:lnTo>
                <a:lnTo>
                  <a:pt x="0" y="0"/>
                </a:lnTo>
                <a:close/>
              </a:path>
            </a:pathLst>
          </a:custGeom>
          <a:blipFill rotWithShape="1">
            <a:blip r:embed="rId7">
              <a:alphaModFix/>
            </a:blip>
            <a:stretch>
              <a:fillRect b="0" l="0" r="0" t="0"/>
            </a:stretch>
          </a:blipFill>
          <a:ln>
            <a:noFill/>
          </a:ln>
        </p:spPr>
      </p:sp>
      <p:sp>
        <p:nvSpPr>
          <p:cNvPr id="215" name="Google Shape;215;p10"/>
          <p:cNvSpPr txBox="1"/>
          <p:nvPr/>
        </p:nvSpPr>
        <p:spPr>
          <a:xfrm>
            <a:off x="4593705" y="7811231"/>
            <a:ext cx="2726630" cy="1082635"/>
          </a:xfrm>
          <a:prstGeom prst="rect">
            <a:avLst/>
          </a:prstGeom>
          <a:noFill/>
          <a:ln>
            <a:noFill/>
          </a:ln>
        </p:spPr>
        <p:txBody>
          <a:bodyPr anchorCtr="0" anchor="t" bIns="0" lIns="0" spcFirstLastPara="1" rIns="0" wrap="square" tIns="0">
            <a:spAutoFit/>
          </a:bodyPr>
          <a:lstStyle/>
          <a:p>
            <a:pPr indent="0" lvl="0" marL="0" marR="0" rtl="0" algn="ctr">
              <a:lnSpc>
                <a:spcPct val="137974"/>
              </a:lnSpc>
              <a:spcBef>
                <a:spcPts val="0"/>
              </a:spcBef>
              <a:spcAft>
                <a:spcPts val="0"/>
              </a:spcAft>
              <a:buClr>
                <a:srgbClr val="000000"/>
              </a:buClr>
              <a:buSzPts val="2133"/>
              <a:buFont typeface="Arial"/>
              <a:buNone/>
            </a:pPr>
            <a:r>
              <a:rPr b="0" i="0" lang="en-US" sz="2133" u="none" cap="none" strike="noStrike">
                <a:solidFill>
                  <a:srgbClr val="FFFFFF"/>
                </a:solidFill>
                <a:latin typeface="DM Sans"/>
                <a:ea typeface="DM Sans"/>
                <a:cs typeface="DM Sans"/>
                <a:sym typeface="DM Sans"/>
              </a:rPr>
              <a:t>Write another activity, deadline or milestone here.</a:t>
            </a:r>
            <a:endParaRPr b="0" i="0" sz="1400" u="none" cap="none" strike="noStrike">
              <a:solidFill>
                <a:srgbClr val="000000"/>
              </a:solidFill>
              <a:latin typeface="Arial"/>
              <a:ea typeface="Arial"/>
              <a:cs typeface="Arial"/>
              <a:sym typeface="Arial"/>
            </a:endParaRPr>
          </a:p>
        </p:txBody>
      </p:sp>
      <p:sp>
        <p:nvSpPr>
          <p:cNvPr id="216" name="Google Shape;216;p10"/>
          <p:cNvSpPr txBox="1"/>
          <p:nvPr/>
        </p:nvSpPr>
        <p:spPr>
          <a:xfrm>
            <a:off x="4593705" y="7311915"/>
            <a:ext cx="2726630" cy="451870"/>
          </a:xfrm>
          <a:prstGeom prst="rect">
            <a:avLst/>
          </a:prstGeom>
          <a:noFill/>
          <a:ln>
            <a:noFill/>
          </a:ln>
        </p:spPr>
        <p:txBody>
          <a:bodyPr anchorCtr="0" anchor="t" bIns="0" lIns="0" spcFirstLastPara="1" rIns="0" wrap="square" tIns="0">
            <a:spAutoFit/>
          </a:bodyPr>
          <a:lstStyle/>
          <a:p>
            <a:pPr indent="0" lvl="0" marL="0" marR="0" rtl="0" algn="ctr">
              <a:lnSpc>
                <a:spcPct val="137980"/>
              </a:lnSpc>
              <a:spcBef>
                <a:spcPts val="0"/>
              </a:spcBef>
              <a:spcAft>
                <a:spcPts val="0"/>
              </a:spcAft>
              <a:buClr>
                <a:srgbClr val="000000"/>
              </a:buClr>
              <a:buSzPts val="2733"/>
              <a:buFont typeface="Arial"/>
              <a:buNone/>
            </a:pPr>
            <a:r>
              <a:rPr b="1" i="0" lang="en-US" sz="2733" u="none" cap="none" strike="noStrike">
                <a:solidFill>
                  <a:srgbClr val="FFFFFF"/>
                </a:solidFill>
                <a:latin typeface="DM Sans"/>
                <a:ea typeface="DM Sans"/>
                <a:cs typeface="DM Sans"/>
                <a:sym typeface="DM Sans"/>
              </a:rPr>
              <a:t>March</a:t>
            </a:r>
            <a:endParaRPr b="0" i="0" sz="1400" u="none" cap="none" strike="noStrike">
              <a:solidFill>
                <a:srgbClr val="000000"/>
              </a:solidFill>
              <a:latin typeface="Arial"/>
              <a:ea typeface="Arial"/>
              <a:cs typeface="Arial"/>
              <a:sym typeface="Arial"/>
            </a:endParaRPr>
          </a:p>
        </p:txBody>
      </p:sp>
      <p:sp>
        <p:nvSpPr>
          <p:cNvPr id="217" name="Google Shape;217;p10"/>
          <p:cNvSpPr txBox="1"/>
          <p:nvPr/>
        </p:nvSpPr>
        <p:spPr>
          <a:xfrm>
            <a:off x="7819200" y="7811231"/>
            <a:ext cx="2726630" cy="1082635"/>
          </a:xfrm>
          <a:prstGeom prst="rect">
            <a:avLst/>
          </a:prstGeom>
          <a:noFill/>
          <a:ln>
            <a:noFill/>
          </a:ln>
        </p:spPr>
        <p:txBody>
          <a:bodyPr anchorCtr="0" anchor="t" bIns="0" lIns="0" spcFirstLastPara="1" rIns="0" wrap="square" tIns="0">
            <a:spAutoFit/>
          </a:bodyPr>
          <a:lstStyle/>
          <a:p>
            <a:pPr indent="0" lvl="0" marL="0" marR="0" rtl="0" algn="ctr">
              <a:lnSpc>
                <a:spcPct val="137974"/>
              </a:lnSpc>
              <a:spcBef>
                <a:spcPts val="0"/>
              </a:spcBef>
              <a:spcAft>
                <a:spcPts val="0"/>
              </a:spcAft>
              <a:buClr>
                <a:srgbClr val="000000"/>
              </a:buClr>
              <a:buSzPts val="2133"/>
              <a:buFont typeface="Arial"/>
              <a:buNone/>
            </a:pPr>
            <a:r>
              <a:rPr b="0" i="0" lang="en-US" sz="2133" u="none" cap="none" strike="noStrike">
                <a:solidFill>
                  <a:srgbClr val="FFFFFF"/>
                </a:solidFill>
                <a:latin typeface="DM Sans"/>
                <a:ea typeface="DM Sans"/>
                <a:cs typeface="DM Sans"/>
                <a:sym typeface="DM Sans"/>
              </a:rPr>
              <a:t>Write another activity, deadline or milestone here.</a:t>
            </a:r>
            <a:endParaRPr b="0" i="0" sz="1400" u="none" cap="none" strike="noStrike">
              <a:solidFill>
                <a:srgbClr val="000000"/>
              </a:solidFill>
              <a:latin typeface="Arial"/>
              <a:ea typeface="Arial"/>
              <a:cs typeface="Arial"/>
              <a:sym typeface="Arial"/>
            </a:endParaRPr>
          </a:p>
        </p:txBody>
      </p:sp>
      <p:sp>
        <p:nvSpPr>
          <p:cNvPr id="218" name="Google Shape;218;p10"/>
          <p:cNvSpPr txBox="1"/>
          <p:nvPr/>
        </p:nvSpPr>
        <p:spPr>
          <a:xfrm>
            <a:off x="7819200" y="7311915"/>
            <a:ext cx="2726630" cy="451870"/>
          </a:xfrm>
          <a:prstGeom prst="rect">
            <a:avLst/>
          </a:prstGeom>
          <a:noFill/>
          <a:ln>
            <a:noFill/>
          </a:ln>
        </p:spPr>
        <p:txBody>
          <a:bodyPr anchorCtr="0" anchor="t" bIns="0" lIns="0" spcFirstLastPara="1" rIns="0" wrap="square" tIns="0">
            <a:spAutoFit/>
          </a:bodyPr>
          <a:lstStyle/>
          <a:p>
            <a:pPr indent="0" lvl="0" marL="0" marR="0" rtl="0" algn="ctr">
              <a:lnSpc>
                <a:spcPct val="137980"/>
              </a:lnSpc>
              <a:spcBef>
                <a:spcPts val="0"/>
              </a:spcBef>
              <a:spcAft>
                <a:spcPts val="0"/>
              </a:spcAft>
              <a:buClr>
                <a:srgbClr val="000000"/>
              </a:buClr>
              <a:buSzPts val="2733"/>
              <a:buFont typeface="Arial"/>
              <a:buNone/>
            </a:pPr>
            <a:r>
              <a:rPr b="1" i="0" lang="en-US" sz="2733" u="none" cap="none" strike="noStrike">
                <a:solidFill>
                  <a:srgbClr val="FFFFFF"/>
                </a:solidFill>
                <a:latin typeface="DM Sans"/>
                <a:ea typeface="DM Sans"/>
                <a:cs typeface="DM Sans"/>
                <a:sym typeface="DM Sans"/>
              </a:rPr>
              <a:t>May</a:t>
            </a:r>
            <a:endParaRPr b="0" i="0" sz="1400" u="none" cap="none" strike="noStrike">
              <a:solidFill>
                <a:srgbClr val="000000"/>
              </a:solidFill>
              <a:latin typeface="Arial"/>
              <a:ea typeface="Arial"/>
              <a:cs typeface="Arial"/>
              <a:sym typeface="Arial"/>
            </a:endParaRPr>
          </a:p>
        </p:txBody>
      </p:sp>
      <p:sp>
        <p:nvSpPr>
          <p:cNvPr id="219" name="Google Shape;219;p10"/>
          <p:cNvSpPr txBox="1"/>
          <p:nvPr/>
        </p:nvSpPr>
        <p:spPr>
          <a:xfrm>
            <a:off x="10983745" y="7811231"/>
            <a:ext cx="2726630" cy="1082635"/>
          </a:xfrm>
          <a:prstGeom prst="rect">
            <a:avLst/>
          </a:prstGeom>
          <a:noFill/>
          <a:ln>
            <a:noFill/>
          </a:ln>
        </p:spPr>
        <p:txBody>
          <a:bodyPr anchorCtr="0" anchor="t" bIns="0" lIns="0" spcFirstLastPara="1" rIns="0" wrap="square" tIns="0">
            <a:spAutoFit/>
          </a:bodyPr>
          <a:lstStyle/>
          <a:p>
            <a:pPr indent="0" lvl="0" marL="0" marR="0" rtl="0" algn="ctr">
              <a:lnSpc>
                <a:spcPct val="137974"/>
              </a:lnSpc>
              <a:spcBef>
                <a:spcPts val="0"/>
              </a:spcBef>
              <a:spcAft>
                <a:spcPts val="0"/>
              </a:spcAft>
              <a:buClr>
                <a:srgbClr val="000000"/>
              </a:buClr>
              <a:buSzPts val="2133"/>
              <a:buFont typeface="Arial"/>
              <a:buNone/>
            </a:pPr>
            <a:r>
              <a:rPr b="0" i="0" lang="en-US" sz="2133" u="none" cap="none" strike="noStrike">
                <a:solidFill>
                  <a:srgbClr val="FFFFFF"/>
                </a:solidFill>
                <a:latin typeface="DM Sans"/>
                <a:ea typeface="DM Sans"/>
                <a:cs typeface="DM Sans"/>
                <a:sym typeface="DM Sans"/>
              </a:rPr>
              <a:t>Write another activity, deadline or milestone here.</a:t>
            </a:r>
            <a:endParaRPr b="0" i="0" sz="1400" u="none" cap="none" strike="noStrike">
              <a:solidFill>
                <a:srgbClr val="000000"/>
              </a:solidFill>
              <a:latin typeface="Arial"/>
              <a:ea typeface="Arial"/>
              <a:cs typeface="Arial"/>
              <a:sym typeface="Arial"/>
            </a:endParaRPr>
          </a:p>
        </p:txBody>
      </p:sp>
      <p:sp>
        <p:nvSpPr>
          <p:cNvPr id="220" name="Google Shape;220;p10"/>
          <p:cNvSpPr txBox="1"/>
          <p:nvPr/>
        </p:nvSpPr>
        <p:spPr>
          <a:xfrm>
            <a:off x="10983745" y="7311915"/>
            <a:ext cx="2726630" cy="451870"/>
          </a:xfrm>
          <a:prstGeom prst="rect">
            <a:avLst/>
          </a:prstGeom>
          <a:noFill/>
          <a:ln>
            <a:noFill/>
          </a:ln>
        </p:spPr>
        <p:txBody>
          <a:bodyPr anchorCtr="0" anchor="t" bIns="0" lIns="0" spcFirstLastPara="1" rIns="0" wrap="square" tIns="0">
            <a:spAutoFit/>
          </a:bodyPr>
          <a:lstStyle/>
          <a:p>
            <a:pPr indent="0" lvl="0" marL="0" marR="0" rtl="0" algn="ctr">
              <a:lnSpc>
                <a:spcPct val="137980"/>
              </a:lnSpc>
              <a:spcBef>
                <a:spcPts val="0"/>
              </a:spcBef>
              <a:spcAft>
                <a:spcPts val="0"/>
              </a:spcAft>
              <a:buClr>
                <a:srgbClr val="000000"/>
              </a:buClr>
              <a:buSzPts val="2733"/>
              <a:buFont typeface="Arial"/>
              <a:buNone/>
            </a:pPr>
            <a:r>
              <a:rPr b="1" i="0" lang="en-US" sz="2733" u="none" cap="none" strike="noStrike">
                <a:solidFill>
                  <a:srgbClr val="FFFFFF"/>
                </a:solidFill>
                <a:latin typeface="DM Sans"/>
                <a:ea typeface="DM Sans"/>
                <a:cs typeface="DM Sans"/>
                <a:sym typeface="DM Sans"/>
              </a:rPr>
              <a:t>July</a:t>
            </a:r>
            <a:endParaRPr b="0" i="0" sz="1400" u="none" cap="none" strike="noStrike">
              <a:solidFill>
                <a:srgbClr val="000000"/>
              </a:solidFill>
              <a:latin typeface="Arial"/>
              <a:ea typeface="Arial"/>
              <a:cs typeface="Arial"/>
              <a:sym typeface="Arial"/>
            </a:endParaRPr>
          </a:p>
        </p:txBody>
      </p:sp>
      <p:sp>
        <p:nvSpPr>
          <p:cNvPr id="221" name="Google Shape;221;p10"/>
          <p:cNvSpPr txBox="1"/>
          <p:nvPr/>
        </p:nvSpPr>
        <p:spPr>
          <a:xfrm>
            <a:off x="14151693" y="7811231"/>
            <a:ext cx="2726630" cy="1082635"/>
          </a:xfrm>
          <a:prstGeom prst="rect">
            <a:avLst/>
          </a:prstGeom>
          <a:noFill/>
          <a:ln>
            <a:noFill/>
          </a:ln>
        </p:spPr>
        <p:txBody>
          <a:bodyPr anchorCtr="0" anchor="t" bIns="0" lIns="0" spcFirstLastPara="1" rIns="0" wrap="square" tIns="0">
            <a:spAutoFit/>
          </a:bodyPr>
          <a:lstStyle/>
          <a:p>
            <a:pPr indent="0" lvl="0" marL="0" marR="0" rtl="0" algn="ctr">
              <a:lnSpc>
                <a:spcPct val="137974"/>
              </a:lnSpc>
              <a:spcBef>
                <a:spcPts val="0"/>
              </a:spcBef>
              <a:spcAft>
                <a:spcPts val="0"/>
              </a:spcAft>
              <a:buClr>
                <a:srgbClr val="000000"/>
              </a:buClr>
              <a:buSzPts val="2133"/>
              <a:buFont typeface="Arial"/>
              <a:buNone/>
            </a:pPr>
            <a:r>
              <a:rPr b="0" i="0" lang="en-US" sz="2133" u="none" cap="none" strike="noStrike">
                <a:solidFill>
                  <a:srgbClr val="FFFFFF"/>
                </a:solidFill>
                <a:latin typeface="DM Sans"/>
                <a:ea typeface="DM Sans"/>
                <a:cs typeface="DM Sans"/>
                <a:sym typeface="DM Sans"/>
              </a:rPr>
              <a:t>Write another activity, deadline or milestone here.</a:t>
            </a:r>
            <a:endParaRPr b="0" i="0" sz="1400" u="none" cap="none" strike="noStrike">
              <a:solidFill>
                <a:srgbClr val="000000"/>
              </a:solidFill>
              <a:latin typeface="Arial"/>
              <a:ea typeface="Arial"/>
              <a:cs typeface="Arial"/>
              <a:sym typeface="Arial"/>
            </a:endParaRPr>
          </a:p>
        </p:txBody>
      </p:sp>
      <p:sp>
        <p:nvSpPr>
          <p:cNvPr id="222" name="Google Shape;222;p10"/>
          <p:cNvSpPr txBox="1"/>
          <p:nvPr/>
        </p:nvSpPr>
        <p:spPr>
          <a:xfrm>
            <a:off x="14151693" y="7311915"/>
            <a:ext cx="2726630" cy="451870"/>
          </a:xfrm>
          <a:prstGeom prst="rect">
            <a:avLst/>
          </a:prstGeom>
          <a:noFill/>
          <a:ln>
            <a:noFill/>
          </a:ln>
        </p:spPr>
        <p:txBody>
          <a:bodyPr anchorCtr="0" anchor="t" bIns="0" lIns="0" spcFirstLastPara="1" rIns="0" wrap="square" tIns="0">
            <a:spAutoFit/>
          </a:bodyPr>
          <a:lstStyle/>
          <a:p>
            <a:pPr indent="0" lvl="0" marL="0" marR="0" rtl="0" algn="ctr">
              <a:lnSpc>
                <a:spcPct val="137980"/>
              </a:lnSpc>
              <a:spcBef>
                <a:spcPts val="0"/>
              </a:spcBef>
              <a:spcAft>
                <a:spcPts val="0"/>
              </a:spcAft>
              <a:buClr>
                <a:srgbClr val="000000"/>
              </a:buClr>
              <a:buSzPts val="2733"/>
              <a:buFont typeface="Arial"/>
              <a:buNone/>
            </a:pPr>
            <a:r>
              <a:rPr b="1" i="0" lang="en-US" sz="2733" u="none" cap="none" strike="noStrike">
                <a:solidFill>
                  <a:srgbClr val="FFFFFF"/>
                </a:solidFill>
                <a:latin typeface="DM Sans"/>
                <a:ea typeface="DM Sans"/>
                <a:cs typeface="DM Sans"/>
                <a:sym typeface="DM Sans"/>
              </a:rPr>
              <a:t>August</a:t>
            </a:r>
            <a:endParaRPr b="0" i="0" sz="1400" u="none" cap="none" strike="noStrike">
              <a:solidFill>
                <a:srgbClr val="000000"/>
              </a:solidFill>
              <a:latin typeface="Arial"/>
              <a:ea typeface="Arial"/>
              <a:cs typeface="Arial"/>
              <a:sym typeface="Arial"/>
            </a:endParaRPr>
          </a:p>
        </p:txBody>
      </p:sp>
      <p:sp>
        <p:nvSpPr>
          <p:cNvPr id="223" name="Google Shape;223;p10"/>
          <p:cNvSpPr txBox="1"/>
          <p:nvPr/>
        </p:nvSpPr>
        <p:spPr>
          <a:xfrm>
            <a:off x="375450" y="2088975"/>
            <a:ext cx="17537100" cy="7236000"/>
          </a:xfrm>
          <a:prstGeom prst="rect">
            <a:avLst/>
          </a:prstGeom>
          <a:noFill/>
          <a:ln>
            <a:noFill/>
          </a:ln>
        </p:spPr>
        <p:txBody>
          <a:bodyPr anchorCtr="0" anchor="t" bIns="0" lIns="0" spcFirstLastPara="1" rIns="0" wrap="square" tIns="0">
            <a:spAutoFit/>
          </a:bodyPr>
          <a:lstStyle/>
          <a:p>
            <a:pPr indent="-293048" lvl="1" marL="586096" marR="0" rtl="0" algn="l">
              <a:lnSpc>
                <a:spcPct val="204016"/>
              </a:lnSpc>
              <a:spcBef>
                <a:spcPts val="0"/>
              </a:spcBef>
              <a:spcAft>
                <a:spcPts val="0"/>
              </a:spcAft>
              <a:buClr>
                <a:srgbClr val="000000"/>
              </a:buClr>
              <a:buSzPts val="2714"/>
              <a:buFont typeface="Cambria"/>
              <a:buChar char="•"/>
            </a:pPr>
            <a:r>
              <a:rPr b="1" lang="en-US" sz="2714">
                <a:latin typeface="Cambria"/>
                <a:ea typeface="Cambria"/>
                <a:cs typeface="Cambria"/>
                <a:sym typeface="Cambria"/>
              </a:rPr>
              <a:t>Orientation of the VO and CLFs on the Lakhpati Didi Programme as per the training plan given by BPM/CLF</a:t>
            </a:r>
            <a:endParaRPr b="1" sz="2714">
              <a:latin typeface="Cambria"/>
              <a:ea typeface="Cambria"/>
              <a:cs typeface="Cambria"/>
              <a:sym typeface="Cambria"/>
            </a:endParaRPr>
          </a:p>
          <a:p>
            <a:pPr indent="-293048" lvl="1" marL="586096" marR="0" rtl="0" algn="l">
              <a:lnSpc>
                <a:spcPct val="204016"/>
              </a:lnSpc>
              <a:spcBef>
                <a:spcPts val="0"/>
              </a:spcBef>
              <a:spcAft>
                <a:spcPts val="0"/>
              </a:spcAft>
              <a:buClr>
                <a:srgbClr val="000000"/>
              </a:buClr>
              <a:buSzPts val="2714"/>
              <a:buFont typeface="Cambria"/>
              <a:buChar char="•"/>
            </a:pPr>
            <a:r>
              <a:rPr b="1" lang="en-US" sz="2714">
                <a:latin typeface="Cambria"/>
                <a:ea typeface="Cambria"/>
                <a:cs typeface="Cambria"/>
                <a:sym typeface="Cambria"/>
              </a:rPr>
              <a:t>Conduct 2 days training of potential Lakhpati Didis and facilitate in preparation of </a:t>
            </a:r>
            <a:r>
              <a:rPr b="1" i="0" lang="en-US" sz="2714" u="none" cap="none" strike="noStrike">
                <a:solidFill>
                  <a:srgbClr val="000000"/>
                </a:solidFill>
                <a:latin typeface="Cambria"/>
                <a:ea typeface="Cambria"/>
                <a:cs typeface="Cambria"/>
                <a:sym typeface="Cambria"/>
              </a:rPr>
              <a:t>Lakhpati Livelihood Plan </a:t>
            </a:r>
            <a:endParaRPr b="0" i="0" sz="1400" u="none" cap="none" strike="noStrike">
              <a:solidFill>
                <a:srgbClr val="000000"/>
              </a:solidFill>
              <a:latin typeface="Cambria"/>
              <a:ea typeface="Cambria"/>
              <a:cs typeface="Cambria"/>
              <a:sym typeface="Cambria"/>
            </a:endParaRPr>
          </a:p>
          <a:p>
            <a:pPr indent="-293048" lvl="1" marL="586096" marR="0" rtl="0" algn="l">
              <a:lnSpc>
                <a:spcPct val="204016"/>
              </a:lnSpc>
              <a:spcBef>
                <a:spcPts val="0"/>
              </a:spcBef>
              <a:spcAft>
                <a:spcPts val="0"/>
              </a:spcAft>
              <a:buClr>
                <a:srgbClr val="000000"/>
              </a:buClr>
              <a:buSzPts val="2714"/>
              <a:buFont typeface="Cambria"/>
              <a:buChar char="•"/>
            </a:pPr>
            <a:r>
              <a:rPr b="1" i="0" lang="en-US" sz="2714" u="none" cap="none" strike="noStrike">
                <a:solidFill>
                  <a:srgbClr val="000000"/>
                </a:solidFill>
                <a:latin typeface="Cambria"/>
                <a:ea typeface="Cambria"/>
                <a:cs typeface="Cambria"/>
                <a:sym typeface="Cambria"/>
              </a:rPr>
              <a:t>Digitization of livelihood plan</a:t>
            </a:r>
            <a:endParaRPr b="0" i="0" sz="1400" u="none" cap="none" strike="noStrike">
              <a:solidFill>
                <a:srgbClr val="000000"/>
              </a:solidFill>
              <a:latin typeface="Cambria"/>
              <a:ea typeface="Cambria"/>
              <a:cs typeface="Cambria"/>
              <a:sym typeface="Cambria"/>
            </a:endParaRPr>
          </a:p>
          <a:p>
            <a:pPr indent="-293048" lvl="1" marL="586096" marR="0" rtl="0" algn="l">
              <a:lnSpc>
                <a:spcPct val="204016"/>
              </a:lnSpc>
              <a:spcBef>
                <a:spcPts val="0"/>
              </a:spcBef>
              <a:spcAft>
                <a:spcPts val="0"/>
              </a:spcAft>
              <a:buClr>
                <a:srgbClr val="000000"/>
              </a:buClr>
              <a:buSzPts val="2714"/>
              <a:buFont typeface="Cambria"/>
              <a:buChar char="•"/>
            </a:pPr>
            <a:r>
              <a:rPr b="1" i="0" lang="en-US" sz="2714" u="none" cap="none" strike="noStrike">
                <a:solidFill>
                  <a:srgbClr val="000000"/>
                </a:solidFill>
                <a:latin typeface="Cambria"/>
                <a:ea typeface="Cambria"/>
                <a:cs typeface="Cambria"/>
                <a:sym typeface="Cambria"/>
              </a:rPr>
              <a:t>Collate the type of livelihood activities planned by SHG households and support the CLF/VO/ Block to prepare commodity/ product/ service clusters for support </a:t>
            </a:r>
            <a:endParaRPr b="0" i="0" sz="1400" u="none" cap="none" strike="noStrike">
              <a:solidFill>
                <a:srgbClr val="000000"/>
              </a:solidFill>
              <a:latin typeface="Cambria"/>
              <a:ea typeface="Cambria"/>
              <a:cs typeface="Cambria"/>
              <a:sym typeface="Cambria"/>
            </a:endParaRPr>
          </a:p>
          <a:p>
            <a:pPr indent="-293048" lvl="1" marL="586096" marR="0" rtl="0" algn="l">
              <a:lnSpc>
                <a:spcPct val="204016"/>
              </a:lnSpc>
              <a:spcBef>
                <a:spcPts val="0"/>
              </a:spcBef>
              <a:spcAft>
                <a:spcPts val="0"/>
              </a:spcAft>
              <a:buClr>
                <a:srgbClr val="000000"/>
              </a:buClr>
              <a:buSzPts val="2714"/>
              <a:buFont typeface="Cambria"/>
              <a:buChar char="•"/>
            </a:pPr>
            <a:r>
              <a:rPr b="1" i="0" lang="en-US" sz="2714" u="none" cap="none" strike="noStrike">
                <a:solidFill>
                  <a:srgbClr val="000000"/>
                </a:solidFill>
                <a:latin typeface="Cambria"/>
                <a:ea typeface="Cambria"/>
                <a:cs typeface="Cambria"/>
                <a:sym typeface="Cambria"/>
              </a:rPr>
              <a:t>Collate demands around Assets, Skill Training, Finance and Market access and submit it to CLF and Block Mission unit for further facilitation.</a:t>
            </a:r>
            <a:endParaRPr b="0" i="0" sz="1400" u="none" cap="none" strike="noStrike">
              <a:solidFill>
                <a:srgbClr val="000000"/>
              </a:solidFill>
              <a:latin typeface="Cambria"/>
              <a:ea typeface="Cambria"/>
              <a:cs typeface="Cambria"/>
              <a:sym typeface="Cambria"/>
            </a:endParaRPr>
          </a:p>
          <a:p>
            <a:pPr indent="-293048" lvl="1" marL="586096" marR="0" rtl="0" algn="l">
              <a:lnSpc>
                <a:spcPct val="204016"/>
              </a:lnSpc>
              <a:spcBef>
                <a:spcPts val="0"/>
              </a:spcBef>
              <a:spcAft>
                <a:spcPts val="0"/>
              </a:spcAft>
              <a:buClr>
                <a:srgbClr val="000000"/>
              </a:buClr>
              <a:buSzPts val="2714"/>
              <a:buFont typeface="Cambria"/>
              <a:buChar char="•"/>
            </a:pPr>
            <a:r>
              <a:rPr b="1" i="0" lang="en-US" sz="2714" u="none" cap="none" strike="noStrike">
                <a:solidFill>
                  <a:srgbClr val="000000"/>
                </a:solidFill>
                <a:latin typeface="Cambria"/>
                <a:ea typeface="Cambria"/>
                <a:cs typeface="Cambria"/>
                <a:sym typeface="Cambria"/>
              </a:rPr>
              <a:t>Handhold Lakhpati Didi while taking up livelihood activity </a:t>
            </a:r>
            <a:endParaRPr b="0" i="0" sz="1400" u="none" cap="none" strike="noStrike">
              <a:solidFill>
                <a:srgbClr val="000000"/>
              </a:solidFill>
              <a:latin typeface="Cambria"/>
              <a:ea typeface="Cambria"/>
              <a:cs typeface="Cambria"/>
              <a:sym typeface="Cambria"/>
            </a:endParaRPr>
          </a:p>
          <a:p>
            <a:pPr indent="-293048" lvl="1" marL="586096" marR="0" rtl="0" algn="l">
              <a:lnSpc>
                <a:spcPct val="204016"/>
              </a:lnSpc>
              <a:spcBef>
                <a:spcPts val="0"/>
              </a:spcBef>
              <a:spcAft>
                <a:spcPts val="0"/>
              </a:spcAft>
              <a:buClr>
                <a:srgbClr val="000000"/>
              </a:buClr>
              <a:buSzPts val="2714"/>
              <a:buFont typeface="Cambria"/>
              <a:buChar char="•"/>
            </a:pPr>
            <a:r>
              <a:rPr b="1" i="0" lang="en-US" sz="2714" u="none" cap="none" strike="noStrike">
                <a:solidFill>
                  <a:srgbClr val="000000"/>
                </a:solidFill>
                <a:latin typeface="Cambria"/>
                <a:ea typeface="Cambria"/>
                <a:cs typeface="Cambria"/>
                <a:sym typeface="Cambria"/>
              </a:rPr>
              <a:t>Support in maintaining the Aajeevika register and update (bi-annually)</a:t>
            </a:r>
            <a:endParaRPr b="0" i="0" sz="1400" u="none" cap="none" strike="noStrike">
              <a:solidFill>
                <a:srgbClr val="000000"/>
              </a:solidFill>
              <a:latin typeface="Cambria"/>
              <a:ea typeface="Cambria"/>
              <a:cs typeface="Cambria"/>
              <a:sym typeface="Cambria"/>
            </a:endParaRPr>
          </a:p>
        </p:txBody>
      </p:sp>
      <p:grpSp>
        <p:nvGrpSpPr>
          <p:cNvPr id="224" name="Google Shape;224;p10"/>
          <p:cNvGrpSpPr/>
          <p:nvPr/>
        </p:nvGrpSpPr>
        <p:grpSpPr>
          <a:xfrm>
            <a:off x="0" y="26032"/>
            <a:ext cx="5201643" cy="1891346"/>
            <a:chOff x="0" y="-85725"/>
            <a:chExt cx="1369980" cy="498132"/>
          </a:xfrm>
        </p:grpSpPr>
        <p:sp>
          <p:nvSpPr>
            <p:cNvPr id="225" name="Google Shape;225;p10"/>
            <p:cNvSpPr/>
            <p:nvPr/>
          </p:nvSpPr>
          <p:spPr>
            <a:xfrm>
              <a:off x="0" y="0"/>
              <a:ext cx="1369980" cy="412407"/>
            </a:xfrm>
            <a:custGeom>
              <a:rect b="b" l="l" r="r" t="t"/>
              <a:pathLst>
                <a:path extrusionOk="0" h="412407" w="1369980">
                  <a:moveTo>
                    <a:pt x="0" y="0"/>
                  </a:moveTo>
                  <a:lnTo>
                    <a:pt x="1369980" y="0"/>
                  </a:lnTo>
                  <a:lnTo>
                    <a:pt x="1369980" y="412407"/>
                  </a:lnTo>
                  <a:lnTo>
                    <a:pt x="0" y="412407"/>
                  </a:lnTo>
                  <a:close/>
                </a:path>
              </a:pathLst>
            </a:custGeom>
            <a:solidFill>
              <a:srgbClr val="F47C00"/>
            </a:solidFill>
            <a:ln>
              <a:noFill/>
            </a:ln>
          </p:spPr>
        </p:sp>
        <p:sp>
          <p:nvSpPr>
            <p:cNvPr id="226" name="Google Shape;226;p10"/>
            <p:cNvSpPr txBox="1"/>
            <p:nvPr/>
          </p:nvSpPr>
          <p:spPr>
            <a:xfrm>
              <a:off x="0" y="-85725"/>
              <a:ext cx="1369980" cy="498132"/>
            </a:xfrm>
            <a:prstGeom prst="rect">
              <a:avLst/>
            </a:prstGeom>
            <a:noFill/>
            <a:ln>
              <a:noFill/>
            </a:ln>
          </p:spPr>
          <p:txBody>
            <a:bodyPr anchorCtr="0" anchor="ctr" bIns="50800" lIns="50800" spcFirstLastPara="1" rIns="50800" wrap="square" tIns="50800">
              <a:noAutofit/>
            </a:bodyPr>
            <a:lstStyle/>
            <a:p>
              <a:pPr indent="0" lvl="0" marL="0" marR="0" rtl="0" algn="ctr">
                <a:lnSpc>
                  <a:spcPct val="138004"/>
                </a:lnSpc>
                <a:spcBef>
                  <a:spcPts val="0"/>
                </a:spcBef>
                <a:spcAft>
                  <a:spcPts val="0"/>
                </a:spcAft>
                <a:buClr>
                  <a:srgbClr val="000000"/>
                </a:buClr>
                <a:buSzPts val="4210"/>
                <a:buFont typeface="Arial"/>
                <a:buNone/>
              </a:pPr>
              <a:r>
                <a:rPr b="1" i="0" lang="en-US" sz="4210" u="none" cap="none" strike="noStrike">
                  <a:solidFill>
                    <a:srgbClr val="FFFFFF"/>
                  </a:solidFill>
                  <a:latin typeface="Cambria"/>
                  <a:ea typeface="Cambria"/>
                  <a:cs typeface="Cambria"/>
                  <a:sym typeface="Cambria"/>
                </a:rPr>
                <a:t>ACTION STEPS</a:t>
              </a:r>
              <a:endParaRPr b="0" i="0" sz="1400" u="none" cap="none" strike="noStrike">
                <a:solidFill>
                  <a:srgbClr val="000000"/>
                </a:solidFill>
                <a:latin typeface="Cambria"/>
                <a:ea typeface="Cambria"/>
                <a:cs typeface="Cambria"/>
                <a:sym typeface="Cambria"/>
              </a:endParaRPr>
            </a:p>
          </p:txBody>
        </p:sp>
      </p:grpSp>
      <p:sp>
        <p:nvSpPr>
          <p:cNvPr id="227" name="Google Shape;227;p10"/>
          <p:cNvSpPr/>
          <p:nvPr/>
        </p:nvSpPr>
        <p:spPr>
          <a:xfrm>
            <a:off x="0" y="9324975"/>
            <a:ext cx="18288000" cy="992527"/>
          </a:xfrm>
          <a:custGeom>
            <a:rect b="b" l="l" r="r" t="t"/>
            <a:pathLst>
              <a:path extrusionOk="0" h="992527" w="18288000">
                <a:moveTo>
                  <a:pt x="0" y="0"/>
                </a:moveTo>
                <a:lnTo>
                  <a:pt x="18288000" y="0"/>
                </a:lnTo>
                <a:lnTo>
                  <a:pt x="18288000" y="992527"/>
                </a:lnTo>
                <a:lnTo>
                  <a:pt x="0" y="992527"/>
                </a:lnTo>
                <a:lnTo>
                  <a:pt x="0" y="0"/>
                </a:lnTo>
                <a:close/>
              </a:path>
            </a:pathLst>
          </a:custGeom>
          <a:blipFill rotWithShape="1">
            <a:blip r:embed="rId8">
              <a:alphaModFix/>
            </a:blip>
            <a:stretch>
              <a:fillRect b="-18639" l="0" r="0" t="-18639"/>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231" name="Shape 231"/>
        <p:cNvGrpSpPr/>
        <p:nvPr/>
      </p:nvGrpSpPr>
      <p:grpSpPr>
        <a:xfrm>
          <a:off x="0" y="0"/>
          <a:ext cx="0" cy="0"/>
          <a:chOff x="0" y="0"/>
          <a:chExt cx="0" cy="0"/>
        </a:xfrm>
      </p:grpSpPr>
      <p:sp>
        <p:nvSpPr>
          <p:cNvPr id="232" name="Google Shape;232;p11"/>
          <p:cNvSpPr/>
          <p:nvPr/>
        </p:nvSpPr>
        <p:spPr>
          <a:xfrm rot="-8008202">
            <a:off x="13207871" y="586377"/>
            <a:ext cx="4764111" cy="3170642"/>
          </a:xfrm>
          <a:custGeom>
            <a:rect b="b" l="l" r="r" t="t"/>
            <a:pathLst>
              <a:path extrusionOk="0" h="10168633" w="15074792">
                <a:moveTo>
                  <a:pt x="0" y="0"/>
                </a:moveTo>
                <a:lnTo>
                  <a:pt x="15074792" y="0"/>
                </a:lnTo>
                <a:lnTo>
                  <a:pt x="15074792" y="10168632"/>
                </a:lnTo>
                <a:lnTo>
                  <a:pt x="0" y="10168632"/>
                </a:lnTo>
                <a:lnTo>
                  <a:pt x="0" y="0"/>
                </a:lnTo>
                <a:close/>
              </a:path>
            </a:pathLst>
          </a:custGeom>
          <a:blipFill rotWithShape="1">
            <a:blip r:embed="rId3">
              <a:alphaModFix/>
            </a:blip>
            <a:stretch>
              <a:fillRect b="0" l="0" r="0" t="0"/>
            </a:stretch>
          </a:blipFill>
          <a:ln>
            <a:noFill/>
          </a:ln>
        </p:spPr>
      </p:sp>
      <p:sp>
        <p:nvSpPr>
          <p:cNvPr id="233" name="Google Shape;233;p11"/>
          <p:cNvSpPr/>
          <p:nvPr/>
        </p:nvSpPr>
        <p:spPr>
          <a:xfrm>
            <a:off x="15144709" y="1358108"/>
            <a:ext cx="1314491" cy="1304932"/>
          </a:xfrm>
          <a:custGeom>
            <a:rect b="b" l="l" r="r" t="t"/>
            <a:pathLst>
              <a:path extrusionOk="0" h="1304932" w="1314491">
                <a:moveTo>
                  <a:pt x="0" y="0"/>
                </a:moveTo>
                <a:lnTo>
                  <a:pt x="1314491" y="0"/>
                </a:lnTo>
                <a:lnTo>
                  <a:pt x="1314491" y="1304932"/>
                </a:lnTo>
                <a:lnTo>
                  <a:pt x="0" y="1304932"/>
                </a:lnTo>
                <a:lnTo>
                  <a:pt x="0" y="0"/>
                </a:lnTo>
                <a:close/>
              </a:path>
            </a:pathLst>
          </a:custGeom>
          <a:blipFill rotWithShape="1">
            <a:blip r:embed="rId4">
              <a:alphaModFix/>
            </a:blip>
            <a:stretch>
              <a:fillRect b="0" l="0" r="0" t="0"/>
            </a:stretch>
          </a:blipFill>
          <a:ln>
            <a:noFill/>
          </a:ln>
        </p:spPr>
      </p:sp>
      <p:sp>
        <p:nvSpPr>
          <p:cNvPr id="234" name="Google Shape;234;p11"/>
          <p:cNvSpPr/>
          <p:nvPr/>
        </p:nvSpPr>
        <p:spPr>
          <a:xfrm>
            <a:off x="6934200" y="5524500"/>
            <a:ext cx="6429208" cy="3345139"/>
          </a:xfrm>
          <a:custGeom>
            <a:rect b="b" l="l" r="r" t="t"/>
            <a:pathLst>
              <a:path extrusionOk="0" h="3345139" w="6429208">
                <a:moveTo>
                  <a:pt x="0" y="0"/>
                </a:moveTo>
                <a:lnTo>
                  <a:pt x="6429208" y="0"/>
                </a:lnTo>
                <a:lnTo>
                  <a:pt x="6429208" y="3345139"/>
                </a:lnTo>
                <a:lnTo>
                  <a:pt x="0" y="3345139"/>
                </a:lnTo>
                <a:lnTo>
                  <a:pt x="0" y="0"/>
                </a:lnTo>
                <a:close/>
              </a:path>
            </a:pathLst>
          </a:custGeom>
          <a:blipFill rotWithShape="1">
            <a:blip r:embed="rId5">
              <a:alphaModFix/>
            </a:blip>
            <a:stretch>
              <a:fillRect b="-13769" l="0" r="0" t="0"/>
            </a:stretch>
          </a:blipFill>
          <a:ln>
            <a:noFill/>
          </a:ln>
        </p:spPr>
      </p:sp>
      <p:sp>
        <p:nvSpPr>
          <p:cNvPr id="235" name="Google Shape;235;p11"/>
          <p:cNvSpPr txBox="1"/>
          <p:nvPr/>
        </p:nvSpPr>
        <p:spPr>
          <a:xfrm>
            <a:off x="787202" y="2058723"/>
            <a:ext cx="8154300" cy="25644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Clr>
                <a:srgbClr val="000000"/>
              </a:buClr>
              <a:buSzPts val="6942"/>
              <a:buFont typeface="Arial"/>
              <a:buNone/>
            </a:pPr>
            <a:r>
              <a:rPr b="1" i="0" lang="en-US" sz="6942" u="none" cap="none" strike="noStrike">
                <a:solidFill>
                  <a:srgbClr val="F37335"/>
                </a:solidFill>
                <a:latin typeface="Cambria"/>
                <a:ea typeface="Cambria"/>
                <a:cs typeface="Cambria"/>
                <a:sym typeface="Cambria"/>
              </a:rPr>
              <a:t>QUERIES &amp; </a:t>
            </a:r>
            <a:endParaRPr b="0" i="0" sz="1400" u="none" cap="none" strike="noStrike">
              <a:solidFill>
                <a:srgbClr val="000000"/>
              </a:solidFill>
              <a:latin typeface="Cambria"/>
              <a:ea typeface="Cambria"/>
              <a:cs typeface="Cambria"/>
              <a:sym typeface="Cambria"/>
            </a:endParaRPr>
          </a:p>
          <a:p>
            <a:pPr indent="0" lvl="0" marL="0" marR="0" rtl="0" algn="ctr">
              <a:lnSpc>
                <a:spcPct val="140002"/>
              </a:lnSpc>
              <a:spcBef>
                <a:spcPts val="0"/>
              </a:spcBef>
              <a:spcAft>
                <a:spcPts val="0"/>
              </a:spcAft>
              <a:buClr>
                <a:srgbClr val="000000"/>
              </a:buClr>
              <a:buSzPts val="6942"/>
              <a:buFont typeface="Arial"/>
              <a:buNone/>
            </a:pPr>
            <a:r>
              <a:rPr b="1" i="0" lang="en-US" sz="6942" u="none" cap="none" strike="noStrike">
                <a:solidFill>
                  <a:srgbClr val="F37335"/>
                </a:solidFill>
                <a:latin typeface="Cambria"/>
                <a:ea typeface="Cambria"/>
                <a:cs typeface="Cambria"/>
                <a:sym typeface="Cambria"/>
              </a:rPr>
              <a:t>OBSERVATIONS?</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